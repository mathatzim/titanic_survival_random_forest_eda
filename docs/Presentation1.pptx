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57" r:id="rId3"/>
    <p:sldId id="258" r:id="rId4"/>
    <p:sldId id="260" r:id="rId5"/>
    <p:sldId id="261" r:id="rId6"/>
    <p:sldId id="263" r:id="rId7"/>
    <p:sldId id="264" r:id="rId8"/>
    <p:sldId id="266" r:id="rId9"/>
    <p:sldId id="267" r:id="rId10"/>
    <p:sldId id="268" r:id="rId11"/>
    <p:sldId id="270" r:id="rId12"/>
    <p:sldId id="272" r:id="rId13"/>
    <p:sldId id="271" r:id="rId14"/>
    <p:sldId id="273" r:id="rId15"/>
    <p:sldId id="274" r:id="rId16"/>
    <p:sldId id="275" r:id="rId17"/>
    <p:sldId id="276" r:id="rId18"/>
    <p:sldId id="278" r:id="rId19"/>
    <p:sldId id="279" r:id="rId20"/>
    <p:sldId id="281" r:id="rId21"/>
    <p:sldId id="280" r:id="rId22"/>
    <p:sldId id="282" r:id="rId23"/>
    <p:sldId id="283" r:id="rId24"/>
    <p:sldId id="284" r:id="rId25"/>
    <p:sldId id="285" r:id="rId26"/>
    <p:sldId id="286" r:id="rId27"/>
    <p:sldId id="287" r:id="rId28"/>
    <p:sldId id="288" r:id="rId29"/>
    <p:sldId id="289" r:id="rId30"/>
    <p:sldId id="290" r:id="rId31"/>
    <p:sldId id="291" r:id="rId32"/>
    <p:sldId id="292" r:id="rId33"/>
    <p:sldId id="259" r:id="rId34"/>
    <p:sldId id="269" r:id="rId35"/>
    <p:sldId id="27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62" d="100"/>
          <a:sy n="62" d="100"/>
        </p:scale>
        <p:origin x="90" y="120"/>
      </p:cViewPr>
      <p:guideLst>
        <p:guide orient="horz" pos="2183"/>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947873-7973-47FC-BD2E-53E872460C8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A13324D-F7B1-4D00-BC0F-7FCF32D82D62}">
      <dgm:prSet custT="1"/>
      <dgm:spPr/>
      <dgm:t>
        <a:bodyPr/>
        <a:lstStyle/>
        <a:p>
          <a:pPr>
            <a:lnSpc>
              <a:spcPct val="100000"/>
            </a:lnSpc>
          </a:pPr>
          <a:r>
            <a:rPr lang="en-US" sz="2400" dirty="0">
              <a:latin typeface="Calibri Light" panose="020F0302020204030204" pitchFamily="34" charset="0"/>
              <a:cs typeface="Calibri Light" panose="020F0302020204030204" pitchFamily="34" charset="0"/>
            </a:rPr>
            <a:t>Although the term “Big Data” is not new, there isn’t a single, widely recognized definition of it (Smirnova et al., 2018).</a:t>
          </a:r>
        </a:p>
      </dgm:t>
    </dgm:pt>
    <dgm:pt modelId="{39977FAA-F3BF-431B-9F9B-CACA37D8B433}" type="parTrans" cxnId="{7239AEC7-F1E9-4D5C-B31C-9538FE7B7B1F}">
      <dgm:prSet/>
      <dgm:spPr/>
      <dgm:t>
        <a:bodyPr/>
        <a:lstStyle/>
        <a:p>
          <a:endParaRPr lang="en-US"/>
        </a:p>
      </dgm:t>
    </dgm:pt>
    <dgm:pt modelId="{613D4BB3-9A56-4F66-9D27-066155C13F0E}" type="sibTrans" cxnId="{7239AEC7-F1E9-4D5C-B31C-9538FE7B7B1F}">
      <dgm:prSet/>
      <dgm:spPr/>
      <dgm:t>
        <a:bodyPr/>
        <a:lstStyle/>
        <a:p>
          <a:endParaRPr lang="en-US"/>
        </a:p>
      </dgm:t>
    </dgm:pt>
    <dgm:pt modelId="{E0F98E00-0758-402C-B431-C12A4A2AB453}">
      <dgm:prSet custT="1"/>
      <dgm:spPr/>
      <dgm:t>
        <a:bodyPr/>
        <a:lstStyle/>
        <a:p>
          <a:pPr>
            <a:lnSpc>
              <a:spcPct val="100000"/>
            </a:lnSpc>
          </a:pPr>
          <a:r>
            <a:rPr lang="en-US" sz="2400" dirty="0">
              <a:latin typeface="Calibri Light" panose="020F0302020204030204" pitchFamily="34" charset="0"/>
              <a:cs typeface="Calibri Light" panose="020F0302020204030204" pitchFamily="34" charset="0"/>
            </a:rPr>
            <a:t>Big Data as a term was first used to describe “the explosion in the quantity (and occasionally, quality) of available and potentially relevant data, that was the result of recent and unprecedented advancements in data recording and storage technology” in the mid-1990s and early 2000s (Diebold, 2003).</a:t>
          </a:r>
        </a:p>
      </dgm:t>
    </dgm:pt>
    <dgm:pt modelId="{FBBF848E-7BA4-4E4D-A824-9514BD50D8E6}" type="parTrans" cxnId="{45433A4B-8B78-4DC4-BC7B-43EA42DAC44F}">
      <dgm:prSet/>
      <dgm:spPr/>
      <dgm:t>
        <a:bodyPr/>
        <a:lstStyle/>
        <a:p>
          <a:endParaRPr lang="en-US"/>
        </a:p>
      </dgm:t>
    </dgm:pt>
    <dgm:pt modelId="{BB1564E5-0A43-472F-8656-108F987A74E6}" type="sibTrans" cxnId="{45433A4B-8B78-4DC4-BC7B-43EA42DAC44F}">
      <dgm:prSet/>
      <dgm:spPr/>
      <dgm:t>
        <a:bodyPr/>
        <a:lstStyle/>
        <a:p>
          <a:endParaRPr lang="en-US"/>
        </a:p>
      </dgm:t>
    </dgm:pt>
    <dgm:pt modelId="{D95D4098-109F-431A-BE51-F33FAE823B95}" type="pres">
      <dgm:prSet presAssocID="{97947873-7973-47FC-BD2E-53E872460C8C}" presName="root" presStyleCnt="0">
        <dgm:presLayoutVars>
          <dgm:dir/>
          <dgm:resizeHandles val="exact"/>
        </dgm:presLayoutVars>
      </dgm:prSet>
      <dgm:spPr/>
    </dgm:pt>
    <dgm:pt modelId="{B7222B4B-4207-4347-9934-31251B52EEF4}" type="pres">
      <dgm:prSet presAssocID="{0A13324D-F7B1-4D00-BC0F-7FCF32D82D62}" presName="compNode" presStyleCnt="0"/>
      <dgm:spPr/>
    </dgm:pt>
    <dgm:pt modelId="{568BF1A3-F910-4863-B677-06A53756FBAE}" type="pres">
      <dgm:prSet presAssocID="{0A13324D-F7B1-4D00-BC0F-7FCF32D82D62}" presName="bgRect" presStyleLbl="bgShp" presStyleIdx="0" presStyleCnt="2" custScaleY="100000"/>
      <dgm:spPr/>
    </dgm:pt>
    <dgm:pt modelId="{51E311FB-ABC3-4491-97FD-83C49F052924}" type="pres">
      <dgm:prSet presAssocID="{0A13324D-F7B1-4D00-BC0F-7FCF32D82D6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lay"/>
        </a:ext>
      </dgm:extLst>
    </dgm:pt>
    <dgm:pt modelId="{D13F3B06-552B-4C1E-9834-736BC222F830}" type="pres">
      <dgm:prSet presAssocID="{0A13324D-F7B1-4D00-BC0F-7FCF32D82D62}" presName="spaceRect" presStyleCnt="0"/>
      <dgm:spPr/>
    </dgm:pt>
    <dgm:pt modelId="{233EE14B-2043-4000-AFFF-AA71F3FA99C7}" type="pres">
      <dgm:prSet presAssocID="{0A13324D-F7B1-4D00-BC0F-7FCF32D82D62}" presName="parTx" presStyleLbl="revTx" presStyleIdx="0" presStyleCnt="2">
        <dgm:presLayoutVars>
          <dgm:chMax val="0"/>
          <dgm:chPref val="0"/>
        </dgm:presLayoutVars>
      </dgm:prSet>
      <dgm:spPr/>
    </dgm:pt>
    <dgm:pt modelId="{E4A38340-8594-4ABC-B9FD-7CF1691B9BC5}" type="pres">
      <dgm:prSet presAssocID="{613D4BB3-9A56-4F66-9D27-066155C13F0E}" presName="sibTrans" presStyleCnt="0"/>
      <dgm:spPr/>
    </dgm:pt>
    <dgm:pt modelId="{87C2F424-9C43-4687-AC28-6E68BFE39D72}" type="pres">
      <dgm:prSet presAssocID="{E0F98E00-0758-402C-B431-C12A4A2AB453}" presName="compNode" presStyleCnt="0"/>
      <dgm:spPr/>
    </dgm:pt>
    <dgm:pt modelId="{0AF549B8-5E26-4E47-882D-44F6D2DB2E51}" type="pres">
      <dgm:prSet presAssocID="{E0F98E00-0758-402C-B431-C12A4A2AB453}" presName="bgRect" presStyleLbl="bgShp" presStyleIdx="1" presStyleCnt="2" custScaleX="100000" custScaleY="100858"/>
      <dgm:spPr/>
    </dgm:pt>
    <dgm:pt modelId="{269E897D-48BE-4123-9CFF-2FA4917B7A4B}" type="pres">
      <dgm:prSet presAssocID="{E0F98E00-0758-402C-B431-C12A4A2AB45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9F10ACEB-580A-4F26-8C50-4973489198B3}" type="pres">
      <dgm:prSet presAssocID="{E0F98E00-0758-402C-B431-C12A4A2AB453}" presName="spaceRect" presStyleCnt="0"/>
      <dgm:spPr/>
    </dgm:pt>
    <dgm:pt modelId="{4AD0D181-AD89-4064-BAA6-AA75A6C2F935}" type="pres">
      <dgm:prSet presAssocID="{E0F98E00-0758-402C-B431-C12A4A2AB453}" presName="parTx" presStyleLbl="revTx" presStyleIdx="1" presStyleCnt="2" custScaleX="102812">
        <dgm:presLayoutVars>
          <dgm:chMax val="0"/>
          <dgm:chPref val="0"/>
        </dgm:presLayoutVars>
      </dgm:prSet>
      <dgm:spPr/>
    </dgm:pt>
  </dgm:ptLst>
  <dgm:cxnLst>
    <dgm:cxn modelId="{45433A4B-8B78-4DC4-BC7B-43EA42DAC44F}" srcId="{97947873-7973-47FC-BD2E-53E872460C8C}" destId="{E0F98E00-0758-402C-B431-C12A4A2AB453}" srcOrd="1" destOrd="0" parTransId="{FBBF848E-7BA4-4E4D-A824-9514BD50D8E6}" sibTransId="{BB1564E5-0A43-472F-8656-108F987A74E6}"/>
    <dgm:cxn modelId="{92E66DAE-5889-417E-926A-C30831E9F901}" type="presOf" srcId="{E0F98E00-0758-402C-B431-C12A4A2AB453}" destId="{4AD0D181-AD89-4064-BAA6-AA75A6C2F935}" srcOrd="0" destOrd="0" presId="urn:microsoft.com/office/officeart/2018/2/layout/IconVerticalSolidList"/>
    <dgm:cxn modelId="{BD4C25B0-F693-4130-88F6-0AE39FA4648D}" type="presOf" srcId="{97947873-7973-47FC-BD2E-53E872460C8C}" destId="{D95D4098-109F-431A-BE51-F33FAE823B95}" srcOrd="0" destOrd="0" presId="urn:microsoft.com/office/officeart/2018/2/layout/IconVerticalSolidList"/>
    <dgm:cxn modelId="{7239AEC7-F1E9-4D5C-B31C-9538FE7B7B1F}" srcId="{97947873-7973-47FC-BD2E-53E872460C8C}" destId="{0A13324D-F7B1-4D00-BC0F-7FCF32D82D62}" srcOrd="0" destOrd="0" parTransId="{39977FAA-F3BF-431B-9F9B-CACA37D8B433}" sibTransId="{613D4BB3-9A56-4F66-9D27-066155C13F0E}"/>
    <dgm:cxn modelId="{B338EDDE-64BC-4D8F-961E-6025528D18AA}" type="presOf" srcId="{0A13324D-F7B1-4D00-BC0F-7FCF32D82D62}" destId="{233EE14B-2043-4000-AFFF-AA71F3FA99C7}" srcOrd="0" destOrd="0" presId="urn:microsoft.com/office/officeart/2018/2/layout/IconVerticalSolidList"/>
    <dgm:cxn modelId="{CFE118A1-9000-48A5-B998-5CAC3CBE10CB}" type="presParOf" srcId="{D95D4098-109F-431A-BE51-F33FAE823B95}" destId="{B7222B4B-4207-4347-9934-31251B52EEF4}" srcOrd="0" destOrd="0" presId="urn:microsoft.com/office/officeart/2018/2/layout/IconVerticalSolidList"/>
    <dgm:cxn modelId="{1CE300C0-F5D0-490A-A605-20AF03D6F443}" type="presParOf" srcId="{B7222B4B-4207-4347-9934-31251B52EEF4}" destId="{568BF1A3-F910-4863-B677-06A53756FBAE}" srcOrd="0" destOrd="0" presId="urn:microsoft.com/office/officeart/2018/2/layout/IconVerticalSolidList"/>
    <dgm:cxn modelId="{073DFA04-1048-48CA-BCEA-92FB6AD4E660}" type="presParOf" srcId="{B7222B4B-4207-4347-9934-31251B52EEF4}" destId="{51E311FB-ABC3-4491-97FD-83C49F052924}" srcOrd="1" destOrd="0" presId="urn:microsoft.com/office/officeart/2018/2/layout/IconVerticalSolidList"/>
    <dgm:cxn modelId="{21A6BA6D-B28B-4A86-BEF7-B4F48BB3F4FC}" type="presParOf" srcId="{B7222B4B-4207-4347-9934-31251B52EEF4}" destId="{D13F3B06-552B-4C1E-9834-736BC222F830}" srcOrd="2" destOrd="0" presId="urn:microsoft.com/office/officeart/2018/2/layout/IconVerticalSolidList"/>
    <dgm:cxn modelId="{D31953FE-7103-49E1-A5C0-27B39C5038B2}" type="presParOf" srcId="{B7222B4B-4207-4347-9934-31251B52EEF4}" destId="{233EE14B-2043-4000-AFFF-AA71F3FA99C7}" srcOrd="3" destOrd="0" presId="urn:microsoft.com/office/officeart/2018/2/layout/IconVerticalSolidList"/>
    <dgm:cxn modelId="{8103E918-C87B-4E9D-94ED-CDF7138785E1}" type="presParOf" srcId="{D95D4098-109F-431A-BE51-F33FAE823B95}" destId="{E4A38340-8594-4ABC-B9FD-7CF1691B9BC5}" srcOrd="1" destOrd="0" presId="urn:microsoft.com/office/officeart/2018/2/layout/IconVerticalSolidList"/>
    <dgm:cxn modelId="{66DEE0A6-8EAF-4C10-85BF-76851E5B18DB}" type="presParOf" srcId="{D95D4098-109F-431A-BE51-F33FAE823B95}" destId="{87C2F424-9C43-4687-AC28-6E68BFE39D72}" srcOrd="2" destOrd="0" presId="urn:microsoft.com/office/officeart/2018/2/layout/IconVerticalSolidList"/>
    <dgm:cxn modelId="{3E16E886-C762-479F-BB17-1F366CDFA25C}" type="presParOf" srcId="{87C2F424-9C43-4687-AC28-6E68BFE39D72}" destId="{0AF549B8-5E26-4E47-882D-44F6D2DB2E51}" srcOrd="0" destOrd="0" presId="urn:microsoft.com/office/officeart/2018/2/layout/IconVerticalSolidList"/>
    <dgm:cxn modelId="{E288A61B-E920-449C-BA58-2E8D30034005}" type="presParOf" srcId="{87C2F424-9C43-4687-AC28-6E68BFE39D72}" destId="{269E897D-48BE-4123-9CFF-2FA4917B7A4B}" srcOrd="1" destOrd="0" presId="urn:microsoft.com/office/officeart/2018/2/layout/IconVerticalSolidList"/>
    <dgm:cxn modelId="{74A1B5E4-B660-4CC9-8F37-5F00999441D7}" type="presParOf" srcId="{87C2F424-9C43-4687-AC28-6E68BFE39D72}" destId="{9F10ACEB-580A-4F26-8C50-4973489198B3}" srcOrd="2" destOrd="0" presId="urn:microsoft.com/office/officeart/2018/2/layout/IconVerticalSolidList"/>
    <dgm:cxn modelId="{59062090-F7FD-4DEF-9BF8-13FBA35BB032}" type="presParOf" srcId="{87C2F424-9C43-4687-AC28-6E68BFE39D72}" destId="{4AD0D181-AD89-4064-BAA6-AA75A6C2F93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E808E5-8F2B-48BC-AF00-315052046AE1}" type="doc">
      <dgm:prSet loTypeId="urn:microsoft.com/office/officeart/2005/8/layout/process4" loCatId="process" qsTypeId="urn:microsoft.com/office/officeart/2005/8/quickstyle/simple5" qsCatId="simple" csTypeId="urn:microsoft.com/office/officeart/2005/8/colors/accent1_4" csCatId="accent1" phldr="1"/>
      <dgm:spPr/>
      <dgm:t>
        <a:bodyPr/>
        <a:lstStyle/>
        <a:p>
          <a:endParaRPr lang="en-US"/>
        </a:p>
      </dgm:t>
    </dgm:pt>
    <dgm:pt modelId="{9CC8F409-84B5-4603-8073-438A056A298A}">
      <dgm:prSet custT="1"/>
      <dgm:spPr/>
      <dgm:t>
        <a:bodyPr/>
        <a:lstStyle/>
        <a:p>
          <a:r>
            <a:rPr lang="en-US" sz="3600" b="1" dirty="0">
              <a:solidFill>
                <a:schemeClr val="tx1"/>
              </a:solidFill>
              <a:latin typeface="Calibri Light" panose="020F0302020204030204" pitchFamily="34" charset="0"/>
              <a:cs typeface="Calibri Light" panose="020F0302020204030204" pitchFamily="34" charset="0"/>
            </a:rPr>
            <a:t>Portfolio 1: Big Data: Definitions and Key Characteristics</a:t>
          </a:r>
          <a:endParaRPr lang="en-US" sz="3600" dirty="0">
            <a:solidFill>
              <a:schemeClr val="tx1"/>
            </a:solidFill>
            <a:latin typeface="Calibri Light" panose="020F0302020204030204" pitchFamily="34" charset="0"/>
            <a:cs typeface="Calibri Light" panose="020F0302020204030204" pitchFamily="34" charset="0"/>
          </a:endParaRPr>
        </a:p>
      </dgm:t>
    </dgm:pt>
    <dgm:pt modelId="{8A2858AD-99AB-4281-B65B-07AB0DAA48C8}" type="parTrans" cxnId="{B2F4E1A4-425A-4AC3-9A25-0CC108FF0C67}">
      <dgm:prSet/>
      <dgm:spPr/>
      <dgm:t>
        <a:bodyPr/>
        <a:lstStyle/>
        <a:p>
          <a:endParaRPr lang="en-US"/>
        </a:p>
      </dgm:t>
    </dgm:pt>
    <dgm:pt modelId="{841DD0B9-2801-48FC-AE10-D792E4ED7F2E}" type="sibTrans" cxnId="{B2F4E1A4-425A-4AC3-9A25-0CC108FF0C67}">
      <dgm:prSet/>
      <dgm:spPr/>
      <dgm:t>
        <a:bodyPr/>
        <a:lstStyle/>
        <a:p>
          <a:endParaRPr lang="en-US"/>
        </a:p>
      </dgm:t>
    </dgm:pt>
    <dgm:pt modelId="{FBB124DB-B3CC-4413-9A7C-8156832F855E}">
      <dgm:prSet custT="1"/>
      <dgm:spPr/>
      <dgm:t>
        <a:bodyPr/>
        <a:lstStyle/>
        <a:p>
          <a:r>
            <a:rPr lang="en-US" sz="2400" dirty="0">
              <a:solidFill>
                <a:schemeClr val="tx1"/>
              </a:solidFill>
              <a:latin typeface="Calibri Light" panose="020F0302020204030204" pitchFamily="34" charset="0"/>
              <a:cs typeface="Calibri Light" panose="020F0302020204030204" pitchFamily="34" charset="0"/>
            </a:rPr>
            <a:t>Nowadays, Big Data is a term that is increasingly used to describe the process of seriously applying computational power to massively large, highly complex, heterogeneous and growing datasets that have multiple sources (</a:t>
          </a:r>
          <a:r>
            <a:rPr lang="en-US" sz="2400" b="0" i="0" dirty="0">
              <a:solidFill>
                <a:schemeClr val="tx1"/>
              </a:solidFill>
              <a:latin typeface="Calibri Light" panose="020F0302020204030204" pitchFamily="34" charset="0"/>
              <a:cs typeface="Calibri Light" panose="020F0302020204030204" pitchFamily="34" charset="0"/>
            </a:rPr>
            <a:t>González and Álvarez, 2022).</a:t>
          </a:r>
          <a:r>
            <a:rPr lang="en-US" sz="2400" dirty="0">
              <a:solidFill>
                <a:schemeClr val="tx1"/>
              </a:solidFill>
              <a:latin typeface="Calibri Light" panose="020F0302020204030204" pitchFamily="34" charset="0"/>
              <a:cs typeface="Calibri Light" panose="020F0302020204030204" pitchFamily="34" charset="0"/>
            </a:rPr>
            <a:t> </a:t>
          </a:r>
        </a:p>
      </dgm:t>
    </dgm:pt>
    <dgm:pt modelId="{9C480B64-26F2-4043-BA0E-FA292AF5FF98}" type="parTrans" cxnId="{B1DBF417-10A8-4569-854E-ADEE59466554}">
      <dgm:prSet/>
      <dgm:spPr/>
      <dgm:t>
        <a:bodyPr/>
        <a:lstStyle/>
        <a:p>
          <a:endParaRPr lang="en-US"/>
        </a:p>
      </dgm:t>
    </dgm:pt>
    <dgm:pt modelId="{9290CFA6-9A02-4A14-ACEB-5037353F760C}" type="sibTrans" cxnId="{B1DBF417-10A8-4569-854E-ADEE59466554}">
      <dgm:prSet/>
      <dgm:spPr/>
      <dgm:t>
        <a:bodyPr/>
        <a:lstStyle/>
        <a:p>
          <a:endParaRPr lang="en-US"/>
        </a:p>
      </dgm:t>
    </dgm:pt>
    <dgm:pt modelId="{2D9BD624-2242-4D16-928B-E4C59758BE60}">
      <dgm:prSet custT="1"/>
      <dgm:spPr>
        <a:solidFill>
          <a:schemeClr val="tx2">
            <a:lumMod val="40000"/>
            <a:lumOff val="60000"/>
          </a:schemeClr>
        </a:solidFill>
      </dgm:spPr>
      <dgm:t>
        <a:bodyPr/>
        <a:lstStyle/>
        <a:p>
          <a:r>
            <a:rPr lang="en-US" sz="2400" dirty="0">
              <a:solidFill>
                <a:schemeClr val="tx1"/>
              </a:solidFill>
              <a:latin typeface="Calibri Light" panose="020F0302020204030204" pitchFamily="34" charset="0"/>
              <a:cs typeface="Calibri Light" panose="020F0302020204030204" pitchFamily="34" charset="0"/>
            </a:rPr>
            <a:t>The characteristics of Big Data are most commonly represented by the “3Vs” (Mir et al., 2021): </a:t>
          </a:r>
        </a:p>
      </dgm:t>
    </dgm:pt>
    <dgm:pt modelId="{C8A0ACF2-9278-4791-9EA2-2A9C5CF7F73B}" type="parTrans" cxnId="{70C01CEE-A53A-4D6C-8ADA-221B09C807AE}">
      <dgm:prSet/>
      <dgm:spPr/>
      <dgm:t>
        <a:bodyPr/>
        <a:lstStyle/>
        <a:p>
          <a:endParaRPr lang="en-US"/>
        </a:p>
      </dgm:t>
    </dgm:pt>
    <dgm:pt modelId="{2A77B111-42D4-4456-A024-0DAC03B4BF11}" type="sibTrans" cxnId="{70C01CEE-A53A-4D6C-8ADA-221B09C807AE}">
      <dgm:prSet/>
      <dgm:spPr/>
      <dgm:t>
        <a:bodyPr/>
        <a:lstStyle/>
        <a:p>
          <a:endParaRPr lang="en-US"/>
        </a:p>
      </dgm:t>
    </dgm:pt>
    <dgm:pt modelId="{177C65B3-131C-4F63-A2CF-6A7D4F59BE2F}">
      <dgm:prSet custT="1"/>
      <dgm:spPr/>
      <dgm:t>
        <a:bodyPr/>
        <a:lstStyle/>
        <a:p>
          <a:r>
            <a:rPr lang="en-US" sz="2400" b="1" dirty="0">
              <a:latin typeface="Calibri Light" panose="020F0302020204030204" pitchFamily="34" charset="0"/>
              <a:cs typeface="Calibri Light" panose="020F0302020204030204" pitchFamily="34" charset="0"/>
            </a:rPr>
            <a:t>Volume (Massive Quantities).</a:t>
          </a:r>
        </a:p>
      </dgm:t>
    </dgm:pt>
    <dgm:pt modelId="{A38645E1-7A68-4D2C-BCAC-BBE41AB5045F}" type="parTrans" cxnId="{473DDEF6-89CA-4DA2-BB7A-6C2C2BC0792B}">
      <dgm:prSet/>
      <dgm:spPr/>
      <dgm:t>
        <a:bodyPr/>
        <a:lstStyle/>
        <a:p>
          <a:endParaRPr lang="en-US"/>
        </a:p>
      </dgm:t>
    </dgm:pt>
    <dgm:pt modelId="{A359FEEC-8A23-442E-B4C3-6596ADF5D340}" type="sibTrans" cxnId="{473DDEF6-89CA-4DA2-BB7A-6C2C2BC0792B}">
      <dgm:prSet/>
      <dgm:spPr/>
      <dgm:t>
        <a:bodyPr/>
        <a:lstStyle/>
        <a:p>
          <a:endParaRPr lang="en-US"/>
        </a:p>
      </dgm:t>
    </dgm:pt>
    <dgm:pt modelId="{962CE830-C4DE-451D-951E-CD3EE1DACB5A}">
      <dgm:prSet custT="1"/>
      <dgm:spPr/>
      <dgm:t>
        <a:bodyPr/>
        <a:lstStyle/>
        <a:p>
          <a:r>
            <a:rPr lang="en-US" sz="2400" b="1" dirty="0">
              <a:latin typeface="Calibri Light" panose="020F0302020204030204" pitchFamily="34" charset="0"/>
              <a:cs typeface="Calibri Light" panose="020F0302020204030204" pitchFamily="34" charset="0"/>
            </a:rPr>
            <a:t>Velocity (Rapid Processing).</a:t>
          </a:r>
        </a:p>
      </dgm:t>
    </dgm:pt>
    <dgm:pt modelId="{A58D6985-D382-4AA6-96E9-6BE311434580}" type="parTrans" cxnId="{11B3D1C2-C718-41F8-BC3F-347425035084}">
      <dgm:prSet/>
      <dgm:spPr/>
      <dgm:t>
        <a:bodyPr/>
        <a:lstStyle/>
        <a:p>
          <a:endParaRPr lang="en-US"/>
        </a:p>
      </dgm:t>
    </dgm:pt>
    <dgm:pt modelId="{6D6F8590-FC0D-4233-BE2B-E69DC4C9B114}" type="sibTrans" cxnId="{11B3D1C2-C718-41F8-BC3F-347425035084}">
      <dgm:prSet/>
      <dgm:spPr/>
      <dgm:t>
        <a:bodyPr/>
        <a:lstStyle/>
        <a:p>
          <a:endParaRPr lang="en-US"/>
        </a:p>
      </dgm:t>
    </dgm:pt>
    <dgm:pt modelId="{050A2F1D-A09B-40FB-A032-8A153FE8D9AD}">
      <dgm:prSet custT="1"/>
      <dgm:spPr/>
      <dgm:t>
        <a:bodyPr/>
        <a:lstStyle/>
        <a:p>
          <a:r>
            <a:rPr lang="en-US" sz="2400" b="1" dirty="0">
              <a:latin typeface="Calibri Light" panose="020F0302020204030204" pitchFamily="34" charset="0"/>
              <a:cs typeface="Calibri Light" panose="020F0302020204030204" pitchFamily="34" charset="0"/>
            </a:rPr>
            <a:t>Variety (Diversified Data).</a:t>
          </a:r>
        </a:p>
      </dgm:t>
    </dgm:pt>
    <dgm:pt modelId="{441E9FB0-A3AE-41AB-AE65-9B440F798272}" type="parTrans" cxnId="{5C05C0E6-47FF-406D-95C7-194BB01E8CBB}">
      <dgm:prSet/>
      <dgm:spPr/>
      <dgm:t>
        <a:bodyPr/>
        <a:lstStyle/>
        <a:p>
          <a:endParaRPr lang="en-US"/>
        </a:p>
      </dgm:t>
    </dgm:pt>
    <dgm:pt modelId="{5808DDA2-52AF-4E6D-BCAC-59BC3ACDDA38}" type="sibTrans" cxnId="{5C05C0E6-47FF-406D-95C7-194BB01E8CBB}">
      <dgm:prSet/>
      <dgm:spPr/>
      <dgm:t>
        <a:bodyPr/>
        <a:lstStyle/>
        <a:p>
          <a:endParaRPr lang="en-US"/>
        </a:p>
      </dgm:t>
    </dgm:pt>
    <dgm:pt modelId="{3ACC41ED-E9B8-4C71-AE12-5D05996498AF}" type="pres">
      <dgm:prSet presAssocID="{7AE808E5-8F2B-48BC-AF00-315052046AE1}" presName="Name0" presStyleCnt="0">
        <dgm:presLayoutVars>
          <dgm:dir/>
          <dgm:animLvl val="lvl"/>
          <dgm:resizeHandles val="exact"/>
        </dgm:presLayoutVars>
      </dgm:prSet>
      <dgm:spPr/>
    </dgm:pt>
    <dgm:pt modelId="{CDE8929B-B899-4E41-A8B8-C0076604A532}" type="pres">
      <dgm:prSet presAssocID="{2D9BD624-2242-4D16-928B-E4C59758BE60}" presName="boxAndChildren" presStyleCnt="0"/>
      <dgm:spPr/>
    </dgm:pt>
    <dgm:pt modelId="{9ED1B74D-65E7-418A-9BCA-412A0CEF5498}" type="pres">
      <dgm:prSet presAssocID="{2D9BD624-2242-4D16-928B-E4C59758BE60}" presName="parentTextBox" presStyleLbl="node1" presStyleIdx="0" presStyleCnt="3"/>
      <dgm:spPr/>
    </dgm:pt>
    <dgm:pt modelId="{545A3CC6-80D7-410F-B9B4-93B9EF883242}" type="pres">
      <dgm:prSet presAssocID="{2D9BD624-2242-4D16-928B-E4C59758BE60}" presName="entireBox" presStyleLbl="node1" presStyleIdx="0" presStyleCnt="3" custScaleY="243172"/>
      <dgm:spPr/>
    </dgm:pt>
    <dgm:pt modelId="{B31F00C6-F306-4969-9B0F-E19790A3F83C}" type="pres">
      <dgm:prSet presAssocID="{2D9BD624-2242-4D16-928B-E4C59758BE60}" presName="descendantBox" presStyleCnt="0"/>
      <dgm:spPr/>
    </dgm:pt>
    <dgm:pt modelId="{C9EF67AB-5EB2-45A8-A2CC-C3C5F3549788}" type="pres">
      <dgm:prSet presAssocID="{177C65B3-131C-4F63-A2CF-6A7D4F59BE2F}" presName="childTextBox" presStyleLbl="fgAccFollowNode1" presStyleIdx="0" presStyleCnt="3" custScaleX="98477" custScaleY="259975" custLinFactNeighborX="68" custLinFactNeighborY="80100">
        <dgm:presLayoutVars>
          <dgm:bulletEnabled val="1"/>
        </dgm:presLayoutVars>
      </dgm:prSet>
      <dgm:spPr/>
    </dgm:pt>
    <dgm:pt modelId="{027E378C-CE16-4662-8FFD-F90866E83E67}" type="pres">
      <dgm:prSet presAssocID="{962CE830-C4DE-451D-951E-CD3EE1DACB5A}" presName="childTextBox" presStyleLbl="fgAccFollowNode1" presStyleIdx="1" presStyleCnt="3" custScaleX="97764" custScaleY="259975" custLinFactNeighborX="76" custLinFactNeighborY="80100">
        <dgm:presLayoutVars>
          <dgm:bulletEnabled val="1"/>
        </dgm:presLayoutVars>
      </dgm:prSet>
      <dgm:spPr/>
    </dgm:pt>
    <dgm:pt modelId="{1C6FBE96-C8FA-4064-B9BD-E9B9E1A57D55}" type="pres">
      <dgm:prSet presAssocID="{050A2F1D-A09B-40FB-A032-8A153FE8D9AD}" presName="childTextBox" presStyleLbl="fgAccFollowNode1" presStyleIdx="2" presStyleCnt="3" custScaleX="96646" custScaleY="259975" custLinFactNeighborX="147" custLinFactNeighborY="90979">
        <dgm:presLayoutVars>
          <dgm:bulletEnabled val="1"/>
        </dgm:presLayoutVars>
      </dgm:prSet>
      <dgm:spPr/>
    </dgm:pt>
    <dgm:pt modelId="{E0CF68F2-2B9F-402C-A9F0-8533F6ED5DCF}" type="pres">
      <dgm:prSet presAssocID="{9290CFA6-9A02-4A14-ACEB-5037353F760C}" presName="sp" presStyleCnt="0"/>
      <dgm:spPr/>
    </dgm:pt>
    <dgm:pt modelId="{C8B03A7D-16AE-4C4E-9E04-ADCF7BB44DC2}" type="pres">
      <dgm:prSet presAssocID="{FBB124DB-B3CC-4413-9A7C-8156832F855E}" presName="arrowAndChildren" presStyleCnt="0"/>
      <dgm:spPr/>
    </dgm:pt>
    <dgm:pt modelId="{AE7228C5-EC11-482B-9C8F-9DDEC0A3C754}" type="pres">
      <dgm:prSet presAssocID="{FBB124DB-B3CC-4413-9A7C-8156832F855E}" presName="parentTextArrow" presStyleLbl="node1" presStyleIdx="1" presStyleCnt="3" custScaleY="238529"/>
      <dgm:spPr/>
    </dgm:pt>
    <dgm:pt modelId="{F85319E2-F017-403D-8E9D-B6A2D6243DBA}" type="pres">
      <dgm:prSet presAssocID="{841DD0B9-2801-48FC-AE10-D792E4ED7F2E}" presName="sp" presStyleCnt="0"/>
      <dgm:spPr/>
    </dgm:pt>
    <dgm:pt modelId="{3D36E354-4C72-4C6D-B859-47878AC91EE8}" type="pres">
      <dgm:prSet presAssocID="{9CC8F409-84B5-4603-8073-438A056A298A}" presName="arrowAndChildren" presStyleCnt="0"/>
      <dgm:spPr/>
    </dgm:pt>
    <dgm:pt modelId="{89E3BC66-B12E-4933-A974-FE00C2D88DC4}" type="pres">
      <dgm:prSet presAssocID="{9CC8F409-84B5-4603-8073-438A056A298A}" presName="parentTextArrow" presStyleLbl="node1" presStyleIdx="2" presStyleCnt="3" custScaleY="155493"/>
      <dgm:spPr/>
    </dgm:pt>
  </dgm:ptLst>
  <dgm:cxnLst>
    <dgm:cxn modelId="{B1DBF417-10A8-4569-854E-ADEE59466554}" srcId="{7AE808E5-8F2B-48BC-AF00-315052046AE1}" destId="{FBB124DB-B3CC-4413-9A7C-8156832F855E}" srcOrd="1" destOrd="0" parTransId="{9C480B64-26F2-4043-BA0E-FA292AF5FF98}" sibTransId="{9290CFA6-9A02-4A14-ACEB-5037353F760C}"/>
    <dgm:cxn modelId="{E9D5951A-281D-48C8-8A01-01F40D243504}" type="presOf" srcId="{177C65B3-131C-4F63-A2CF-6A7D4F59BE2F}" destId="{C9EF67AB-5EB2-45A8-A2CC-C3C5F3549788}" srcOrd="0" destOrd="0" presId="urn:microsoft.com/office/officeart/2005/8/layout/process4"/>
    <dgm:cxn modelId="{3416A94C-44CD-4C67-9BE8-F758721F98C2}" type="presOf" srcId="{962CE830-C4DE-451D-951E-CD3EE1DACB5A}" destId="{027E378C-CE16-4662-8FFD-F90866E83E67}" srcOrd="0" destOrd="0" presId="urn:microsoft.com/office/officeart/2005/8/layout/process4"/>
    <dgm:cxn modelId="{25C5AD4C-F488-4101-8F48-C61B41CFCD15}" type="presOf" srcId="{2D9BD624-2242-4D16-928B-E4C59758BE60}" destId="{9ED1B74D-65E7-418A-9BCA-412A0CEF5498}" srcOrd="0" destOrd="0" presId="urn:microsoft.com/office/officeart/2005/8/layout/process4"/>
    <dgm:cxn modelId="{19A71055-F8C7-4D40-9FEE-E244782B80A0}" type="presOf" srcId="{9CC8F409-84B5-4603-8073-438A056A298A}" destId="{89E3BC66-B12E-4933-A974-FE00C2D88DC4}" srcOrd="0" destOrd="0" presId="urn:microsoft.com/office/officeart/2005/8/layout/process4"/>
    <dgm:cxn modelId="{05627C82-0751-407A-8098-E00730F66F3B}" type="presOf" srcId="{050A2F1D-A09B-40FB-A032-8A153FE8D9AD}" destId="{1C6FBE96-C8FA-4064-B9BD-E9B9E1A57D55}" srcOrd="0" destOrd="0" presId="urn:microsoft.com/office/officeart/2005/8/layout/process4"/>
    <dgm:cxn modelId="{B2F4E1A4-425A-4AC3-9A25-0CC108FF0C67}" srcId="{7AE808E5-8F2B-48BC-AF00-315052046AE1}" destId="{9CC8F409-84B5-4603-8073-438A056A298A}" srcOrd="0" destOrd="0" parTransId="{8A2858AD-99AB-4281-B65B-07AB0DAA48C8}" sibTransId="{841DD0B9-2801-48FC-AE10-D792E4ED7F2E}"/>
    <dgm:cxn modelId="{11B3D1C2-C718-41F8-BC3F-347425035084}" srcId="{2D9BD624-2242-4D16-928B-E4C59758BE60}" destId="{962CE830-C4DE-451D-951E-CD3EE1DACB5A}" srcOrd="1" destOrd="0" parTransId="{A58D6985-D382-4AA6-96E9-6BE311434580}" sibTransId="{6D6F8590-FC0D-4233-BE2B-E69DC4C9B114}"/>
    <dgm:cxn modelId="{28047DD0-7992-442C-8DB2-2BB49C375F8F}" type="presOf" srcId="{FBB124DB-B3CC-4413-9A7C-8156832F855E}" destId="{AE7228C5-EC11-482B-9C8F-9DDEC0A3C754}" srcOrd="0" destOrd="0" presId="urn:microsoft.com/office/officeart/2005/8/layout/process4"/>
    <dgm:cxn modelId="{5C05C0E6-47FF-406D-95C7-194BB01E8CBB}" srcId="{2D9BD624-2242-4D16-928B-E4C59758BE60}" destId="{050A2F1D-A09B-40FB-A032-8A153FE8D9AD}" srcOrd="2" destOrd="0" parTransId="{441E9FB0-A3AE-41AB-AE65-9B440F798272}" sibTransId="{5808DDA2-52AF-4E6D-BCAC-59BC3ACDDA38}"/>
    <dgm:cxn modelId="{6505A0E7-E79C-463C-BD21-0EE9AC59C635}" type="presOf" srcId="{2D9BD624-2242-4D16-928B-E4C59758BE60}" destId="{545A3CC6-80D7-410F-B9B4-93B9EF883242}" srcOrd="1" destOrd="0" presId="urn:microsoft.com/office/officeart/2005/8/layout/process4"/>
    <dgm:cxn modelId="{70C01CEE-A53A-4D6C-8ADA-221B09C807AE}" srcId="{7AE808E5-8F2B-48BC-AF00-315052046AE1}" destId="{2D9BD624-2242-4D16-928B-E4C59758BE60}" srcOrd="2" destOrd="0" parTransId="{C8A0ACF2-9278-4791-9EA2-2A9C5CF7F73B}" sibTransId="{2A77B111-42D4-4456-A024-0DAC03B4BF11}"/>
    <dgm:cxn modelId="{349EC7F1-2080-4FD6-B06D-51F07E706EE8}" type="presOf" srcId="{7AE808E5-8F2B-48BC-AF00-315052046AE1}" destId="{3ACC41ED-E9B8-4C71-AE12-5D05996498AF}" srcOrd="0" destOrd="0" presId="urn:microsoft.com/office/officeart/2005/8/layout/process4"/>
    <dgm:cxn modelId="{473DDEF6-89CA-4DA2-BB7A-6C2C2BC0792B}" srcId="{2D9BD624-2242-4D16-928B-E4C59758BE60}" destId="{177C65B3-131C-4F63-A2CF-6A7D4F59BE2F}" srcOrd="0" destOrd="0" parTransId="{A38645E1-7A68-4D2C-BCAC-BBE41AB5045F}" sibTransId="{A359FEEC-8A23-442E-B4C3-6596ADF5D340}"/>
    <dgm:cxn modelId="{7295F11C-0F7B-4DE5-9411-14687D5D4C7F}" type="presParOf" srcId="{3ACC41ED-E9B8-4C71-AE12-5D05996498AF}" destId="{CDE8929B-B899-4E41-A8B8-C0076604A532}" srcOrd="0" destOrd="0" presId="urn:microsoft.com/office/officeart/2005/8/layout/process4"/>
    <dgm:cxn modelId="{7C15B160-B583-455C-99CE-0EB46964E83F}" type="presParOf" srcId="{CDE8929B-B899-4E41-A8B8-C0076604A532}" destId="{9ED1B74D-65E7-418A-9BCA-412A0CEF5498}" srcOrd="0" destOrd="0" presId="urn:microsoft.com/office/officeart/2005/8/layout/process4"/>
    <dgm:cxn modelId="{1ACC9560-82F7-402C-9992-1B6E54E820C6}" type="presParOf" srcId="{CDE8929B-B899-4E41-A8B8-C0076604A532}" destId="{545A3CC6-80D7-410F-B9B4-93B9EF883242}" srcOrd="1" destOrd="0" presId="urn:microsoft.com/office/officeart/2005/8/layout/process4"/>
    <dgm:cxn modelId="{6222A5EC-BAE7-4D60-BE90-90E070D25FCF}" type="presParOf" srcId="{CDE8929B-B899-4E41-A8B8-C0076604A532}" destId="{B31F00C6-F306-4969-9B0F-E19790A3F83C}" srcOrd="2" destOrd="0" presId="urn:microsoft.com/office/officeart/2005/8/layout/process4"/>
    <dgm:cxn modelId="{AF05649D-CCD9-4A37-A4BC-A55B7A873D22}" type="presParOf" srcId="{B31F00C6-F306-4969-9B0F-E19790A3F83C}" destId="{C9EF67AB-5EB2-45A8-A2CC-C3C5F3549788}" srcOrd="0" destOrd="0" presId="urn:microsoft.com/office/officeart/2005/8/layout/process4"/>
    <dgm:cxn modelId="{8D5F8FDD-FF11-40A7-BA52-0B71622C1327}" type="presParOf" srcId="{B31F00C6-F306-4969-9B0F-E19790A3F83C}" destId="{027E378C-CE16-4662-8FFD-F90866E83E67}" srcOrd="1" destOrd="0" presId="urn:microsoft.com/office/officeart/2005/8/layout/process4"/>
    <dgm:cxn modelId="{E2889E6B-77F0-4BC7-BDA9-281FD47C90C6}" type="presParOf" srcId="{B31F00C6-F306-4969-9B0F-E19790A3F83C}" destId="{1C6FBE96-C8FA-4064-B9BD-E9B9E1A57D55}" srcOrd="2" destOrd="0" presId="urn:microsoft.com/office/officeart/2005/8/layout/process4"/>
    <dgm:cxn modelId="{18E1BC6A-B1A9-43BB-856A-1CBEE852BC52}" type="presParOf" srcId="{3ACC41ED-E9B8-4C71-AE12-5D05996498AF}" destId="{E0CF68F2-2B9F-402C-A9F0-8533F6ED5DCF}" srcOrd="1" destOrd="0" presId="urn:microsoft.com/office/officeart/2005/8/layout/process4"/>
    <dgm:cxn modelId="{93E2965C-6E81-4421-8ADF-E98333B4D397}" type="presParOf" srcId="{3ACC41ED-E9B8-4C71-AE12-5D05996498AF}" destId="{C8B03A7D-16AE-4C4E-9E04-ADCF7BB44DC2}" srcOrd="2" destOrd="0" presId="urn:microsoft.com/office/officeart/2005/8/layout/process4"/>
    <dgm:cxn modelId="{EC997A6E-45C0-43F2-B1C2-3F0269ED7296}" type="presParOf" srcId="{C8B03A7D-16AE-4C4E-9E04-ADCF7BB44DC2}" destId="{AE7228C5-EC11-482B-9C8F-9DDEC0A3C754}" srcOrd="0" destOrd="0" presId="urn:microsoft.com/office/officeart/2005/8/layout/process4"/>
    <dgm:cxn modelId="{D0D75331-F67F-4B8A-82F4-795EDEC67C44}" type="presParOf" srcId="{3ACC41ED-E9B8-4C71-AE12-5D05996498AF}" destId="{F85319E2-F017-403D-8E9D-B6A2D6243DBA}" srcOrd="3" destOrd="0" presId="urn:microsoft.com/office/officeart/2005/8/layout/process4"/>
    <dgm:cxn modelId="{F5A58BF9-BC68-4291-AC11-CAD11B862E06}" type="presParOf" srcId="{3ACC41ED-E9B8-4C71-AE12-5D05996498AF}" destId="{3D36E354-4C72-4C6D-B859-47878AC91EE8}" srcOrd="4" destOrd="0" presId="urn:microsoft.com/office/officeart/2005/8/layout/process4"/>
    <dgm:cxn modelId="{16A39F6B-6D93-4BFB-935E-D7712709A3F5}" type="presParOf" srcId="{3D36E354-4C72-4C6D-B859-47878AC91EE8}" destId="{89E3BC66-B12E-4933-A974-FE00C2D88DC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44E8898-D415-40FF-B95C-3E6151FF015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C18B84C-0C93-47BE-AEB3-B2B282DCAFC5}">
      <dgm:prSet custT="1"/>
      <dgm:spPr/>
      <dgm:t>
        <a:bodyPr/>
        <a:lstStyle/>
        <a:p>
          <a:r>
            <a:rPr lang="en-US" sz="3600" b="1" dirty="0">
              <a:latin typeface="Calibri Light" panose="020F0302020204030204" pitchFamily="34" charset="0"/>
              <a:cs typeface="Calibri Light" panose="020F0302020204030204" pitchFamily="34" charset="0"/>
            </a:rPr>
            <a:t>Portfolio 1: Big Data: Definitions and Key Characteristics</a:t>
          </a:r>
          <a:endParaRPr lang="en-US" sz="3600" dirty="0">
            <a:latin typeface="Calibri Light" panose="020F0302020204030204" pitchFamily="34" charset="0"/>
            <a:cs typeface="Calibri Light" panose="020F0302020204030204" pitchFamily="34" charset="0"/>
          </a:endParaRPr>
        </a:p>
      </dgm:t>
    </dgm:pt>
    <dgm:pt modelId="{1DD28384-238D-485B-A911-3E8A3B12C809}" type="parTrans" cxnId="{00D77637-7D5F-40A7-9104-BDA205DE795B}">
      <dgm:prSet/>
      <dgm:spPr/>
      <dgm:t>
        <a:bodyPr/>
        <a:lstStyle/>
        <a:p>
          <a:endParaRPr lang="en-US"/>
        </a:p>
      </dgm:t>
    </dgm:pt>
    <dgm:pt modelId="{BA0AA108-56C0-40E8-AE74-11F790DC253F}" type="sibTrans" cxnId="{00D77637-7D5F-40A7-9104-BDA205DE795B}">
      <dgm:prSet/>
      <dgm:spPr/>
      <dgm:t>
        <a:bodyPr/>
        <a:lstStyle/>
        <a:p>
          <a:endParaRPr lang="en-US"/>
        </a:p>
      </dgm:t>
    </dgm:pt>
    <dgm:pt modelId="{31F99C6E-CC8B-47FB-9632-979ED6601496}">
      <dgm:prSet custT="1"/>
      <dgm:spPr/>
      <dgm:t>
        <a:bodyPr/>
        <a:lstStyle/>
        <a:p>
          <a:r>
            <a:rPr lang="en-US" sz="2400" dirty="0">
              <a:latin typeface="Calibri Light" panose="020F0302020204030204" pitchFamily="34" charset="0"/>
              <a:cs typeface="Calibri Light" panose="020F0302020204030204" pitchFamily="34" charset="0"/>
            </a:rPr>
            <a:t>These characteristics have been expanded by researchers to include further Vs such as (</a:t>
          </a:r>
          <a:r>
            <a:rPr lang="en-US" sz="2400" dirty="0" err="1">
              <a:latin typeface="Calibri Light" panose="020F0302020204030204" pitchFamily="34" charset="0"/>
              <a:cs typeface="Calibri Light" panose="020F0302020204030204" pitchFamily="34" charset="0"/>
            </a:rPr>
            <a:t>Diareme</a:t>
          </a:r>
          <a:r>
            <a:rPr lang="en-US" sz="2400" dirty="0">
              <a:latin typeface="Calibri Light" panose="020F0302020204030204" pitchFamily="34" charset="0"/>
              <a:cs typeface="Calibri Light" panose="020F0302020204030204" pitchFamily="34" charset="0"/>
            </a:rPr>
            <a:t> and </a:t>
          </a:r>
          <a:r>
            <a:rPr lang="en-US" sz="2400" dirty="0" err="1">
              <a:latin typeface="Calibri Light" panose="020F0302020204030204" pitchFamily="34" charset="0"/>
              <a:cs typeface="Calibri Light" panose="020F0302020204030204" pitchFamily="34" charset="0"/>
            </a:rPr>
            <a:t>Tsiligiridis</a:t>
          </a:r>
          <a:r>
            <a:rPr lang="en-US" sz="2400" dirty="0">
              <a:latin typeface="Calibri Light" panose="020F0302020204030204" pitchFamily="34" charset="0"/>
              <a:cs typeface="Calibri Light" panose="020F0302020204030204" pitchFamily="34" charset="0"/>
            </a:rPr>
            <a:t>, 2018):</a:t>
          </a:r>
        </a:p>
      </dgm:t>
    </dgm:pt>
    <dgm:pt modelId="{F8CC112E-6F29-45AF-9DA0-AB7AC57782DF}" type="parTrans" cxnId="{A80B98D1-FB8E-4864-B07D-218E8C820640}">
      <dgm:prSet/>
      <dgm:spPr/>
      <dgm:t>
        <a:bodyPr/>
        <a:lstStyle/>
        <a:p>
          <a:endParaRPr lang="en-US"/>
        </a:p>
      </dgm:t>
    </dgm:pt>
    <dgm:pt modelId="{A26C52FC-9718-42A8-8E84-3567B0B09025}" type="sibTrans" cxnId="{A80B98D1-FB8E-4864-B07D-218E8C820640}">
      <dgm:prSet/>
      <dgm:spPr/>
      <dgm:t>
        <a:bodyPr/>
        <a:lstStyle/>
        <a:p>
          <a:endParaRPr lang="en-US"/>
        </a:p>
      </dgm:t>
    </dgm:pt>
    <dgm:pt modelId="{A6BE4D39-49B1-4F6F-A315-8F57E764CA0F}">
      <dgm:prSet custT="1"/>
      <dgm:spPr/>
      <dgm:t>
        <a:bodyPr/>
        <a:lstStyle/>
        <a:p>
          <a:r>
            <a:rPr lang="en-US" sz="2400" dirty="0">
              <a:latin typeface="Calibri Light" panose="020F0302020204030204" pitchFamily="34" charset="0"/>
              <a:cs typeface="Calibri Light" panose="020F0302020204030204" pitchFamily="34" charset="0"/>
            </a:rPr>
            <a:t>Veracity (Accuracy).</a:t>
          </a:r>
        </a:p>
      </dgm:t>
    </dgm:pt>
    <dgm:pt modelId="{E6ACB6B9-FF4C-48B1-9690-8779AB888636}" type="parTrans" cxnId="{208C7125-429B-4EB2-8413-15A3393CCC38}">
      <dgm:prSet/>
      <dgm:spPr/>
      <dgm:t>
        <a:bodyPr/>
        <a:lstStyle/>
        <a:p>
          <a:endParaRPr lang="en-US"/>
        </a:p>
      </dgm:t>
    </dgm:pt>
    <dgm:pt modelId="{5D604A81-47EA-4C24-B1A0-9A1826913C60}" type="sibTrans" cxnId="{208C7125-429B-4EB2-8413-15A3393CCC38}">
      <dgm:prSet/>
      <dgm:spPr/>
      <dgm:t>
        <a:bodyPr/>
        <a:lstStyle/>
        <a:p>
          <a:endParaRPr lang="en-US"/>
        </a:p>
      </dgm:t>
    </dgm:pt>
    <dgm:pt modelId="{26330964-D355-4CAF-B74A-56EFCB290CBD}">
      <dgm:prSet custT="1"/>
      <dgm:spPr/>
      <dgm:t>
        <a:bodyPr/>
        <a:lstStyle/>
        <a:p>
          <a:r>
            <a:rPr lang="en-US" sz="2400" dirty="0">
              <a:latin typeface="Calibri Light" panose="020F0302020204030204" pitchFamily="34" charset="0"/>
              <a:cs typeface="Calibri Light" panose="020F0302020204030204" pitchFamily="34" charset="0"/>
            </a:rPr>
            <a:t>Variability (A Lack of Fixed Pattern).</a:t>
          </a:r>
        </a:p>
      </dgm:t>
    </dgm:pt>
    <dgm:pt modelId="{F4B0E539-569F-4674-A08F-56CE6B83F4DA}" type="parTrans" cxnId="{871C4B81-51B8-4064-986E-D77F34674534}">
      <dgm:prSet/>
      <dgm:spPr/>
      <dgm:t>
        <a:bodyPr/>
        <a:lstStyle/>
        <a:p>
          <a:endParaRPr lang="en-US"/>
        </a:p>
      </dgm:t>
    </dgm:pt>
    <dgm:pt modelId="{0BC541F3-9F9E-404C-B2E7-9A7C4562B60A}" type="sibTrans" cxnId="{871C4B81-51B8-4064-986E-D77F34674534}">
      <dgm:prSet/>
      <dgm:spPr/>
      <dgm:t>
        <a:bodyPr/>
        <a:lstStyle/>
        <a:p>
          <a:endParaRPr lang="en-US"/>
        </a:p>
      </dgm:t>
    </dgm:pt>
    <dgm:pt modelId="{58BB9EE6-FFD6-47B5-9E27-9C56B900E8C4}">
      <dgm:prSet custT="1"/>
      <dgm:spPr/>
      <dgm:t>
        <a:bodyPr/>
        <a:lstStyle/>
        <a:p>
          <a:r>
            <a:rPr lang="en-US" sz="2400" dirty="0">
              <a:latin typeface="Calibri Light" panose="020F0302020204030204" pitchFamily="34" charset="0"/>
              <a:cs typeface="Calibri Light" panose="020F0302020204030204" pitchFamily="34" charset="0"/>
            </a:rPr>
            <a:t>Validation (Ensuring the Accuracy and Fit of the Data).</a:t>
          </a:r>
        </a:p>
      </dgm:t>
    </dgm:pt>
    <dgm:pt modelId="{0A1B8497-63E9-4772-A2D9-BCF7DC7C80CE}" type="parTrans" cxnId="{2E3D61EF-3A10-4DBC-9A05-72FC55EFD924}">
      <dgm:prSet/>
      <dgm:spPr/>
      <dgm:t>
        <a:bodyPr/>
        <a:lstStyle/>
        <a:p>
          <a:endParaRPr lang="en-US"/>
        </a:p>
      </dgm:t>
    </dgm:pt>
    <dgm:pt modelId="{2B3EDCF6-0727-457F-B22A-B20623748547}" type="sibTrans" cxnId="{2E3D61EF-3A10-4DBC-9A05-72FC55EFD924}">
      <dgm:prSet/>
      <dgm:spPr/>
      <dgm:t>
        <a:bodyPr/>
        <a:lstStyle/>
        <a:p>
          <a:endParaRPr lang="en-US"/>
        </a:p>
      </dgm:t>
    </dgm:pt>
    <dgm:pt modelId="{3A064CC6-8B5E-4703-9E15-7BC52FE6C418}">
      <dgm:prSet custT="1"/>
      <dgm:spPr/>
      <dgm:t>
        <a:bodyPr/>
        <a:lstStyle/>
        <a:p>
          <a:r>
            <a:rPr lang="en-US" sz="2400" dirty="0">
              <a:latin typeface="Calibri Light" panose="020F0302020204030204" pitchFamily="34" charset="0"/>
              <a:cs typeface="Calibri Light" panose="020F0302020204030204" pitchFamily="34" charset="0"/>
            </a:rPr>
            <a:t>Visualization (The Presentation of Data in Intuitive Formats to Support Decision-Making).</a:t>
          </a:r>
        </a:p>
      </dgm:t>
    </dgm:pt>
    <dgm:pt modelId="{599F4D79-A720-4E74-B424-51F8C48FA6ED}" type="parTrans" cxnId="{BF2BA548-E23B-47C0-9403-DBDD5639450B}">
      <dgm:prSet/>
      <dgm:spPr/>
      <dgm:t>
        <a:bodyPr/>
        <a:lstStyle/>
        <a:p>
          <a:endParaRPr lang="en-US"/>
        </a:p>
      </dgm:t>
    </dgm:pt>
    <dgm:pt modelId="{0F251B93-55E2-4F36-8B32-FF80C1F9D0D0}" type="sibTrans" cxnId="{BF2BA548-E23B-47C0-9403-DBDD5639450B}">
      <dgm:prSet/>
      <dgm:spPr/>
      <dgm:t>
        <a:bodyPr/>
        <a:lstStyle/>
        <a:p>
          <a:endParaRPr lang="en-US"/>
        </a:p>
      </dgm:t>
    </dgm:pt>
    <dgm:pt modelId="{BEC79986-6E44-4879-9093-3ACD6D36CE9A}">
      <dgm:prSet custT="1"/>
      <dgm:spPr/>
      <dgm:t>
        <a:bodyPr/>
        <a:lstStyle/>
        <a:p>
          <a:r>
            <a:rPr lang="en-US" sz="2400" dirty="0">
              <a:latin typeface="Calibri Light" panose="020F0302020204030204" pitchFamily="34" charset="0"/>
              <a:cs typeface="Calibri Light" panose="020F0302020204030204" pitchFamily="34" charset="0"/>
            </a:rPr>
            <a:t>Verification (Confirming the Source of Data and Ensuring Integrity During Processing).</a:t>
          </a:r>
        </a:p>
      </dgm:t>
    </dgm:pt>
    <dgm:pt modelId="{6205434C-8E79-42C8-9F67-4B236D013F76}" type="parTrans" cxnId="{0BB06767-DA92-42F4-A2E7-9F03E8EC8229}">
      <dgm:prSet/>
      <dgm:spPr/>
      <dgm:t>
        <a:bodyPr/>
        <a:lstStyle/>
        <a:p>
          <a:endParaRPr lang="en-US"/>
        </a:p>
      </dgm:t>
    </dgm:pt>
    <dgm:pt modelId="{CE8138CC-F60D-4E4F-89A0-1030315B3438}" type="sibTrans" cxnId="{0BB06767-DA92-42F4-A2E7-9F03E8EC8229}">
      <dgm:prSet/>
      <dgm:spPr/>
      <dgm:t>
        <a:bodyPr/>
        <a:lstStyle/>
        <a:p>
          <a:endParaRPr lang="en-US"/>
        </a:p>
      </dgm:t>
    </dgm:pt>
    <dgm:pt modelId="{56A9E270-C070-4ED8-9605-0571BDCB7652}" type="pres">
      <dgm:prSet presAssocID="{A44E8898-D415-40FF-B95C-3E6151FF0153}" presName="vert0" presStyleCnt="0">
        <dgm:presLayoutVars>
          <dgm:dir/>
          <dgm:animOne val="branch"/>
          <dgm:animLvl val="lvl"/>
        </dgm:presLayoutVars>
      </dgm:prSet>
      <dgm:spPr/>
    </dgm:pt>
    <dgm:pt modelId="{45FB4F40-AD5A-4561-94EB-68B85818632C}" type="pres">
      <dgm:prSet presAssocID="{FC18B84C-0C93-47BE-AEB3-B2B282DCAFC5}" presName="thickLine" presStyleLbl="alignNode1" presStyleIdx="0" presStyleCnt="2"/>
      <dgm:spPr/>
    </dgm:pt>
    <dgm:pt modelId="{1751DCCE-F1D6-4154-A790-4F266FABFE40}" type="pres">
      <dgm:prSet presAssocID="{FC18B84C-0C93-47BE-AEB3-B2B282DCAFC5}" presName="horz1" presStyleCnt="0"/>
      <dgm:spPr/>
    </dgm:pt>
    <dgm:pt modelId="{6C0934F7-0EBB-4105-A627-41408E1F8E4B}" type="pres">
      <dgm:prSet presAssocID="{FC18B84C-0C93-47BE-AEB3-B2B282DCAFC5}" presName="tx1" presStyleLbl="revTx" presStyleIdx="0" presStyleCnt="7" custScaleX="500000"/>
      <dgm:spPr/>
    </dgm:pt>
    <dgm:pt modelId="{25F1A959-2CD0-4CBC-BDA0-05238EAB5725}" type="pres">
      <dgm:prSet presAssocID="{FC18B84C-0C93-47BE-AEB3-B2B282DCAFC5}" presName="vert1" presStyleCnt="0"/>
      <dgm:spPr/>
    </dgm:pt>
    <dgm:pt modelId="{05009184-F114-4AF6-9952-9260313A5F76}" type="pres">
      <dgm:prSet presAssocID="{31F99C6E-CC8B-47FB-9632-979ED6601496}" presName="thickLine" presStyleLbl="alignNode1" presStyleIdx="1" presStyleCnt="2" custLinFactNeighborY="-7889"/>
      <dgm:spPr/>
    </dgm:pt>
    <dgm:pt modelId="{4FEC7CD9-0B53-47CC-9B35-A34D2FCA593B}" type="pres">
      <dgm:prSet presAssocID="{31F99C6E-CC8B-47FB-9632-979ED6601496}" presName="horz1" presStyleCnt="0"/>
      <dgm:spPr/>
    </dgm:pt>
    <dgm:pt modelId="{18249569-460B-4955-8CBD-D88BF360DF9A}" type="pres">
      <dgm:prSet presAssocID="{31F99C6E-CC8B-47FB-9632-979ED6601496}" presName="tx1" presStyleLbl="revTx" presStyleIdx="1" presStyleCnt="7" custScaleY="239022" custLinFactNeighborX="479" custLinFactNeighborY="-17446"/>
      <dgm:spPr/>
    </dgm:pt>
    <dgm:pt modelId="{F207CDB7-F231-4E8D-A462-FF480249A655}" type="pres">
      <dgm:prSet presAssocID="{31F99C6E-CC8B-47FB-9632-979ED6601496}" presName="vert1" presStyleCnt="0"/>
      <dgm:spPr/>
    </dgm:pt>
    <dgm:pt modelId="{0DF53E29-663E-47F9-8E09-DF971C1A947B}" type="pres">
      <dgm:prSet presAssocID="{A6BE4D39-49B1-4F6F-A315-8F57E764CA0F}" presName="vertSpace2a" presStyleCnt="0"/>
      <dgm:spPr/>
    </dgm:pt>
    <dgm:pt modelId="{7FF8117D-E3C8-47AF-913F-B905313E12D7}" type="pres">
      <dgm:prSet presAssocID="{A6BE4D39-49B1-4F6F-A315-8F57E764CA0F}" presName="horz2" presStyleCnt="0"/>
      <dgm:spPr/>
    </dgm:pt>
    <dgm:pt modelId="{8649E856-9BFF-4BB4-8764-D16405CE962A}" type="pres">
      <dgm:prSet presAssocID="{A6BE4D39-49B1-4F6F-A315-8F57E764CA0F}" presName="horzSpace2" presStyleCnt="0"/>
      <dgm:spPr/>
    </dgm:pt>
    <dgm:pt modelId="{C9F3CEB5-8408-4F6F-9015-6EE26E66FE12}" type="pres">
      <dgm:prSet presAssocID="{A6BE4D39-49B1-4F6F-A315-8F57E764CA0F}" presName="tx2" presStyleLbl="revTx" presStyleIdx="2" presStyleCnt="7" custLinFactNeighborX="-413" custLinFactNeighborY="-13864"/>
      <dgm:spPr/>
    </dgm:pt>
    <dgm:pt modelId="{31D36B50-C463-468F-B429-93545A623190}" type="pres">
      <dgm:prSet presAssocID="{A6BE4D39-49B1-4F6F-A315-8F57E764CA0F}" presName="vert2" presStyleCnt="0"/>
      <dgm:spPr/>
    </dgm:pt>
    <dgm:pt modelId="{A952C29B-BDD5-4CDF-8D34-6355E4905C79}" type="pres">
      <dgm:prSet presAssocID="{A6BE4D39-49B1-4F6F-A315-8F57E764CA0F}" presName="thinLine2b" presStyleLbl="callout" presStyleIdx="0" presStyleCnt="5" custLinFactY="400000" custLinFactNeighborX="-296" custLinFactNeighborY="471421"/>
      <dgm:spPr/>
    </dgm:pt>
    <dgm:pt modelId="{C394C0F4-CC4E-4660-AFE8-B3637BE2B2C7}" type="pres">
      <dgm:prSet presAssocID="{A6BE4D39-49B1-4F6F-A315-8F57E764CA0F}" presName="vertSpace2b" presStyleCnt="0"/>
      <dgm:spPr/>
    </dgm:pt>
    <dgm:pt modelId="{2FB80305-B835-4369-A518-148DA75CD32F}" type="pres">
      <dgm:prSet presAssocID="{26330964-D355-4CAF-B74A-56EFCB290CBD}" presName="horz2" presStyleCnt="0"/>
      <dgm:spPr/>
    </dgm:pt>
    <dgm:pt modelId="{FE629AEF-DD62-43D2-A6B8-0D3393CA7AFC}" type="pres">
      <dgm:prSet presAssocID="{26330964-D355-4CAF-B74A-56EFCB290CBD}" presName="horzSpace2" presStyleCnt="0"/>
      <dgm:spPr/>
    </dgm:pt>
    <dgm:pt modelId="{1D03A8D3-A350-4532-99FC-39F19951528C}" type="pres">
      <dgm:prSet presAssocID="{26330964-D355-4CAF-B74A-56EFCB290CBD}" presName="tx2" presStyleLbl="revTx" presStyleIdx="3" presStyleCnt="7" custLinFactNeighborX="-413" custLinFactNeighborY="80392"/>
      <dgm:spPr/>
    </dgm:pt>
    <dgm:pt modelId="{68562876-8B62-4AEE-BF4E-C0E30C67CC56}" type="pres">
      <dgm:prSet presAssocID="{26330964-D355-4CAF-B74A-56EFCB290CBD}" presName="vert2" presStyleCnt="0"/>
      <dgm:spPr/>
    </dgm:pt>
    <dgm:pt modelId="{7F95C519-7EF1-4614-9DE1-3343AB73F436}" type="pres">
      <dgm:prSet presAssocID="{26330964-D355-4CAF-B74A-56EFCB290CBD}" presName="thinLine2b" presStyleLbl="callout" presStyleIdx="1" presStyleCnt="5" custLinFactY="770681" custLinFactNeighborX="-406" custLinFactNeighborY="800000"/>
      <dgm:spPr/>
    </dgm:pt>
    <dgm:pt modelId="{E2149502-292B-4DDA-8D4E-B3640C64C31A}" type="pres">
      <dgm:prSet presAssocID="{26330964-D355-4CAF-B74A-56EFCB290CBD}" presName="vertSpace2b" presStyleCnt="0"/>
      <dgm:spPr/>
    </dgm:pt>
    <dgm:pt modelId="{29F67770-3AB7-433C-95D6-4812D7966716}" type="pres">
      <dgm:prSet presAssocID="{58BB9EE6-FFD6-47B5-9E27-9C56B900E8C4}" presName="horz2" presStyleCnt="0"/>
      <dgm:spPr/>
    </dgm:pt>
    <dgm:pt modelId="{09497558-D232-429F-816A-2667951CBC5D}" type="pres">
      <dgm:prSet presAssocID="{58BB9EE6-FFD6-47B5-9E27-9C56B900E8C4}" presName="horzSpace2" presStyleCnt="0"/>
      <dgm:spPr/>
    </dgm:pt>
    <dgm:pt modelId="{CF43AB00-92F4-4A4D-A9D0-DC17EE2AE8B9}" type="pres">
      <dgm:prSet presAssocID="{58BB9EE6-FFD6-47B5-9E27-9C56B900E8C4}" presName="tx2" presStyleLbl="revTx" presStyleIdx="4" presStyleCnt="7" custLinFactY="36203" custLinFactNeighborX="-413" custLinFactNeighborY="100000"/>
      <dgm:spPr/>
    </dgm:pt>
    <dgm:pt modelId="{F1ED4AD5-B30F-4330-A173-39343CC7EFDF}" type="pres">
      <dgm:prSet presAssocID="{58BB9EE6-FFD6-47B5-9E27-9C56B900E8C4}" presName="vert2" presStyleCnt="0"/>
      <dgm:spPr/>
    </dgm:pt>
    <dgm:pt modelId="{67D511FB-3D1F-4DB0-9D1F-4B0F1E195BDB}" type="pres">
      <dgm:prSet presAssocID="{58BB9EE6-FFD6-47B5-9E27-9C56B900E8C4}" presName="thinLine2b" presStyleLbl="callout" presStyleIdx="2" presStyleCnt="5" custLinFactY="1184018" custLinFactNeighborX="-406" custLinFactNeighborY="1200000"/>
      <dgm:spPr/>
    </dgm:pt>
    <dgm:pt modelId="{EC2A0273-1A00-4FBC-8C03-636455196AC9}" type="pres">
      <dgm:prSet presAssocID="{58BB9EE6-FFD6-47B5-9E27-9C56B900E8C4}" presName="vertSpace2b" presStyleCnt="0"/>
      <dgm:spPr/>
    </dgm:pt>
    <dgm:pt modelId="{D6B017EE-3004-4163-AC81-835FEC24A37E}" type="pres">
      <dgm:prSet presAssocID="{3A064CC6-8B5E-4703-9E15-7BC52FE6C418}" presName="horz2" presStyleCnt="0"/>
      <dgm:spPr/>
    </dgm:pt>
    <dgm:pt modelId="{1178E8CC-7A68-4C66-A792-0D5E86470ECB}" type="pres">
      <dgm:prSet presAssocID="{3A064CC6-8B5E-4703-9E15-7BC52FE6C418}" presName="horzSpace2" presStyleCnt="0"/>
      <dgm:spPr/>
    </dgm:pt>
    <dgm:pt modelId="{4D80CCF6-1CE2-4C2A-AF4F-9728D772F960}" type="pres">
      <dgm:prSet presAssocID="{3A064CC6-8B5E-4703-9E15-7BC52FE6C418}" presName="tx2" presStyleLbl="revTx" presStyleIdx="5" presStyleCnt="7" custLinFactY="100000" custLinFactNeighborX="-413" custLinFactNeighborY="127683"/>
      <dgm:spPr/>
    </dgm:pt>
    <dgm:pt modelId="{9FFA0218-1C78-4473-8FF8-22CDC6F08380}" type="pres">
      <dgm:prSet presAssocID="{3A064CC6-8B5E-4703-9E15-7BC52FE6C418}" presName="vert2" presStyleCnt="0"/>
      <dgm:spPr/>
    </dgm:pt>
    <dgm:pt modelId="{099F2E54-EF13-4C55-BB64-49BA8B25F371}" type="pres">
      <dgm:prSet presAssocID="{3A064CC6-8B5E-4703-9E15-7BC52FE6C418}" presName="thinLine2b" presStyleLbl="callout" presStyleIdx="3" presStyleCnt="5" custLinFactY="2348491" custLinFactNeighborX="-175" custLinFactNeighborY="2400000"/>
      <dgm:spPr/>
    </dgm:pt>
    <dgm:pt modelId="{7D474331-87BC-427E-B3D3-41A5B388B0C7}" type="pres">
      <dgm:prSet presAssocID="{3A064CC6-8B5E-4703-9E15-7BC52FE6C418}" presName="vertSpace2b" presStyleCnt="0"/>
      <dgm:spPr/>
    </dgm:pt>
    <dgm:pt modelId="{09177ADA-ECD0-48F9-86EF-3E709F231F37}" type="pres">
      <dgm:prSet presAssocID="{BEC79986-6E44-4879-9093-3ACD6D36CE9A}" presName="horz2" presStyleCnt="0"/>
      <dgm:spPr/>
    </dgm:pt>
    <dgm:pt modelId="{0BF2A7A1-FB20-4015-906A-CE3C77E8AF69}" type="pres">
      <dgm:prSet presAssocID="{BEC79986-6E44-4879-9093-3ACD6D36CE9A}" presName="horzSpace2" presStyleCnt="0"/>
      <dgm:spPr/>
    </dgm:pt>
    <dgm:pt modelId="{003AA01D-CAFA-48E6-9A39-94472F01E3D0}" type="pres">
      <dgm:prSet presAssocID="{BEC79986-6E44-4879-9093-3ACD6D36CE9A}" presName="tx2" presStyleLbl="revTx" presStyleIdx="6" presStyleCnt="7" custLinFactY="200000" custLinFactNeighborX="-413" custLinFactNeighborY="243696"/>
      <dgm:spPr/>
    </dgm:pt>
    <dgm:pt modelId="{5D9B6103-9E5C-4C71-B71B-E5BC9AE88573}" type="pres">
      <dgm:prSet presAssocID="{BEC79986-6E44-4879-9093-3ACD6D36CE9A}" presName="vert2" presStyleCnt="0"/>
      <dgm:spPr/>
    </dgm:pt>
    <dgm:pt modelId="{F26AD868-2607-4E92-972F-5CE286926E5D}" type="pres">
      <dgm:prSet presAssocID="{BEC79986-6E44-4879-9093-3ACD6D36CE9A}" presName="thinLine2b" presStyleLbl="callout" presStyleIdx="4" presStyleCnt="5" custLinFactY="3451383" custLinFactNeighborX="78" custLinFactNeighborY="3500000"/>
      <dgm:spPr/>
    </dgm:pt>
    <dgm:pt modelId="{5C154AA3-5951-4486-9C19-322108D76373}" type="pres">
      <dgm:prSet presAssocID="{BEC79986-6E44-4879-9093-3ACD6D36CE9A}" presName="vertSpace2b" presStyleCnt="0"/>
      <dgm:spPr/>
    </dgm:pt>
  </dgm:ptLst>
  <dgm:cxnLst>
    <dgm:cxn modelId="{37172E0A-A062-4F52-A60E-511972F8A55B}" type="presOf" srcId="{31F99C6E-CC8B-47FB-9632-979ED6601496}" destId="{18249569-460B-4955-8CBD-D88BF360DF9A}" srcOrd="0" destOrd="0" presId="urn:microsoft.com/office/officeart/2008/layout/LinedList"/>
    <dgm:cxn modelId="{208C7125-429B-4EB2-8413-15A3393CCC38}" srcId="{31F99C6E-CC8B-47FB-9632-979ED6601496}" destId="{A6BE4D39-49B1-4F6F-A315-8F57E764CA0F}" srcOrd="0" destOrd="0" parTransId="{E6ACB6B9-FF4C-48B1-9690-8779AB888636}" sibTransId="{5D604A81-47EA-4C24-B1A0-9A1826913C60}"/>
    <dgm:cxn modelId="{B57B3C35-D3D3-4498-9D31-C1A65EEA0A80}" type="presOf" srcId="{A44E8898-D415-40FF-B95C-3E6151FF0153}" destId="{56A9E270-C070-4ED8-9605-0571BDCB7652}" srcOrd="0" destOrd="0" presId="urn:microsoft.com/office/officeart/2008/layout/LinedList"/>
    <dgm:cxn modelId="{00D77637-7D5F-40A7-9104-BDA205DE795B}" srcId="{A44E8898-D415-40FF-B95C-3E6151FF0153}" destId="{FC18B84C-0C93-47BE-AEB3-B2B282DCAFC5}" srcOrd="0" destOrd="0" parTransId="{1DD28384-238D-485B-A911-3E8A3B12C809}" sibTransId="{BA0AA108-56C0-40E8-AE74-11F790DC253F}"/>
    <dgm:cxn modelId="{8ADEA53F-20B5-43BD-A507-E27C48F608B8}" type="presOf" srcId="{A6BE4D39-49B1-4F6F-A315-8F57E764CA0F}" destId="{C9F3CEB5-8408-4F6F-9015-6EE26E66FE12}" srcOrd="0" destOrd="0" presId="urn:microsoft.com/office/officeart/2008/layout/LinedList"/>
    <dgm:cxn modelId="{0BB06767-DA92-42F4-A2E7-9F03E8EC8229}" srcId="{31F99C6E-CC8B-47FB-9632-979ED6601496}" destId="{BEC79986-6E44-4879-9093-3ACD6D36CE9A}" srcOrd="4" destOrd="0" parTransId="{6205434C-8E79-42C8-9F67-4B236D013F76}" sibTransId="{CE8138CC-F60D-4E4F-89A0-1030315B3438}"/>
    <dgm:cxn modelId="{BF2BA548-E23B-47C0-9403-DBDD5639450B}" srcId="{31F99C6E-CC8B-47FB-9632-979ED6601496}" destId="{3A064CC6-8B5E-4703-9E15-7BC52FE6C418}" srcOrd="3" destOrd="0" parTransId="{599F4D79-A720-4E74-B424-51F8C48FA6ED}" sibTransId="{0F251B93-55E2-4F36-8B32-FF80C1F9D0D0}"/>
    <dgm:cxn modelId="{B33A2278-A6E0-48C3-BE6E-54D8C9F0D36D}" type="presOf" srcId="{26330964-D355-4CAF-B74A-56EFCB290CBD}" destId="{1D03A8D3-A350-4532-99FC-39F19951528C}" srcOrd="0" destOrd="0" presId="urn:microsoft.com/office/officeart/2008/layout/LinedList"/>
    <dgm:cxn modelId="{871C4B81-51B8-4064-986E-D77F34674534}" srcId="{31F99C6E-CC8B-47FB-9632-979ED6601496}" destId="{26330964-D355-4CAF-B74A-56EFCB290CBD}" srcOrd="1" destOrd="0" parTransId="{F4B0E539-569F-4674-A08F-56CE6B83F4DA}" sibTransId="{0BC541F3-9F9E-404C-B2E7-9A7C4562B60A}"/>
    <dgm:cxn modelId="{A5B56B9A-468E-4E41-8022-16CC5D5E2BD9}" type="presOf" srcId="{BEC79986-6E44-4879-9093-3ACD6D36CE9A}" destId="{003AA01D-CAFA-48E6-9A39-94472F01E3D0}" srcOrd="0" destOrd="0" presId="urn:microsoft.com/office/officeart/2008/layout/LinedList"/>
    <dgm:cxn modelId="{894C6BA1-8ED2-4218-A59B-158624374DDE}" type="presOf" srcId="{58BB9EE6-FFD6-47B5-9E27-9C56B900E8C4}" destId="{CF43AB00-92F4-4A4D-A9D0-DC17EE2AE8B9}" srcOrd="0" destOrd="0" presId="urn:microsoft.com/office/officeart/2008/layout/LinedList"/>
    <dgm:cxn modelId="{F56844A6-2D2E-4EFF-B363-2E4746A82317}" type="presOf" srcId="{FC18B84C-0C93-47BE-AEB3-B2B282DCAFC5}" destId="{6C0934F7-0EBB-4105-A627-41408E1F8E4B}" srcOrd="0" destOrd="0" presId="urn:microsoft.com/office/officeart/2008/layout/LinedList"/>
    <dgm:cxn modelId="{A80B98D1-FB8E-4864-B07D-218E8C820640}" srcId="{A44E8898-D415-40FF-B95C-3E6151FF0153}" destId="{31F99C6E-CC8B-47FB-9632-979ED6601496}" srcOrd="1" destOrd="0" parTransId="{F8CC112E-6F29-45AF-9DA0-AB7AC57782DF}" sibTransId="{A26C52FC-9718-42A8-8E84-3567B0B09025}"/>
    <dgm:cxn modelId="{DAE34FEA-3589-4DD4-8479-621BFA4EE81D}" type="presOf" srcId="{3A064CC6-8B5E-4703-9E15-7BC52FE6C418}" destId="{4D80CCF6-1CE2-4C2A-AF4F-9728D772F960}" srcOrd="0" destOrd="0" presId="urn:microsoft.com/office/officeart/2008/layout/LinedList"/>
    <dgm:cxn modelId="{2E3D61EF-3A10-4DBC-9A05-72FC55EFD924}" srcId="{31F99C6E-CC8B-47FB-9632-979ED6601496}" destId="{58BB9EE6-FFD6-47B5-9E27-9C56B900E8C4}" srcOrd="2" destOrd="0" parTransId="{0A1B8497-63E9-4772-A2D9-BCF7DC7C80CE}" sibTransId="{2B3EDCF6-0727-457F-B22A-B20623748547}"/>
    <dgm:cxn modelId="{A66B9C5F-FDBF-421D-86E1-DCB945FF58AA}" type="presParOf" srcId="{56A9E270-C070-4ED8-9605-0571BDCB7652}" destId="{45FB4F40-AD5A-4561-94EB-68B85818632C}" srcOrd="0" destOrd="0" presId="urn:microsoft.com/office/officeart/2008/layout/LinedList"/>
    <dgm:cxn modelId="{6321B739-E14E-4921-86CB-0B360F9B0E71}" type="presParOf" srcId="{56A9E270-C070-4ED8-9605-0571BDCB7652}" destId="{1751DCCE-F1D6-4154-A790-4F266FABFE40}" srcOrd="1" destOrd="0" presId="urn:microsoft.com/office/officeart/2008/layout/LinedList"/>
    <dgm:cxn modelId="{5FD3202D-B619-4249-9777-A485135F407E}" type="presParOf" srcId="{1751DCCE-F1D6-4154-A790-4F266FABFE40}" destId="{6C0934F7-0EBB-4105-A627-41408E1F8E4B}" srcOrd="0" destOrd="0" presId="urn:microsoft.com/office/officeart/2008/layout/LinedList"/>
    <dgm:cxn modelId="{36D87ED8-FDD4-423F-ADFC-7AE8E88A0F64}" type="presParOf" srcId="{1751DCCE-F1D6-4154-A790-4F266FABFE40}" destId="{25F1A959-2CD0-4CBC-BDA0-05238EAB5725}" srcOrd="1" destOrd="0" presId="urn:microsoft.com/office/officeart/2008/layout/LinedList"/>
    <dgm:cxn modelId="{1670432C-A9D9-4B6D-8260-35968667D2A7}" type="presParOf" srcId="{56A9E270-C070-4ED8-9605-0571BDCB7652}" destId="{05009184-F114-4AF6-9952-9260313A5F76}" srcOrd="2" destOrd="0" presId="urn:microsoft.com/office/officeart/2008/layout/LinedList"/>
    <dgm:cxn modelId="{F38062A2-66FF-4E85-B055-3D204954ADCD}" type="presParOf" srcId="{56A9E270-C070-4ED8-9605-0571BDCB7652}" destId="{4FEC7CD9-0B53-47CC-9B35-A34D2FCA593B}" srcOrd="3" destOrd="0" presId="urn:microsoft.com/office/officeart/2008/layout/LinedList"/>
    <dgm:cxn modelId="{E3B1A623-455E-4577-961B-4CBFCAF5533B}" type="presParOf" srcId="{4FEC7CD9-0B53-47CC-9B35-A34D2FCA593B}" destId="{18249569-460B-4955-8CBD-D88BF360DF9A}" srcOrd="0" destOrd="0" presId="urn:microsoft.com/office/officeart/2008/layout/LinedList"/>
    <dgm:cxn modelId="{F1E87501-29D3-4EFA-97BE-26BA48A8678E}" type="presParOf" srcId="{4FEC7CD9-0B53-47CC-9B35-A34D2FCA593B}" destId="{F207CDB7-F231-4E8D-A462-FF480249A655}" srcOrd="1" destOrd="0" presId="urn:microsoft.com/office/officeart/2008/layout/LinedList"/>
    <dgm:cxn modelId="{CD250144-AB83-4A14-895B-9BDAB2EA9FCC}" type="presParOf" srcId="{F207CDB7-F231-4E8D-A462-FF480249A655}" destId="{0DF53E29-663E-47F9-8E09-DF971C1A947B}" srcOrd="0" destOrd="0" presId="urn:microsoft.com/office/officeart/2008/layout/LinedList"/>
    <dgm:cxn modelId="{D1D5322B-2EE6-4917-950C-959452456ACF}" type="presParOf" srcId="{F207CDB7-F231-4E8D-A462-FF480249A655}" destId="{7FF8117D-E3C8-47AF-913F-B905313E12D7}" srcOrd="1" destOrd="0" presId="urn:microsoft.com/office/officeart/2008/layout/LinedList"/>
    <dgm:cxn modelId="{00BDB412-F507-423F-8C16-5679F7A600B0}" type="presParOf" srcId="{7FF8117D-E3C8-47AF-913F-B905313E12D7}" destId="{8649E856-9BFF-4BB4-8764-D16405CE962A}" srcOrd="0" destOrd="0" presId="urn:microsoft.com/office/officeart/2008/layout/LinedList"/>
    <dgm:cxn modelId="{09F572CC-C30D-4F3D-BC2E-EBDB78D1A55D}" type="presParOf" srcId="{7FF8117D-E3C8-47AF-913F-B905313E12D7}" destId="{C9F3CEB5-8408-4F6F-9015-6EE26E66FE12}" srcOrd="1" destOrd="0" presId="urn:microsoft.com/office/officeart/2008/layout/LinedList"/>
    <dgm:cxn modelId="{FACF092B-03BF-4E0B-BF4B-0BB84C49E47C}" type="presParOf" srcId="{7FF8117D-E3C8-47AF-913F-B905313E12D7}" destId="{31D36B50-C463-468F-B429-93545A623190}" srcOrd="2" destOrd="0" presId="urn:microsoft.com/office/officeart/2008/layout/LinedList"/>
    <dgm:cxn modelId="{80D000D4-F89B-4787-AC7F-9A6318F0F188}" type="presParOf" srcId="{F207CDB7-F231-4E8D-A462-FF480249A655}" destId="{A952C29B-BDD5-4CDF-8D34-6355E4905C79}" srcOrd="2" destOrd="0" presId="urn:microsoft.com/office/officeart/2008/layout/LinedList"/>
    <dgm:cxn modelId="{9D4DBA37-FB0A-44A6-AEBA-60F29B39EA18}" type="presParOf" srcId="{F207CDB7-F231-4E8D-A462-FF480249A655}" destId="{C394C0F4-CC4E-4660-AFE8-B3637BE2B2C7}" srcOrd="3" destOrd="0" presId="urn:microsoft.com/office/officeart/2008/layout/LinedList"/>
    <dgm:cxn modelId="{A7C5AE66-9656-43C1-A984-A5C1E479E27E}" type="presParOf" srcId="{F207CDB7-F231-4E8D-A462-FF480249A655}" destId="{2FB80305-B835-4369-A518-148DA75CD32F}" srcOrd="4" destOrd="0" presId="urn:microsoft.com/office/officeart/2008/layout/LinedList"/>
    <dgm:cxn modelId="{1CB24A89-3B85-4427-A75A-F6C0A5CFB9AB}" type="presParOf" srcId="{2FB80305-B835-4369-A518-148DA75CD32F}" destId="{FE629AEF-DD62-43D2-A6B8-0D3393CA7AFC}" srcOrd="0" destOrd="0" presId="urn:microsoft.com/office/officeart/2008/layout/LinedList"/>
    <dgm:cxn modelId="{DB3C4458-9F44-4DA4-BFCC-0CC172EBC6E2}" type="presParOf" srcId="{2FB80305-B835-4369-A518-148DA75CD32F}" destId="{1D03A8D3-A350-4532-99FC-39F19951528C}" srcOrd="1" destOrd="0" presId="urn:microsoft.com/office/officeart/2008/layout/LinedList"/>
    <dgm:cxn modelId="{3C9F1EED-84BD-4147-87E0-5C7D0500F67E}" type="presParOf" srcId="{2FB80305-B835-4369-A518-148DA75CD32F}" destId="{68562876-8B62-4AEE-BF4E-C0E30C67CC56}" srcOrd="2" destOrd="0" presId="urn:microsoft.com/office/officeart/2008/layout/LinedList"/>
    <dgm:cxn modelId="{7671FD31-481C-4BDE-84F1-32A0D90658E6}" type="presParOf" srcId="{F207CDB7-F231-4E8D-A462-FF480249A655}" destId="{7F95C519-7EF1-4614-9DE1-3343AB73F436}" srcOrd="5" destOrd="0" presId="urn:microsoft.com/office/officeart/2008/layout/LinedList"/>
    <dgm:cxn modelId="{7A020675-DFFD-4746-AE08-621933E40C4B}" type="presParOf" srcId="{F207CDB7-F231-4E8D-A462-FF480249A655}" destId="{E2149502-292B-4DDA-8D4E-B3640C64C31A}" srcOrd="6" destOrd="0" presId="urn:microsoft.com/office/officeart/2008/layout/LinedList"/>
    <dgm:cxn modelId="{24C0FBB2-60D2-4F19-BE63-ED0E4CF60C59}" type="presParOf" srcId="{F207CDB7-F231-4E8D-A462-FF480249A655}" destId="{29F67770-3AB7-433C-95D6-4812D7966716}" srcOrd="7" destOrd="0" presId="urn:microsoft.com/office/officeart/2008/layout/LinedList"/>
    <dgm:cxn modelId="{58A5245A-F6DB-499D-A1F5-50A3278621B1}" type="presParOf" srcId="{29F67770-3AB7-433C-95D6-4812D7966716}" destId="{09497558-D232-429F-816A-2667951CBC5D}" srcOrd="0" destOrd="0" presId="urn:microsoft.com/office/officeart/2008/layout/LinedList"/>
    <dgm:cxn modelId="{FD3149CC-8BBE-4485-9FF0-F9BCDBCC30CE}" type="presParOf" srcId="{29F67770-3AB7-433C-95D6-4812D7966716}" destId="{CF43AB00-92F4-4A4D-A9D0-DC17EE2AE8B9}" srcOrd="1" destOrd="0" presId="urn:microsoft.com/office/officeart/2008/layout/LinedList"/>
    <dgm:cxn modelId="{B96D279B-979B-41EE-A71E-F2C9A3CFBD53}" type="presParOf" srcId="{29F67770-3AB7-433C-95D6-4812D7966716}" destId="{F1ED4AD5-B30F-4330-A173-39343CC7EFDF}" srcOrd="2" destOrd="0" presId="urn:microsoft.com/office/officeart/2008/layout/LinedList"/>
    <dgm:cxn modelId="{51A0984B-5F14-4080-8A14-4889A01F1FCA}" type="presParOf" srcId="{F207CDB7-F231-4E8D-A462-FF480249A655}" destId="{67D511FB-3D1F-4DB0-9D1F-4B0F1E195BDB}" srcOrd="8" destOrd="0" presId="urn:microsoft.com/office/officeart/2008/layout/LinedList"/>
    <dgm:cxn modelId="{E5DA27F7-317C-44B5-896D-F8C133FBC4A3}" type="presParOf" srcId="{F207CDB7-F231-4E8D-A462-FF480249A655}" destId="{EC2A0273-1A00-4FBC-8C03-636455196AC9}" srcOrd="9" destOrd="0" presId="urn:microsoft.com/office/officeart/2008/layout/LinedList"/>
    <dgm:cxn modelId="{481D592E-1868-4BEB-BFCC-D3A983C1ABF1}" type="presParOf" srcId="{F207CDB7-F231-4E8D-A462-FF480249A655}" destId="{D6B017EE-3004-4163-AC81-835FEC24A37E}" srcOrd="10" destOrd="0" presId="urn:microsoft.com/office/officeart/2008/layout/LinedList"/>
    <dgm:cxn modelId="{BB010ABB-44B0-430F-8D03-67C7D627F2CC}" type="presParOf" srcId="{D6B017EE-3004-4163-AC81-835FEC24A37E}" destId="{1178E8CC-7A68-4C66-A792-0D5E86470ECB}" srcOrd="0" destOrd="0" presId="urn:microsoft.com/office/officeart/2008/layout/LinedList"/>
    <dgm:cxn modelId="{2231F6C4-9B08-47C5-BB15-B4A4C258DFD0}" type="presParOf" srcId="{D6B017EE-3004-4163-AC81-835FEC24A37E}" destId="{4D80CCF6-1CE2-4C2A-AF4F-9728D772F960}" srcOrd="1" destOrd="0" presId="urn:microsoft.com/office/officeart/2008/layout/LinedList"/>
    <dgm:cxn modelId="{D0021CB3-72E7-4FFD-A20E-F0FEBBAB9A54}" type="presParOf" srcId="{D6B017EE-3004-4163-AC81-835FEC24A37E}" destId="{9FFA0218-1C78-4473-8FF8-22CDC6F08380}" srcOrd="2" destOrd="0" presId="urn:microsoft.com/office/officeart/2008/layout/LinedList"/>
    <dgm:cxn modelId="{6CF64F90-C7D1-436B-A6A0-9B7B12B45EF6}" type="presParOf" srcId="{F207CDB7-F231-4E8D-A462-FF480249A655}" destId="{099F2E54-EF13-4C55-BB64-49BA8B25F371}" srcOrd="11" destOrd="0" presId="urn:microsoft.com/office/officeart/2008/layout/LinedList"/>
    <dgm:cxn modelId="{E2076691-DA6F-4637-80DF-27C71DAC9DCC}" type="presParOf" srcId="{F207CDB7-F231-4E8D-A462-FF480249A655}" destId="{7D474331-87BC-427E-B3D3-41A5B388B0C7}" srcOrd="12" destOrd="0" presId="urn:microsoft.com/office/officeart/2008/layout/LinedList"/>
    <dgm:cxn modelId="{A6F5EB56-E15A-45FD-B335-E462047F79AF}" type="presParOf" srcId="{F207CDB7-F231-4E8D-A462-FF480249A655}" destId="{09177ADA-ECD0-48F9-86EF-3E709F231F37}" srcOrd="13" destOrd="0" presId="urn:microsoft.com/office/officeart/2008/layout/LinedList"/>
    <dgm:cxn modelId="{6B31C877-B843-4485-B00D-346C62F4DF49}" type="presParOf" srcId="{09177ADA-ECD0-48F9-86EF-3E709F231F37}" destId="{0BF2A7A1-FB20-4015-906A-CE3C77E8AF69}" srcOrd="0" destOrd="0" presId="urn:microsoft.com/office/officeart/2008/layout/LinedList"/>
    <dgm:cxn modelId="{04BB9AE3-7632-4DC6-B2F7-4C7B5F8853EA}" type="presParOf" srcId="{09177ADA-ECD0-48F9-86EF-3E709F231F37}" destId="{003AA01D-CAFA-48E6-9A39-94472F01E3D0}" srcOrd="1" destOrd="0" presId="urn:microsoft.com/office/officeart/2008/layout/LinedList"/>
    <dgm:cxn modelId="{CB869944-8BD4-47F3-928C-09B43D6E6A56}" type="presParOf" srcId="{09177ADA-ECD0-48F9-86EF-3E709F231F37}" destId="{5D9B6103-9E5C-4C71-B71B-E5BC9AE88573}" srcOrd="2" destOrd="0" presId="urn:microsoft.com/office/officeart/2008/layout/LinedList"/>
    <dgm:cxn modelId="{5E5EE01E-DBD3-4338-A410-2473AD9281AA}" type="presParOf" srcId="{F207CDB7-F231-4E8D-A462-FF480249A655}" destId="{F26AD868-2607-4E92-972F-5CE286926E5D}" srcOrd="14" destOrd="0" presId="urn:microsoft.com/office/officeart/2008/layout/LinedList"/>
    <dgm:cxn modelId="{15E3F6A1-12F7-4170-90FC-55CA357A0481}" type="presParOf" srcId="{F207CDB7-F231-4E8D-A462-FF480249A655}" destId="{5C154AA3-5951-4486-9C19-322108D76373}" srcOrd="15"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8BF1A3-F910-4863-B677-06A53756FBAE}">
      <dsp:nvSpPr>
        <dsp:cNvPr id="0" name=""/>
        <dsp:cNvSpPr/>
      </dsp:nvSpPr>
      <dsp:spPr>
        <a:xfrm>
          <a:off x="0" y="3477"/>
          <a:ext cx="10497787" cy="18157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E311FB-ABC3-4491-97FD-83C49F052924}">
      <dsp:nvSpPr>
        <dsp:cNvPr id="0" name=""/>
        <dsp:cNvSpPr/>
      </dsp:nvSpPr>
      <dsp:spPr>
        <a:xfrm>
          <a:off x="553987" y="407744"/>
          <a:ext cx="1007249" cy="1007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3EE14B-2043-4000-AFFF-AA71F3FA99C7}">
      <dsp:nvSpPr>
        <dsp:cNvPr id="0" name=""/>
        <dsp:cNvSpPr/>
      </dsp:nvSpPr>
      <dsp:spPr>
        <a:xfrm>
          <a:off x="2115224" y="3477"/>
          <a:ext cx="8062778" cy="1831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19" tIns="193819" rIns="193819" bIns="193819"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Although the term “Big Data” is not new, there isn’t a single, widely recognized definition of it (Smirnova et al., 2018).</a:t>
          </a:r>
        </a:p>
      </dsp:txBody>
      <dsp:txXfrm>
        <a:off x="2115224" y="3477"/>
        <a:ext cx="8062778" cy="1831363"/>
      </dsp:txXfrm>
    </dsp:sp>
    <dsp:sp modelId="{0AF549B8-5E26-4E47-882D-44F6D2DB2E51}">
      <dsp:nvSpPr>
        <dsp:cNvPr id="0" name=""/>
        <dsp:cNvSpPr/>
      </dsp:nvSpPr>
      <dsp:spPr>
        <a:xfrm>
          <a:off x="0" y="2056824"/>
          <a:ext cx="10497787" cy="18313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9E897D-48BE-4123-9CFF-2FA4917B7A4B}">
      <dsp:nvSpPr>
        <dsp:cNvPr id="0" name=""/>
        <dsp:cNvSpPr/>
      </dsp:nvSpPr>
      <dsp:spPr>
        <a:xfrm>
          <a:off x="553987" y="2468881"/>
          <a:ext cx="1007249" cy="1007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D0D181-AD89-4064-BAA6-AA75A6C2F935}">
      <dsp:nvSpPr>
        <dsp:cNvPr id="0" name=""/>
        <dsp:cNvSpPr/>
      </dsp:nvSpPr>
      <dsp:spPr>
        <a:xfrm>
          <a:off x="2001862" y="2064614"/>
          <a:ext cx="8289503" cy="1831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19" tIns="193819" rIns="193819" bIns="193819"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Big Data as a term was first used to describe “the explosion in the quantity (and occasionally, quality) of available and potentially relevant data, that was the result of recent and unprecedented advancements in data recording and storage technology” in the mid-1990s and early 2000s (Diebold, 2003).</a:t>
          </a:r>
        </a:p>
      </dsp:txBody>
      <dsp:txXfrm>
        <a:off x="2001862" y="2064614"/>
        <a:ext cx="8289503" cy="18313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5A3CC6-80D7-410F-B9B4-93B9EF883242}">
      <dsp:nvSpPr>
        <dsp:cNvPr id="0" name=""/>
        <dsp:cNvSpPr/>
      </dsp:nvSpPr>
      <dsp:spPr>
        <a:xfrm>
          <a:off x="0" y="3408016"/>
          <a:ext cx="10509222" cy="1374221"/>
        </a:xfrm>
        <a:prstGeom prst="rect">
          <a:avLst/>
        </a:prstGeom>
        <a:solidFill>
          <a:schemeClr val="tx2">
            <a:lumMod val="40000"/>
            <a:lumOff val="60000"/>
          </a:schemeClr>
        </a:soli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Calibri Light" panose="020F0302020204030204" pitchFamily="34" charset="0"/>
              <a:cs typeface="Calibri Light" panose="020F0302020204030204" pitchFamily="34" charset="0"/>
            </a:rPr>
            <a:t>The characteristics of Big Data are most commonly represented by the “3Vs” (Mir et al., 2021): </a:t>
          </a:r>
        </a:p>
      </dsp:txBody>
      <dsp:txXfrm>
        <a:off x="0" y="3408016"/>
        <a:ext cx="10509222" cy="742079"/>
      </dsp:txXfrm>
    </dsp:sp>
    <dsp:sp modelId="{C9EF67AB-5EB2-45A8-A2CC-C3C5F3549788}">
      <dsp:nvSpPr>
        <dsp:cNvPr id="0" name=""/>
        <dsp:cNvSpPr/>
      </dsp:nvSpPr>
      <dsp:spPr>
        <a:xfrm>
          <a:off x="4286" y="4106706"/>
          <a:ext cx="3532259" cy="675822"/>
        </a:xfrm>
        <a:prstGeom prst="rect">
          <a:avLst/>
        </a:prstGeom>
        <a:solidFill>
          <a:schemeClr val="accent1">
            <a:alpha val="90000"/>
            <a:tint val="55000"/>
            <a:hueOff val="0"/>
            <a:satOff val="0"/>
            <a:lumOff val="0"/>
            <a:alphaOff val="0"/>
          </a:schemeClr>
        </a:solidFill>
        <a:ln w="12700" cap="rnd" cmpd="sng" algn="ctr">
          <a:solidFill>
            <a:schemeClr val="accent1">
              <a:alpha val="90000"/>
              <a:tint val="55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Calibri Light" panose="020F0302020204030204" pitchFamily="34" charset="0"/>
              <a:cs typeface="Calibri Light" panose="020F0302020204030204" pitchFamily="34" charset="0"/>
            </a:rPr>
            <a:t>Volume (Massive Quantities).</a:t>
          </a:r>
        </a:p>
      </dsp:txBody>
      <dsp:txXfrm>
        <a:off x="4286" y="4106706"/>
        <a:ext cx="3532259" cy="675822"/>
      </dsp:txXfrm>
    </dsp:sp>
    <dsp:sp modelId="{027E378C-CE16-4662-8FFD-F90866E83E67}">
      <dsp:nvSpPr>
        <dsp:cNvPr id="0" name=""/>
        <dsp:cNvSpPr/>
      </dsp:nvSpPr>
      <dsp:spPr>
        <a:xfrm>
          <a:off x="3536832" y="4106706"/>
          <a:ext cx="3506684" cy="675822"/>
        </a:xfrm>
        <a:prstGeom prst="rect">
          <a:avLst/>
        </a:prstGeom>
        <a:solidFill>
          <a:schemeClr val="accent1">
            <a:alpha val="90000"/>
            <a:tint val="55000"/>
            <a:hueOff val="0"/>
            <a:satOff val="0"/>
            <a:lumOff val="0"/>
            <a:alphaOff val="0"/>
          </a:schemeClr>
        </a:solidFill>
        <a:ln w="12700" cap="rnd" cmpd="sng" algn="ctr">
          <a:solidFill>
            <a:schemeClr val="accent1">
              <a:alpha val="90000"/>
              <a:tint val="55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Calibri Light" panose="020F0302020204030204" pitchFamily="34" charset="0"/>
              <a:cs typeface="Calibri Light" panose="020F0302020204030204" pitchFamily="34" charset="0"/>
            </a:rPr>
            <a:t>Velocity (Rapid Processing).</a:t>
          </a:r>
        </a:p>
      </dsp:txBody>
      <dsp:txXfrm>
        <a:off x="3536832" y="4106706"/>
        <a:ext cx="3506684" cy="675822"/>
      </dsp:txXfrm>
    </dsp:sp>
    <dsp:sp modelId="{1C6FBE96-C8FA-4064-B9BD-E9B9E1A57D55}">
      <dsp:nvSpPr>
        <dsp:cNvPr id="0" name=""/>
        <dsp:cNvSpPr/>
      </dsp:nvSpPr>
      <dsp:spPr>
        <a:xfrm>
          <a:off x="7042638" y="4106706"/>
          <a:ext cx="3466583" cy="675822"/>
        </a:xfrm>
        <a:prstGeom prst="rect">
          <a:avLst/>
        </a:prstGeom>
        <a:solidFill>
          <a:schemeClr val="accent1">
            <a:alpha val="90000"/>
            <a:tint val="55000"/>
            <a:hueOff val="0"/>
            <a:satOff val="0"/>
            <a:lumOff val="0"/>
            <a:alphaOff val="0"/>
          </a:schemeClr>
        </a:solidFill>
        <a:ln w="12700" cap="rnd" cmpd="sng" algn="ctr">
          <a:solidFill>
            <a:schemeClr val="accent1">
              <a:alpha val="90000"/>
              <a:tint val="55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Calibri Light" panose="020F0302020204030204" pitchFamily="34" charset="0"/>
              <a:cs typeface="Calibri Light" panose="020F0302020204030204" pitchFamily="34" charset="0"/>
            </a:rPr>
            <a:t>Variety (Diversified Data).</a:t>
          </a:r>
        </a:p>
      </dsp:txBody>
      <dsp:txXfrm>
        <a:off x="7042638" y="4106706"/>
        <a:ext cx="3466583" cy="675822"/>
      </dsp:txXfrm>
    </dsp:sp>
    <dsp:sp modelId="{AE7228C5-EC11-482B-9C8F-9DDEC0A3C754}">
      <dsp:nvSpPr>
        <dsp:cNvPr id="0" name=""/>
        <dsp:cNvSpPr/>
      </dsp:nvSpPr>
      <dsp:spPr>
        <a:xfrm rot="10800000">
          <a:off x="0" y="1343296"/>
          <a:ext cx="10509222" cy="2073196"/>
        </a:xfrm>
        <a:prstGeom prst="upArrowCallout">
          <a:avLst/>
        </a:prstGeom>
        <a:gradFill rotWithShape="0">
          <a:gsLst>
            <a:gs pos="0">
              <a:schemeClr val="accent1">
                <a:shade val="50000"/>
                <a:hueOff val="240958"/>
                <a:satOff val="-5040"/>
                <a:lumOff val="28042"/>
                <a:alphaOff val="0"/>
                <a:tint val="96000"/>
                <a:lumMod val="100000"/>
              </a:schemeClr>
            </a:gs>
            <a:gs pos="78000">
              <a:schemeClr val="accent1">
                <a:shade val="50000"/>
                <a:hueOff val="240958"/>
                <a:satOff val="-5040"/>
                <a:lumOff val="28042"/>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Calibri Light" panose="020F0302020204030204" pitchFamily="34" charset="0"/>
              <a:cs typeface="Calibri Light" panose="020F0302020204030204" pitchFamily="34" charset="0"/>
            </a:rPr>
            <a:t>Nowadays, Big Data is a term that is increasingly used to describe the process of seriously applying computational power to massively large, highly complex, heterogeneous and growing datasets that have multiple sources (</a:t>
          </a:r>
          <a:r>
            <a:rPr lang="en-US" sz="2400" b="0" i="0" kern="1200" dirty="0">
              <a:solidFill>
                <a:schemeClr val="tx1"/>
              </a:solidFill>
              <a:latin typeface="Calibri Light" panose="020F0302020204030204" pitchFamily="34" charset="0"/>
              <a:cs typeface="Calibri Light" panose="020F0302020204030204" pitchFamily="34" charset="0"/>
            </a:rPr>
            <a:t>González and Álvarez, 2022).</a:t>
          </a:r>
          <a:r>
            <a:rPr lang="en-US" sz="2400" kern="1200" dirty="0">
              <a:solidFill>
                <a:schemeClr val="tx1"/>
              </a:solidFill>
              <a:latin typeface="Calibri Light" panose="020F0302020204030204" pitchFamily="34" charset="0"/>
              <a:cs typeface="Calibri Light" panose="020F0302020204030204" pitchFamily="34" charset="0"/>
            </a:rPr>
            <a:t> </a:t>
          </a:r>
        </a:p>
      </dsp:txBody>
      <dsp:txXfrm rot="10800000">
        <a:off x="0" y="1343296"/>
        <a:ext cx="10509222" cy="1347101"/>
      </dsp:txXfrm>
    </dsp:sp>
    <dsp:sp modelId="{89E3BC66-B12E-4933-A974-FE00C2D88DC4}">
      <dsp:nvSpPr>
        <dsp:cNvPr id="0" name=""/>
        <dsp:cNvSpPr/>
      </dsp:nvSpPr>
      <dsp:spPr>
        <a:xfrm rot="10800000">
          <a:off x="0" y="291"/>
          <a:ext cx="10509222" cy="1351481"/>
        </a:xfrm>
        <a:prstGeom prst="upArrowCallout">
          <a:avLst/>
        </a:prstGeom>
        <a:gradFill rotWithShape="0">
          <a:gsLst>
            <a:gs pos="0">
              <a:schemeClr val="accent1">
                <a:shade val="50000"/>
                <a:hueOff val="240958"/>
                <a:satOff val="-5040"/>
                <a:lumOff val="28042"/>
                <a:alphaOff val="0"/>
                <a:tint val="96000"/>
                <a:lumMod val="100000"/>
              </a:schemeClr>
            </a:gs>
            <a:gs pos="78000">
              <a:schemeClr val="accent1">
                <a:shade val="50000"/>
                <a:hueOff val="240958"/>
                <a:satOff val="-5040"/>
                <a:lumOff val="28042"/>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tx1"/>
              </a:solidFill>
              <a:latin typeface="Calibri Light" panose="020F0302020204030204" pitchFamily="34" charset="0"/>
              <a:cs typeface="Calibri Light" panose="020F0302020204030204" pitchFamily="34" charset="0"/>
            </a:rPr>
            <a:t>Portfolio 1: Big Data: Definitions and Key Characteristics</a:t>
          </a:r>
          <a:endParaRPr lang="en-US" sz="3600" kern="1200" dirty="0">
            <a:solidFill>
              <a:schemeClr val="tx1"/>
            </a:solidFill>
            <a:latin typeface="Calibri Light" panose="020F0302020204030204" pitchFamily="34" charset="0"/>
            <a:cs typeface="Calibri Light" panose="020F0302020204030204" pitchFamily="34" charset="0"/>
          </a:endParaRPr>
        </a:p>
      </dsp:txBody>
      <dsp:txXfrm rot="10800000">
        <a:off x="0" y="291"/>
        <a:ext cx="10509222" cy="8781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B4F40-AD5A-4561-94EB-68B85818632C}">
      <dsp:nvSpPr>
        <dsp:cNvPr id="0" name=""/>
        <dsp:cNvSpPr/>
      </dsp:nvSpPr>
      <dsp:spPr>
        <a:xfrm>
          <a:off x="0" y="346"/>
          <a:ext cx="1033825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0934F7-0EBB-4105-A627-41408E1F8E4B}">
      <dsp:nvSpPr>
        <dsp:cNvPr id="0" name=""/>
        <dsp:cNvSpPr/>
      </dsp:nvSpPr>
      <dsp:spPr>
        <a:xfrm>
          <a:off x="0" y="346"/>
          <a:ext cx="10338252" cy="1364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1" kern="1200" dirty="0">
              <a:latin typeface="Calibri Light" panose="020F0302020204030204" pitchFamily="34" charset="0"/>
              <a:cs typeface="Calibri Light" panose="020F0302020204030204" pitchFamily="34" charset="0"/>
            </a:rPr>
            <a:t>Portfolio 1: Big Data: Definitions and Key Characteristics</a:t>
          </a:r>
          <a:endParaRPr lang="en-US" sz="3600" kern="1200" dirty="0">
            <a:latin typeface="Calibri Light" panose="020F0302020204030204" pitchFamily="34" charset="0"/>
            <a:cs typeface="Calibri Light" panose="020F0302020204030204" pitchFamily="34" charset="0"/>
          </a:endParaRPr>
        </a:p>
      </dsp:txBody>
      <dsp:txXfrm>
        <a:off x="0" y="346"/>
        <a:ext cx="10338252" cy="1364706"/>
      </dsp:txXfrm>
    </dsp:sp>
    <dsp:sp modelId="{05009184-F114-4AF6-9952-9260313A5F76}">
      <dsp:nvSpPr>
        <dsp:cNvPr id="0" name=""/>
        <dsp:cNvSpPr/>
      </dsp:nvSpPr>
      <dsp:spPr>
        <a:xfrm>
          <a:off x="0" y="1107718"/>
          <a:ext cx="1033825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249569-460B-4955-8CBD-D88BF360DF9A}">
      <dsp:nvSpPr>
        <dsp:cNvPr id="0" name=""/>
        <dsp:cNvSpPr/>
      </dsp:nvSpPr>
      <dsp:spPr>
        <a:xfrm>
          <a:off x="39577" y="1126966"/>
          <a:ext cx="2065631" cy="3261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These characteristics have been expanded by researchers to include further Vs such as (</a:t>
          </a:r>
          <a:r>
            <a:rPr lang="en-US" sz="2400" kern="1200" dirty="0" err="1">
              <a:latin typeface="Calibri Light" panose="020F0302020204030204" pitchFamily="34" charset="0"/>
              <a:cs typeface="Calibri Light" panose="020F0302020204030204" pitchFamily="34" charset="0"/>
            </a:rPr>
            <a:t>Diareme</a:t>
          </a:r>
          <a:r>
            <a:rPr lang="en-US" sz="2400" kern="1200" dirty="0">
              <a:latin typeface="Calibri Light" panose="020F0302020204030204" pitchFamily="34" charset="0"/>
              <a:cs typeface="Calibri Light" panose="020F0302020204030204" pitchFamily="34" charset="0"/>
            </a:rPr>
            <a:t> and </a:t>
          </a:r>
          <a:r>
            <a:rPr lang="en-US" sz="2400" kern="1200" dirty="0" err="1">
              <a:latin typeface="Calibri Light" panose="020F0302020204030204" pitchFamily="34" charset="0"/>
              <a:cs typeface="Calibri Light" panose="020F0302020204030204" pitchFamily="34" charset="0"/>
            </a:rPr>
            <a:t>Tsiligiridis</a:t>
          </a:r>
          <a:r>
            <a:rPr lang="en-US" sz="2400" kern="1200" dirty="0">
              <a:latin typeface="Calibri Light" panose="020F0302020204030204" pitchFamily="34" charset="0"/>
              <a:cs typeface="Calibri Light" panose="020F0302020204030204" pitchFamily="34" charset="0"/>
            </a:rPr>
            <a:t>, 2018):</a:t>
          </a:r>
        </a:p>
      </dsp:txBody>
      <dsp:txXfrm>
        <a:off x="39577" y="1126966"/>
        <a:ext cx="2065631" cy="3261949"/>
      </dsp:txXfrm>
    </dsp:sp>
    <dsp:sp modelId="{C9F3CEB5-8408-4F6F-9015-6EE26E66FE12}">
      <dsp:nvSpPr>
        <dsp:cNvPr id="0" name=""/>
        <dsp:cNvSpPr/>
      </dsp:nvSpPr>
      <dsp:spPr>
        <a:xfrm>
          <a:off x="2187069" y="1342254"/>
          <a:ext cx="8107602" cy="25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Veracity (Accuracy).</a:t>
          </a:r>
        </a:p>
      </dsp:txBody>
      <dsp:txXfrm>
        <a:off x="2187069" y="1342254"/>
        <a:ext cx="8107602" cy="257215"/>
      </dsp:txXfrm>
    </dsp:sp>
    <dsp:sp modelId="{A952C29B-BDD5-4CDF-8D34-6355E4905C79}">
      <dsp:nvSpPr>
        <dsp:cNvPr id="0" name=""/>
        <dsp:cNvSpPr/>
      </dsp:nvSpPr>
      <dsp:spPr>
        <a:xfrm>
          <a:off x="2041174" y="1839758"/>
          <a:ext cx="8262524"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03A8D3-A350-4532-99FC-39F19951528C}">
      <dsp:nvSpPr>
        <dsp:cNvPr id="0" name=""/>
        <dsp:cNvSpPr/>
      </dsp:nvSpPr>
      <dsp:spPr>
        <a:xfrm>
          <a:off x="2187069" y="1854770"/>
          <a:ext cx="8107602" cy="25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Variability (A Lack of Fixed Pattern).</a:t>
          </a:r>
        </a:p>
      </dsp:txBody>
      <dsp:txXfrm>
        <a:off x="2187069" y="1854770"/>
        <a:ext cx="8107602" cy="257215"/>
      </dsp:txXfrm>
    </dsp:sp>
    <dsp:sp modelId="{7F95C519-7EF1-4614-9DE1-3343AB73F436}">
      <dsp:nvSpPr>
        <dsp:cNvPr id="0" name=""/>
        <dsp:cNvSpPr/>
      </dsp:nvSpPr>
      <dsp:spPr>
        <a:xfrm>
          <a:off x="2032085" y="2285536"/>
          <a:ext cx="8262524"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43AB00-92F4-4A4D-A9D0-DC17EE2AE8B9}">
      <dsp:nvSpPr>
        <dsp:cNvPr id="0" name=""/>
        <dsp:cNvSpPr/>
      </dsp:nvSpPr>
      <dsp:spPr>
        <a:xfrm>
          <a:off x="2187069" y="2268401"/>
          <a:ext cx="8107602" cy="25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Validation (Ensuring the Accuracy and Fit of the Data).</a:t>
          </a:r>
        </a:p>
      </dsp:txBody>
      <dsp:txXfrm>
        <a:off x="2187069" y="2268401"/>
        <a:ext cx="8107602" cy="257215"/>
      </dsp:txXfrm>
    </dsp:sp>
    <dsp:sp modelId="{67D511FB-3D1F-4DB0-9D1F-4B0F1E195BDB}">
      <dsp:nvSpPr>
        <dsp:cNvPr id="0" name=""/>
        <dsp:cNvSpPr/>
      </dsp:nvSpPr>
      <dsp:spPr>
        <a:xfrm>
          <a:off x="2032085" y="2755857"/>
          <a:ext cx="8262524"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80CCF6-1CE2-4C2A-AF4F-9728D772F960}">
      <dsp:nvSpPr>
        <dsp:cNvPr id="0" name=""/>
        <dsp:cNvSpPr/>
      </dsp:nvSpPr>
      <dsp:spPr>
        <a:xfrm>
          <a:off x="2187069" y="2773777"/>
          <a:ext cx="8107602" cy="25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Visualization (The Presentation of Data in Intuitive Formats to Support Decision-Making).</a:t>
          </a:r>
        </a:p>
      </dsp:txBody>
      <dsp:txXfrm>
        <a:off x="2187069" y="2773777"/>
        <a:ext cx="8107602" cy="257215"/>
      </dsp:txXfrm>
    </dsp:sp>
    <dsp:sp modelId="{099F2E54-EF13-4C55-BB64-49BA8B25F371}">
      <dsp:nvSpPr>
        <dsp:cNvPr id="0" name=""/>
        <dsp:cNvSpPr/>
      </dsp:nvSpPr>
      <dsp:spPr>
        <a:xfrm>
          <a:off x="2051171" y="3599472"/>
          <a:ext cx="8262524"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3AA01D-CAFA-48E6-9A39-94472F01E3D0}">
      <dsp:nvSpPr>
        <dsp:cNvPr id="0" name=""/>
        <dsp:cNvSpPr/>
      </dsp:nvSpPr>
      <dsp:spPr>
        <a:xfrm>
          <a:off x="2187069" y="3599472"/>
          <a:ext cx="8107602" cy="25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pitchFamily="34" charset="0"/>
              <a:cs typeface="Calibri Light" panose="020F0302020204030204" pitchFamily="34" charset="0"/>
            </a:rPr>
            <a:t>Verification (Confirming the Source of Data and Ensuring Integrity During Processing).</a:t>
          </a:r>
        </a:p>
      </dsp:txBody>
      <dsp:txXfrm>
        <a:off x="2187069" y="3599472"/>
        <a:ext cx="8107602" cy="257215"/>
      </dsp:txXfrm>
    </dsp:sp>
    <dsp:sp modelId="{F26AD868-2607-4E92-972F-5CE286926E5D}">
      <dsp:nvSpPr>
        <dsp:cNvPr id="0" name=""/>
        <dsp:cNvSpPr/>
      </dsp:nvSpPr>
      <dsp:spPr>
        <a:xfrm>
          <a:off x="2072075" y="4408058"/>
          <a:ext cx="8262524"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1CE3A9-75B1-4E64-A6C2-9DF5539C3227}" type="datetimeFigureOut">
              <a:rPr lang="el-GR" smtClean="0"/>
              <a:t>27/05/2025</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AD2D9B-DF6C-44D7-B586-1AD1633C500F}" type="slidenum">
              <a:rPr lang="el-GR" smtClean="0"/>
              <a:t>‹#›</a:t>
            </a:fld>
            <a:endParaRPr lang="el-GR"/>
          </a:p>
        </p:txBody>
      </p:sp>
    </p:spTree>
    <p:extLst>
      <p:ext uri="{BB962C8B-B14F-4D97-AF65-F5344CB8AC3E}">
        <p14:creationId xmlns:p14="http://schemas.microsoft.com/office/powerpoint/2010/main" val="2177586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83B6E0-D9A0-4C03-8A9F-59F894929F6E}"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354272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B9F0DD-4F5F-4916-9961-B36B9709F693}"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3417308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012F46-9085-4E75-8A87-60AB526BF004}"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3770698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6C074F-66B5-404D-812F-7726D678EBD7}" type="datetime1">
              <a:rPr lang="el-GR" smtClean="0"/>
              <a:t>27/05/2025</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3635968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286A49-8474-41B8-A32A-747A0F88EE48}" type="datetime1">
              <a:rPr lang="el-GR" smtClean="0"/>
              <a:t>27/05/2025</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1331516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849E37-73DD-46C6-80D4-41C98BA6FBEC}" type="datetime1">
              <a:rPr lang="el-GR" smtClean="0"/>
              <a:t>27/05/2025</a:t>
            </a:fld>
            <a:endParaRPr lang="el-GR"/>
          </a:p>
        </p:txBody>
      </p:sp>
      <p:sp>
        <p:nvSpPr>
          <p:cNvPr id="4" name="Footer Placeholder 3"/>
          <p:cNvSpPr>
            <a:spLocks noGrp="1"/>
          </p:cNvSpPr>
          <p:nvPr>
            <p:ph type="ftr" sz="quarter" idx="11"/>
          </p:nvPr>
        </p:nvSpPr>
        <p:spPr/>
        <p:txBody>
          <a:bodyPr/>
          <a:lstStyle/>
          <a:p>
            <a:endParaRPr lang="el-GR"/>
          </a:p>
        </p:txBody>
      </p:sp>
      <p:sp>
        <p:nvSpPr>
          <p:cNvPr id="5" name="Slide Number Placeholder 4"/>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2683145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085B24-DB5B-4A1C-9962-D7310799415F}" type="datetime1">
              <a:rPr lang="el-GR" smtClean="0"/>
              <a:t>27/05/2025</a:t>
            </a:fld>
            <a:endParaRPr lang="el-GR"/>
          </a:p>
        </p:txBody>
      </p:sp>
      <p:sp>
        <p:nvSpPr>
          <p:cNvPr id="3" name="Footer Placeholder 2"/>
          <p:cNvSpPr>
            <a:spLocks noGrp="1"/>
          </p:cNvSpPr>
          <p:nvPr>
            <p:ph type="ftr" sz="quarter" idx="11"/>
          </p:nvPr>
        </p:nvSpPr>
        <p:spPr/>
        <p:txBody>
          <a:bodyPr/>
          <a:lstStyle/>
          <a:p>
            <a:endParaRPr lang="el-GR"/>
          </a:p>
        </p:txBody>
      </p:sp>
      <p:sp>
        <p:nvSpPr>
          <p:cNvPr id="4" name="Slide Number Placeholder 3"/>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362635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E5721F-5971-4336-B81C-53E26EABB6D2}" type="datetime1">
              <a:rPr lang="el-GR" smtClean="0"/>
              <a:t>27/05/2025</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1952911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C6BD8B-DEEF-4053-9529-4B8E60C573DB}" type="datetime1">
              <a:rPr lang="el-GR" smtClean="0"/>
              <a:t>27/05/2025</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138824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E77720-75F3-483C-87ED-D73A0E53B5E0}"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7041964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E77720-75F3-483C-87ED-D73A0E53B5E0}"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6495923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E77720-75F3-483C-87ED-D73A0E53B5E0}"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228700665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E77720-75F3-483C-87ED-D73A0E53B5E0}"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615078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E77720-75F3-483C-87ED-D73A0E53B5E0}"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65221290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17BEFD-5FD9-41A0-921E-3D0A967788D0}"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2470640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790A5F-75D3-4AEF-950D-6543546F1E72}" type="datetime1">
              <a:rPr lang="el-GR" smtClean="0"/>
              <a:t>27/05/2025</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CDEA5C31-B8C3-473B-A3DE-56496EA73414}" type="slidenum">
              <a:rPr lang="el-GR" smtClean="0"/>
              <a:t>‹#›</a:t>
            </a:fld>
            <a:endParaRPr lang="el-GR"/>
          </a:p>
        </p:txBody>
      </p:sp>
    </p:spTree>
    <p:extLst>
      <p:ext uri="{BB962C8B-B14F-4D97-AF65-F5344CB8AC3E}">
        <p14:creationId xmlns:p14="http://schemas.microsoft.com/office/powerpoint/2010/main" val="3444209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CE77720-75F3-483C-87ED-D73A0E53B5E0}" type="datetime1">
              <a:rPr lang="el-GR" smtClean="0"/>
              <a:t>27/05/2025</a:t>
            </a:fld>
            <a:endParaRPr lang="el-G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l-G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DEA5C31-B8C3-473B-A3DE-56496EA73414}" type="slidenum">
              <a:rPr lang="el-GR" smtClean="0"/>
              <a:t>‹#›</a:t>
            </a:fld>
            <a:endParaRPr lang="el-GR"/>
          </a:p>
        </p:txBody>
      </p:sp>
    </p:spTree>
    <p:extLst>
      <p:ext uri="{BB962C8B-B14F-4D97-AF65-F5344CB8AC3E}">
        <p14:creationId xmlns:p14="http://schemas.microsoft.com/office/powerpoint/2010/main" val="371429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www.kaggle.com/code/nadintamer/titanic-survival-predictions-beginner?select=train.csv"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www.kaggle.com/code/nadintamer/titanic-survival-predictions-beginner?select=train.csv"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colab.research.google.com/drive/1yFIhd2RIgC0jDg749dR1PqGtAxX0uYp4?usp=sharing"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758D37-C739-2FFF-8E06-B88AB53426F3}"/>
              </a:ext>
            </a:extLst>
          </p:cNvPr>
          <p:cNvSpPr>
            <a:spLocks noGrp="1"/>
          </p:cNvSpPr>
          <p:nvPr>
            <p:ph type="sldNum" sz="quarter" idx="12"/>
          </p:nvPr>
        </p:nvSpPr>
        <p:spPr/>
        <p:txBody>
          <a:bodyPr/>
          <a:lstStyle/>
          <a:p>
            <a:fld id="{CDEA5C31-B8C3-473B-A3DE-56496EA73414}" type="slidenum">
              <a:rPr lang="el-GR" smtClean="0"/>
              <a:t>1</a:t>
            </a:fld>
            <a:endParaRPr lang="el-GR" dirty="0"/>
          </a:p>
        </p:txBody>
      </p:sp>
      <p:pic>
        <p:nvPicPr>
          <p:cNvPr id="9" name="Picture 8">
            <a:extLst>
              <a:ext uri="{FF2B5EF4-FFF2-40B4-BE49-F238E27FC236}">
                <a16:creationId xmlns:a16="http://schemas.microsoft.com/office/drawing/2014/main" id="{A2F63B0C-827B-1011-C750-12397DD197BC}"/>
              </a:ext>
            </a:extLst>
          </p:cNvPr>
          <p:cNvPicPr>
            <a:picLocks noChangeAspect="1"/>
          </p:cNvPicPr>
          <p:nvPr/>
        </p:nvPicPr>
        <p:blipFill>
          <a:blip r:embed="rId2"/>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91AE2D09-0259-FDEC-3984-F03C9AD81C2F}"/>
              </a:ext>
            </a:extLst>
          </p:cNvPr>
          <p:cNvPicPr>
            <a:picLocks noChangeAspect="1"/>
          </p:cNvPicPr>
          <p:nvPr/>
        </p:nvPicPr>
        <p:blipFill>
          <a:blip r:embed="rId3"/>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3B3C346D-4A15-FB16-62F6-598F4BA5B904}"/>
              </a:ext>
            </a:extLst>
          </p:cNvPr>
          <p:cNvSpPr txBox="1"/>
          <p:nvPr/>
        </p:nvSpPr>
        <p:spPr>
          <a:xfrm>
            <a:off x="238125" y="1860930"/>
            <a:ext cx="11715750" cy="4377032"/>
          </a:xfrm>
          <a:prstGeom prst="rect">
            <a:avLst/>
          </a:prstGeom>
          <a:noFill/>
        </p:spPr>
        <p:txBody>
          <a:bodyPr wrap="square" rtlCol="0" anchor="ctr">
            <a:spAutoFit/>
          </a:bodyPr>
          <a:lstStyle/>
          <a:p>
            <a:pPr algn="ctr"/>
            <a:r>
              <a:rPr lang="en-US" sz="3600" b="1" kern="0" dirty="0">
                <a:solidFill>
                  <a:prstClr val="black"/>
                </a:solidFill>
                <a:latin typeface="Calibri Light" panose="020F0302020204030204" pitchFamily="34" charset="0"/>
                <a:cs typeface="Calibri Light" panose="020F0302020204030204" pitchFamily="34" charset="0"/>
              </a:rPr>
              <a:t>Title: </a:t>
            </a:r>
            <a:r>
              <a:rPr lang="en-US" sz="3600" kern="0" dirty="0">
                <a:solidFill>
                  <a:prstClr val="black"/>
                </a:solidFill>
                <a:latin typeface="Calibri Light" panose="020F0302020204030204" pitchFamily="34" charset="0"/>
                <a:cs typeface="Calibri Light" panose="020F0302020204030204" pitchFamily="34" charset="0"/>
              </a:rPr>
              <a:t>M</a:t>
            </a:r>
            <a:r>
              <a:rPr lang="en-US" sz="3600" dirty="0">
                <a:latin typeface="Calibri Light" panose="020F0302020204030204" pitchFamily="34" charset="0"/>
                <a:cs typeface="Calibri Light" panose="020F0302020204030204" pitchFamily="34" charset="0"/>
              </a:rPr>
              <a:t>anipulation and Analysis of Data Using Big Data Tools and Technologies. </a:t>
            </a:r>
            <a:endParaRPr lang="en-US" sz="3400" kern="0" dirty="0">
              <a:solidFill>
                <a:prstClr val="black"/>
              </a:solidFill>
              <a:latin typeface="Calibri Light" panose="020F0302020204030204" pitchFamily="34" charset="0"/>
              <a:cs typeface="Calibri Light" panose="020F0302020204030204" pitchFamily="34" charset="0"/>
            </a:endParaRPr>
          </a:p>
          <a:p>
            <a:pPr algn="ctr">
              <a:defRPr/>
            </a:pPr>
            <a:r>
              <a:rPr lang="en-US" sz="3200" b="1" kern="0" dirty="0">
                <a:solidFill>
                  <a:prstClr val="black"/>
                </a:solidFill>
                <a:latin typeface="Calibri Light" panose="020F0302020204030204" pitchFamily="34" charset="0"/>
                <a:cs typeface="Calibri Light" panose="020F0302020204030204" pitchFamily="34" charset="0"/>
              </a:rPr>
              <a:t>Program:</a:t>
            </a:r>
            <a:r>
              <a:rPr lang="en-US" sz="3200" kern="0" dirty="0">
                <a:solidFill>
                  <a:prstClr val="black"/>
                </a:solidFill>
                <a:latin typeface="Calibri Light" panose="020F0302020204030204" pitchFamily="34" charset="0"/>
                <a:cs typeface="Calibri Light" panose="020F0302020204030204" pitchFamily="34" charset="0"/>
              </a:rPr>
              <a:t> MSc Data Analytics &amp; Technologies</a:t>
            </a:r>
          </a:p>
          <a:p>
            <a:pPr algn="ctr"/>
            <a:r>
              <a:rPr lang="en-US" sz="3200" b="1" dirty="0">
                <a:solidFill>
                  <a:prstClr val="black"/>
                </a:solidFill>
                <a:latin typeface="Calibri Light" panose="020F0302020204030204" pitchFamily="34" charset="0"/>
                <a:cs typeface="Calibri Light" panose="020F0302020204030204" pitchFamily="34" charset="0"/>
              </a:rPr>
              <a:t>Course: </a:t>
            </a:r>
            <a:r>
              <a:rPr lang="en-US" sz="3200" dirty="0">
                <a:solidFill>
                  <a:prstClr val="black"/>
                </a:solidFill>
                <a:latin typeface="Calibri Light" panose="020F0302020204030204" pitchFamily="34" charset="0"/>
                <a:cs typeface="Calibri Light" panose="020F0302020204030204" pitchFamily="34" charset="0"/>
              </a:rPr>
              <a:t>Big Data Analytics(DAT7302)</a:t>
            </a:r>
            <a:endParaRPr lang="el-GR" sz="3200" dirty="0">
              <a:solidFill>
                <a:prstClr val="black"/>
              </a:solidFill>
              <a:latin typeface="Calibri Light" panose="020F0302020204030204" pitchFamily="34" charset="0"/>
              <a:cs typeface="Calibri Light" panose="020F0302020204030204" pitchFamily="34" charset="0"/>
            </a:endParaRPr>
          </a:p>
          <a:p>
            <a:pPr algn="ctr">
              <a:defRPr/>
            </a:pPr>
            <a:r>
              <a:rPr lang="en-US" sz="3200" b="1" kern="0" dirty="0">
                <a:solidFill>
                  <a:prstClr val="black"/>
                </a:solidFill>
                <a:latin typeface="Calibri Light" panose="020F0302020204030204" pitchFamily="34" charset="0"/>
                <a:cs typeface="Calibri Light" panose="020F0302020204030204" pitchFamily="34" charset="0"/>
              </a:rPr>
              <a:t>Supervisors: </a:t>
            </a:r>
            <a:r>
              <a:rPr lang="en-US" sz="3200" kern="0" dirty="0" err="1">
                <a:solidFill>
                  <a:prstClr val="black"/>
                </a:solidFill>
                <a:latin typeface="Calibri Light" panose="020F0302020204030204" pitchFamily="34" charset="0"/>
                <a:cs typeface="Calibri Light" panose="020F0302020204030204" pitchFamily="34" charset="0"/>
              </a:rPr>
              <a:t>Dr</a:t>
            </a:r>
            <a:r>
              <a:rPr lang="en-US" sz="3200" kern="0" dirty="0">
                <a:solidFill>
                  <a:prstClr val="black"/>
                </a:solidFill>
                <a:latin typeface="Calibri Light" panose="020F0302020204030204" pitchFamily="34" charset="0"/>
                <a:cs typeface="Calibri Light" panose="020F0302020204030204" pitchFamily="34" charset="0"/>
              </a:rPr>
              <a:t>. </a:t>
            </a:r>
            <a:r>
              <a:rPr lang="en-US" sz="3200" kern="0" dirty="0" err="1">
                <a:solidFill>
                  <a:prstClr val="black"/>
                </a:solidFill>
                <a:latin typeface="Calibri Light" panose="020F0302020204030204" pitchFamily="34" charset="0"/>
                <a:cs typeface="Calibri Light" panose="020F0302020204030204" pitchFamily="34" charset="0"/>
              </a:rPr>
              <a:t>Diareme</a:t>
            </a:r>
            <a:r>
              <a:rPr lang="en-US" sz="3200" kern="0" dirty="0">
                <a:solidFill>
                  <a:prstClr val="black"/>
                </a:solidFill>
                <a:latin typeface="Calibri Light" panose="020F0302020204030204" pitchFamily="34" charset="0"/>
                <a:cs typeface="Calibri Light" panose="020F0302020204030204" pitchFamily="34" charset="0"/>
              </a:rPr>
              <a:t> </a:t>
            </a:r>
            <a:r>
              <a:rPr lang="en-US" sz="3200" kern="0" dirty="0" err="1">
                <a:solidFill>
                  <a:prstClr val="black"/>
                </a:solidFill>
                <a:latin typeface="Calibri Light" panose="020F0302020204030204" pitchFamily="34" charset="0"/>
                <a:cs typeface="Calibri Light" panose="020F0302020204030204" pitchFamily="34" charset="0"/>
              </a:rPr>
              <a:t>Kyvele</a:t>
            </a:r>
            <a:r>
              <a:rPr lang="en-US" sz="3200" kern="0" dirty="0">
                <a:solidFill>
                  <a:prstClr val="black"/>
                </a:solidFill>
                <a:latin typeface="Calibri Light" panose="020F0302020204030204" pitchFamily="34" charset="0"/>
                <a:cs typeface="Calibri Light" panose="020F0302020204030204" pitchFamily="34" charset="0"/>
              </a:rPr>
              <a:t> </a:t>
            </a:r>
            <a:r>
              <a:rPr lang="en-US" sz="3200" kern="0" dirty="0" err="1">
                <a:solidFill>
                  <a:prstClr val="black"/>
                </a:solidFill>
                <a:latin typeface="Calibri Light" panose="020F0302020204030204" pitchFamily="34" charset="0"/>
                <a:cs typeface="Calibri Light" panose="020F0302020204030204" pitchFamily="34" charset="0"/>
              </a:rPr>
              <a:t>Constantina</a:t>
            </a:r>
            <a:r>
              <a:rPr lang="en-US" sz="3200" kern="0" dirty="0">
                <a:solidFill>
                  <a:prstClr val="black"/>
                </a:solidFill>
                <a:latin typeface="Calibri Light" panose="020F0302020204030204" pitchFamily="34" charset="0"/>
                <a:cs typeface="Calibri Light" panose="020F0302020204030204" pitchFamily="34" charset="0"/>
              </a:rPr>
              <a:t>, Dr. Kyriaki Saiti</a:t>
            </a:r>
          </a:p>
          <a:p>
            <a:pPr algn="ctr">
              <a:defRPr/>
            </a:pPr>
            <a:r>
              <a:rPr lang="en-US" sz="3200" b="1" kern="0" dirty="0">
                <a:solidFill>
                  <a:prstClr val="black"/>
                </a:solidFill>
                <a:latin typeface="Calibri Light" panose="020F0302020204030204" pitchFamily="34" charset="0"/>
                <a:cs typeface="Calibri Light" panose="020F0302020204030204" pitchFamily="34" charset="0"/>
              </a:rPr>
              <a:t>Student Name: </a:t>
            </a:r>
            <a:r>
              <a:rPr lang="en-US" sz="3200" kern="0" dirty="0">
                <a:solidFill>
                  <a:prstClr val="black"/>
                </a:solidFill>
                <a:latin typeface="Calibri Light" panose="020F0302020204030204" pitchFamily="34" charset="0"/>
                <a:cs typeface="Calibri Light" panose="020F0302020204030204" pitchFamily="34" charset="0"/>
              </a:rPr>
              <a:t>Matthaios Chatzimichail</a:t>
            </a:r>
          </a:p>
          <a:p>
            <a:pPr algn="ctr"/>
            <a:r>
              <a:rPr lang="en-US" sz="3200" b="1" dirty="0">
                <a:solidFill>
                  <a:prstClr val="black"/>
                </a:solidFill>
                <a:latin typeface="Calibri Light" panose="020F0302020204030204" pitchFamily="34" charset="0"/>
                <a:cs typeface="Calibri Light" panose="020F0302020204030204" pitchFamily="34" charset="0"/>
              </a:rPr>
              <a:t>Student ID: </a:t>
            </a:r>
            <a:r>
              <a:rPr lang="en-US" sz="3200" dirty="0">
                <a:solidFill>
                  <a:prstClr val="black"/>
                </a:solidFill>
                <a:latin typeface="Calibri Light" panose="020F0302020204030204" pitchFamily="34" charset="0"/>
                <a:cs typeface="Calibri Light" panose="020F0302020204030204" pitchFamily="34" charset="0"/>
              </a:rPr>
              <a:t>2434173</a:t>
            </a:r>
            <a:endParaRPr lang="el-GR" sz="3200" dirty="0">
              <a:solidFill>
                <a:prstClr val="black"/>
              </a:solidFill>
              <a:latin typeface="Calibri Light" panose="020F0302020204030204" pitchFamily="34" charset="0"/>
              <a:cs typeface="Calibri Light" panose="020F0302020204030204" pitchFamily="34" charset="0"/>
            </a:endParaRPr>
          </a:p>
          <a:p>
            <a:pPr>
              <a:defRPr/>
            </a:pPr>
            <a:endParaRPr lang="en-US" sz="2800" kern="0" dirty="0">
              <a:solidFill>
                <a:prstClr val="black"/>
              </a:solidFill>
              <a:latin typeface="Trebuchet MS" panose="020B0603020202020204"/>
            </a:endParaRPr>
          </a:p>
          <a:p>
            <a:pPr algn="just">
              <a:lnSpc>
                <a:spcPct val="150000"/>
              </a:lnSpc>
              <a:defRPr/>
            </a:pPr>
            <a:r>
              <a:rPr lang="en-US" sz="1400" b="1" kern="0" dirty="0">
                <a:solidFill>
                  <a:prstClr val="black"/>
                </a:solidFill>
                <a:latin typeface="Trebuchet MS" panose="020B0603020202020204"/>
              </a:rPr>
              <a:t>          </a:t>
            </a:r>
            <a:endParaRPr lang="el-GR" sz="1400" kern="0" dirty="0">
              <a:solidFill>
                <a:prstClr val="black"/>
              </a:solidFill>
              <a:latin typeface="Trebuchet MS" panose="020B0603020202020204"/>
            </a:endParaRPr>
          </a:p>
        </p:txBody>
      </p:sp>
    </p:spTree>
    <p:extLst>
      <p:ext uri="{BB962C8B-B14F-4D97-AF65-F5344CB8AC3E}">
        <p14:creationId xmlns:p14="http://schemas.microsoft.com/office/powerpoint/2010/main" val="693273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97BB7-D995-A271-09C9-D34F5D60D76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D4BDE8-76C0-F56F-D070-AE6779F751C1}"/>
              </a:ext>
            </a:extLst>
          </p:cNvPr>
          <p:cNvSpPr>
            <a:spLocks noGrp="1"/>
          </p:cNvSpPr>
          <p:nvPr>
            <p:ph type="sldNum" sz="quarter" idx="12"/>
          </p:nvPr>
        </p:nvSpPr>
        <p:spPr/>
        <p:txBody>
          <a:bodyPr/>
          <a:lstStyle/>
          <a:p>
            <a:fld id="{CDEA5C31-B8C3-473B-A3DE-56496EA73414}" type="slidenum">
              <a:rPr lang="el-GR" smtClean="0"/>
              <a:t>2</a:t>
            </a:fld>
            <a:endParaRPr lang="el-GR"/>
          </a:p>
        </p:txBody>
      </p:sp>
      <p:pic>
        <p:nvPicPr>
          <p:cNvPr id="9" name="Picture 8">
            <a:extLst>
              <a:ext uri="{FF2B5EF4-FFF2-40B4-BE49-F238E27FC236}">
                <a16:creationId xmlns:a16="http://schemas.microsoft.com/office/drawing/2014/main" id="{A70020BA-23F1-4A6A-E2FA-C3196BC23032}"/>
              </a:ext>
            </a:extLst>
          </p:cNvPr>
          <p:cNvPicPr>
            <a:picLocks noChangeAspect="1"/>
          </p:cNvPicPr>
          <p:nvPr/>
        </p:nvPicPr>
        <p:blipFill>
          <a:blip r:embed="rId2"/>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8C4C0874-29B3-A0F9-96EC-6D737B5D3BE5}"/>
              </a:ext>
            </a:extLst>
          </p:cNvPr>
          <p:cNvPicPr>
            <a:picLocks noChangeAspect="1"/>
          </p:cNvPicPr>
          <p:nvPr/>
        </p:nvPicPr>
        <p:blipFill>
          <a:blip r:embed="rId3"/>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a:extLst>
              <a:ext uri="{FF2B5EF4-FFF2-40B4-BE49-F238E27FC236}">
                <a16:creationId xmlns:a16="http://schemas.microsoft.com/office/drawing/2014/main" id="{4791B8EC-26D2-23E0-B1A7-48392B00DF4C}"/>
              </a:ext>
            </a:extLst>
          </p:cNvPr>
          <p:cNvPicPr>
            <a:picLocks noChangeAspect="1"/>
          </p:cNvPicPr>
          <p:nvPr/>
        </p:nvPicPr>
        <p:blipFill>
          <a:blip r:embed="rId4"/>
          <a:stretch>
            <a:fillRect/>
          </a:stretch>
        </p:blipFill>
        <p:spPr>
          <a:xfrm>
            <a:off x="470171" y="1273210"/>
            <a:ext cx="10815241" cy="5133277"/>
          </a:xfrm>
          <a:prstGeom prst="rect">
            <a:avLst/>
          </a:prstGeom>
        </p:spPr>
      </p:pic>
      <p:sp>
        <p:nvSpPr>
          <p:cNvPr id="3" name="TextBox 2">
            <a:extLst>
              <a:ext uri="{FF2B5EF4-FFF2-40B4-BE49-F238E27FC236}">
                <a16:creationId xmlns:a16="http://schemas.microsoft.com/office/drawing/2014/main" id="{59BB7BD7-AD97-F8AD-B4BF-48DF22DF6483}"/>
              </a:ext>
            </a:extLst>
          </p:cNvPr>
          <p:cNvSpPr txBox="1"/>
          <p:nvPr/>
        </p:nvSpPr>
        <p:spPr>
          <a:xfrm>
            <a:off x="3951122" y="2059815"/>
            <a:ext cx="7061200" cy="3970318"/>
          </a:xfrm>
          <a:prstGeom prst="rect">
            <a:avLst/>
          </a:prstGeom>
          <a:noFill/>
        </p:spPr>
        <p:txBody>
          <a:bodyPr wrap="square" rtlCol="0">
            <a:spAutoFit/>
          </a:bodyPr>
          <a:lstStyle/>
          <a:p>
            <a:pPr marL="457200" lvl="0" indent="-457200">
              <a:buFont typeface="Wingdings" panose="05000000000000000000" pitchFamily="2" charset="2"/>
              <a:buChar char="Ø"/>
            </a:pPr>
            <a:r>
              <a:rPr lang="en-US" sz="28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rPr>
              <a:t>Portfolio 1: Big Data.</a:t>
            </a:r>
          </a:p>
          <a:p>
            <a:pPr marL="457200" lvl="0" indent="-457200">
              <a:buFont typeface="Wingdings" panose="05000000000000000000" pitchFamily="2" charset="2"/>
              <a:buChar char="Ø"/>
            </a:pPr>
            <a:r>
              <a:rPr lang="en-US" sz="28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rPr>
              <a:t>Portfolio 2: </a:t>
            </a:r>
            <a:r>
              <a:rPr lang="en-US" sz="2800" dirty="0">
                <a:latin typeface="Calibri Light" panose="020F0302020204030204" pitchFamily="34" charset="0"/>
                <a:cs typeface="Calibri Light" panose="020F0302020204030204" pitchFamily="34" charset="0"/>
              </a:rPr>
              <a:t>Appling a Machine Learning Technique to Make Predictions Using a Real-World Dataset.</a:t>
            </a:r>
          </a:p>
          <a:p>
            <a:pPr marL="457200" lvl="0" indent="-457200">
              <a:buFont typeface="Wingdings" panose="05000000000000000000" pitchFamily="2" charset="2"/>
              <a:buChar char="Ø"/>
            </a:pPr>
            <a:r>
              <a:rPr lang="en-US" sz="2800" dirty="0">
                <a:latin typeface="Calibri Light" panose="020F0302020204030204" pitchFamily="34" charset="0"/>
                <a:cs typeface="Calibri Light" panose="020F0302020204030204" pitchFamily="34" charset="0"/>
              </a:rPr>
              <a:t>Portfolio 3: Using Google </a:t>
            </a:r>
            <a:r>
              <a:rPr lang="en-US" sz="2800" dirty="0" err="1">
                <a:latin typeface="Calibri Light" panose="020F0302020204030204" pitchFamily="34" charset="0"/>
                <a:cs typeface="Calibri Light" panose="020F0302020204030204" pitchFamily="34" charset="0"/>
              </a:rPr>
              <a:t>Colab</a:t>
            </a:r>
            <a:r>
              <a:rPr lang="en-US" sz="2800" dirty="0">
                <a:latin typeface="Calibri Light" panose="020F0302020204030204" pitchFamily="34" charset="0"/>
                <a:cs typeface="Calibri Light" panose="020F0302020204030204" pitchFamily="34" charset="0"/>
              </a:rPr>
              <a:t> for Analysis and Visualization of Real-World Data.</a:t>
            </a:r>
          </a:p>
          <a:p>
            <a:pPr marL="457200" lvl="0" indent="-457200">
              <a:buFont typeface="Wingdings" panose="05000000000000000000" pitchFamily="2" charset="2"/>
              <a:buChar char="Ø"/>
            </a:pPr>
            <a:r>
              <a:rPr lang="en-US" sz="2800" dirty="0">
                <a:latin typeface="Calibri Light" panose="020F0302020204030204" pitchFamily="34" charset="0"/>
                <a:cs typeface="Calibri Light" panose="020F0302020204030204" pitchFamily="34" charset="0"/>
              </a:rPr>
              <a:t>Portfolio 4: Retrieving and Exporting Data Using MongoDB Atlas.</a:t>
            </a:r>
          </a:p>
          <a:p>
            <a:pPr marL="457200" lvl="0" indent="-457200">
              <a:buFont typeface="Wingdings" panose="05000000000000000000" pitchFamily="2" charset="2"/>
              <a:buChar char="Ø"/>
            </a:pPr>
            <a:r>
              <a:rPr lang="en-US" sz="2800" dirty="0">
                <a:latin typeface="Calibri Light" panose="020F0302020204030204" pitchFamily="34" charset="0"/>
                <a:cs typeface="Calibri Light" panose="020F0302020204030204" pitchFamily="34" charset="0"/>
              </a:rPr>
              <a:t>References.</a:t>
            </a:r>
            <a:endParaRPr lang="el-GR" sz="28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04469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DB97C-EA84-5FFE-81A3-B220FCCA83E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EEEA829-6912-5841-6E9B-2619B7D5A3B8}"/>
              </a:ext>
            </a:extLst>
          </p:cNvPr>
          <p:cNvSpPr>
            <a:spLocks noGrp="1"/>
          </p:cNvSpPr>
          <p:nvPr>
            <p:ph type="sldNum" sz="quarter" idx="12"/>
          </p:nvPr>
        </p:nvSpPr>
        <p:spPr/>
        <p:txBody>
          <a:bodyPr/>
          <a:lstStyle/>
          <a:p>
            <a:fld id="{CDEA5C31-B8C3-473B-A3DE-56496EA73414}" type="slidenum">
              <a:rPr lang="el-GR" smtClean="0"/>
              <a:t>3</a:t>
            </a:fld>
            <a:endParaRPr lang="el-GR"/>
          </a:p>
        </p:txBody>
      </p:sp>
      <p:pic>
        <p:nvPicPr>
          <p:cNvPr id="9" name="Picture 8" descr="A blue and white logo&#10;&#10;AI-generated content may be incorrect.">
            <a:extLst>
              <a:ext uri="{FF2B5EF4-FFF2-40B4-BE49-F238E27FC236}">
                <a16:creationId xmlns:a16="http://schemas.microsoft.com/office/drawing/2014/main" id="{CB55C4CB-7FDD-CBA1-CC6F-1B3C22FAF82F}"/>
              </a:ext>
            </a:extLst>
          </p:cNvPr>
          <p:cNvPicPr>
            <a:picLocks noChangeAspect="1"/>
          </p:cNvPicPr>
          <p:nvPr/>
        </p:nvPicPr>
        <p:blipFill>
          <a:blip r:embed="rId2"/>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pic>
        <p:nvPicPr>
          <p:cNvPr id="10" name="Picture 9" descr="A blue and yellow logo&#10;&#10;AI-generated content may be incorrect.">
            <a:extLst>
              <a:ext uri="{FF2B5EF4-FFF2-40B4-BE49-F238E27FC236}">
                <a16:creationId xmlns:a16="http://schemas.microsoft.com/office/drawing/2014/main" id="{51890752-2985-A594-AD8A-367E84290BAF}"/>
              </a:ext>
            </a:extLst>
          </p:cNvPr>
          <p:cNvPicPr>
            <a:picLocks noChangeAspect="1"/>
          </p:cNvPicPr>
          <p:nvPr/>
        </p:nvPicPr>
        <p:blipFill>
          <a:blip r:embed="rId3"/>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50367894-2391-7B99-8D12-556F456682F5}"/>
              </a:ext>
            </a:extLst>
          </p:cNvPr>
          <p:cNvGrpSpPr/>
          <p:nvPr/>
        </p:nvGrpSpPr>
        <p:grpSpPr>
          <a:xfrm>
            <a:off x="178129" y="1364480"/>
            <a:ext cx="11210307" cy="4676882"/>
            <a:chOff x="3859936" y="1249488"/>
            <a:chExt cx="7755174" cy="4566826"/>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2FE75480-DB76-BE00-D689-BB5A39B1373C}"/>
                </a:ext>
              </a:extLst>
            </p:cNvPr>
            <p:cNvSpPr/>
            <p:nvPr/>
          </p:nvSpPr>
          <p:spPr>
            <a:xfrm>
              <a:off x="3859936" y="1249488"/>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F0A9BF23-0C92-5ECE-2607-51ED0A50A709}"/>
                </a:ext>
              </a:extLst>
            </p:cNvPr>
            <p:cNvSpPr txBox="1"/>
            <p:nvPr/>
          </p:nvSpPr>
          <p:spPr>
            <a:xfrm>
              <a:off x="3859936" y="1249488"/>
              <a:ext cx="7755174" cy="4566826"/>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r>
                <a:rPr lang="en-US" sz="3600" b="1" dirty="0">
                  <a:latin typeface="Calibri Light" panose="020F0302020204030204" pitchFamily="34" charset="0"/>
                  <a:cs typeface="Calibri Light" panose="020F0302020204030204" pitchFamily="34" charset="0"/>
                </a:rPr>
                <a:t>Portfolio 1: Big Data: Definitions and Key Characteristics</a:t>
              </a:r>
              <a:endParaRPr lang="en-US" sz="3600" dirty="0">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graphicFrame>
        <p:nvGraphicFramePr>
          <p:cNvPr id="13" name="TextBox 10">
            <a:extLst>
              <a:ext uri="{FF2B5EF4-FFF2-40B4-BE49-F238E27FC236}">
                <a16:creationId xmlns:a16="http://schemas.microsoft.com/office/drawing/2014/main" id="{01907D45-F4FA-6144-D7E9-8962D2C55A70}"/>
              </a:ext>
            </a:extLst>
          </p:cNvPr>
          <p:cNvGraphicFramePr/>
          <p:nvPr>
            <p:extLst>
              <p:ext uri="{D42A27DB-BD31-4B8C-83A1-F6EECF244321}">
                <p14:modId xmlns:p14="http://schemas.microsoft.com/office/powerpoint/2010/main" val="2353900141"/>
              </p:ext>
            </p:extLst>
          </p:nvPr>
        </p:nvGraphicFramePr>
        <p:xfrm>
          <a:off x="475012" y="2141906"/>
          <a:ext cx="10497787" cy="38994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45324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4A36DB-9F6A-5E89-EFDD-CDF8EE8DAE6F}"/>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71E283A4-FC8B-82E9-3AB5-AEA975FF4BE0}"/>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4</a:t>
            </a:fld>
            <a:endParaRPr lang="en-US"/>
          </a:p>
        </p:txBody>
      </p:sp>
      <p:pic>
        <p:nvPicPr>
          <p:cNvPr id="10" name="Picture 9" descr="A blue and yellow logo&#10;&#10;AI-generated content may be incorrect.">
            <a:extLst>
              <a:ext uri="{FF2B5EF4-FFF2-40B4-BE49-F238E27FC236}">
                <a16:creationId xmlns:a16="http://schemas.microsoft.com/office/drawing/2014/main" id="{7CAE2994-C4DF-91F3-12BB-595F50DE83FC}"/>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graphicFrame>
        <p:nvGraphicFramePr>
          <p:cNvPr id="35" name="TextBox 10">
            <a:extLst>
              <a:ext uri="{FF2B5EF4-FFF2-40B4-BE49-F238E27FC236}">
                <a16:creationId xmlns:a16="http://schemas.microsoft.com/office/drawing/2014/main" id="{36F69F03-04AE-04BF-93F2-0BF5CD273ECA}"/>
              </a:ext>
            </a:extLst>
          </p:cNvPr>
          <p:cNvGraphicFramePr/>
          <p:nvPr>
            <p:extLst>
              <p:ext uri="{D42A27DB-BD31-4B8C-83A1-F6EECF244321}">
                <p14:modId xmlns:p14="http://schemas.microsoft.com/office/powerpoint/2010/main" val="1028090129"/>
              </p:ext>
            </p:extLst>
          </p:nvPr>
        </p:nvGraphicFramePr>
        <p:xfrm>
          <a:off x="677334" y="1270448"/>
          <a:ext cx="10509222" cy="47825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1" descr="A blue and white logo&#10;&#10;AI-generated content may be incorrect.">
            <a:extLst>
              <a:ext uri="{FF2B5EF4-FFF2-40B4-BE49-F238E27FC236}">
                <a16:creationId xmlns:a16="http://schemas.microsoft.com/office/drawing/2014/main" id="{703C22F5-9B2D-8407-7AFA-B716677BC9CA}"/>
              </a:ext>
            </a:extLst>
          </p:cNvPr>
          <p:cNvPicPr>
            <a:picLocks noChangeAspect="1"/>
          </p:cNvPicPr>
          <p:nvPr/>
        </p:nvPicPr>
        <p:blipFill>
          <a:blip r:embed="rId8"/>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67392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2BB8A4-38E1-B515-DD36-55FDDE0540A2}"/>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7D670AB2-FD46-534F-38DC-2965D58E90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408C9921-E06C-D378-9E22-A8FA8B02E3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9B62441-4F00-31CD-A350-D40477F7B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339D9C43-F56A-9AE2-5BF9-C0F51A7DFB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4117BEF7-0A7A-D98F-F1E6-051ED457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319155D2-EE02-8F88-14DA-B077CF289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420389DC-F37A-57FA-92C3-14FCE3761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55160AF7-D7A7-FF3D-CB7F-97B6CCBC4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A1873B0B-EB4C-C90B-E4AD-5CAEEE4FD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289A7FD4-3046-F595-D4B8-6E1A694B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8732292E-AB40-E2F9-9EA5-0C5BC9BACA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6D16066A-D677-A1A8-2365-A4C5AEA3EB35}"/>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5</a:t>
            </a:fld>
            <a:endParaRPr lang="en-US"/>
          </a:p>
        </p:txBody>
      </p:sp>
      <p:pic>
        <p:nvPicPr>
          <p:cNvPr id="10" name="Picture 9" descr="A blue and yellow logo&#10;&#10;AI-generated content may be incorrect.">
            <a:extLst>
              <a:ext uri="{FF2B5EF4-FFF2-40B4-BE49-F238E27FC236}">
                <a16:creationId xmlns:a16="http://schemas.microsoft.com/office/drawing/2014/main" id="{97C89C6E-7489-2EB8-6A42-54C5958CC7D5}"/>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01857129-2062-5FA1-9FD7-7195F5B69F46}"/>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aphicFrame>
        <p:nvGraphicFramePr>
          <p:cNvPr id="54" name="TextBox 6">
            <a:extLst>
              <a:ext uri="{FF2B5EF4-FFF2-40B4-BE49-F238E27FC236}">
                <a16:creationId xmlns:a16="http://schemas.microsoft.com/office/drawing/2014/main" id="{518E02F5-23A5-4692-5809-81B71E10E36C}"/>
              </a:ext>
            </a:extLst>
          </p:cNvPr>
          <p:cNvGraphicFramePr/>
          <p:nvPr>
            <p:extLst>
              <p:ext uri="{D42A27DB-BD31-4B8C-83A1-F6EECF244321}">
                <p14:modId xmlns:p14="http://schemas.microsoft.com/office/powerpoint/2010/main" val="1009956198"/>
              </p:ext>
            </p:extLst>
          </p:nvPr>
        </p:nvGraphicFramePr>
        <p:xfrm>
          <a:off x="717675" y="1353528"/>
          <a:ext cx="10338252" cy="46273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42868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0C52A3-2E5E-33C3-858A-10778460253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3113627E-2127-D032-E78D-19888650EE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FAB2746A-25D9-EFE3-AD43-96AE1A935E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F16E2E4-FD65-4DBE-B610-F10C4A2A3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7372050D-E71F-017F-6D52-44425C12EA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19744627-E5BF-47ED-DC20-D358BB2D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8EEB1FCA-8DEF-FDC6-DCA0-813DF9163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A7707635-BB7A-A880-E76C-49ECCF3B5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F3B9A08A-221D-3BB8-0A2E-AF8EA061DF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5F7DFE23-1C5A-2A9D-C763-E12703CB8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6E1891EF-CAE6-36C0-5F84-3CD1270B4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1AB8DD48-F54D-B22C-CFB2-3FCD80A2D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5CF4E2C3-E6BD-FA9C-EFB5-E7FB691229DB}"/>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6</a:t>
            </a:fld>
            <a:endParaRPr lang="en-US"/>
          </a:p>
        </p:txBody>
      </p:sp>
      <p:pic>
        <p:nvPicPr>
          <p:cNvPr id="10" name="Picture 9" descr="A blue and yellow logo&#10;&#10;AI-generated content may be incorrect.">
            <a:extLst>
              <a:ext uri="{FF2B5EF4-FFF2-40B4-BE49-F238E27FC236}">
                <a16:creationId xmlns:a16="http://schemas.microsoft.com/office/drawing/2014/main" id="{2E8CC66B-9363-371C-4D1F-555004E8DD2D}"/>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F6F8BFCD-F647-13B3-F451-ED8F9D6D5FE2}"/>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CF4E6139-3C4C-DF6F-1772-2D700A877C19}"/>
              </a:ext>
            </a:extLst>
          </p:cNvPr>
          <p:cNvGrpSpPr/>
          <p:nvPr/>
        </p:nvGrpSpPr>
        <p:grpSpPr>
          <a:xfrm>
            <a:off x="1601788" y="1383371"/>
            <a:ext cx="8766704"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40827F08-C877-D8B1-435B-47BB150FEF79}"/>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1DB8231D-BEEE-21ED-2982-00E14443A0BA}"/>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1: Big Data: Definitions and Key Characteristics</a:t>
              </a:r>
              <a:endParaRPr lang="en-US" sz="3200" dirty="0">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50C39504-6FE3-21E9-AC18-F64D3F7C4B9A}"/>
              </a:ext>
            </a:extLst>
          </p:cNvPr>
          <p:cNvSpPr txBox="1"/>
          <p:nvPr/>
        </p:nvSpPr>
        <p:spPr>
          <a:xfrm>
            <a:off x="1616479" y="2387177"/>
            <a:ext cx="8001654" cy="3693319"/>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In conclusion, working with Big Data means that traditional technologies are inadequate for extracting, gathering, storing, cleaning, loading, and managing the necessary data from a variety of dispersed sources due to their lack of performance, scalability, and flexibility (</a:t>
            </a:r>
            <a:r>
              <a:rPr lang="en-US" sz="2400" b="0" i="0" dirty="0">
                <a:solidFill>
                  <a:srgbClr val="222222"/>
                </a:solidFill>
                <a:effectLst/>
                <a:latin typeface="Calibri Light" panose="020F0302020204030204" pitchFamily="34" charset="0"/>
                <a:cs typeface="Calibri Light" panose="020F0302020204030204" pitchFamily="34" charset="0"/>
              </a:rPr>
              <a:t>Wang et al., 2022)</a:t>
            </a:r>
            <a:r>
              <a:rPr lang="en-US" sz="2400" dirty="0">
                <a:latin typeface="Calibri Light" panose="020F0302020204030204" pitchFamily="34" charset="0"/>
                <a:cs typeface="Calibri Light" panose="020F0302020204030204" pitchFamily="34" charset="0"/>
              </a:rPr>
              <a:t>. </a:t>
            </a:r>
          </a:p>
          <a:p>
            <a:pPr marL="342900" indent="-342900">
              <a:buFont typeface="Wingdings" panose="05000000000000000000" pitchFamily="2" charset="2"/>
              <a:buChar char="Ø"/>
            </a:pPr>
            <a:r>
              <a:rPr lang="en-US" sz="2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Big datasets are therefore typically processed by supervised or unsupervised machine learning or artificial intelligence algorithms, depending on the situation, in order to produce new knowledge (</a:t>
            </a:r>
            <a:r>
              <a:rPr lang="en-US" sz="2400" dirty="0" err="1">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Diareme</a:t>
            </a:r>
            <a:r>
              <a:rPr lang="en-US" sz="2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et al., 2022).</a:t>
            </a:r>
            <a:endParaRPr lang="el-GR" sz="2400" dirty="0">
              <a:latin typeface="Calibri Light" panose="020F0302020204030204" pitchFamily="34" charset="0"/>
              <a:cs typeface="Calibri Light" panose="020F0302020204030204" pitchFamily="34" charset="0"/>
            </a:endParaRPr>
          </a:p>
          <a:p>
            <a:endParaRPr lang="el-GR" dirty="0"/>
          </a:p>
        </p:txBody>
      </p:sp>
    </p:spTree>
    <p:extLst>
      <p:ext uri="{BB962C8B-B14F-4D97-AF65-F5344CB8AC3E}">
        <p14:creationId xmlns:p14="http://schemas.microsoft.com/office/powerpoint/2010/main" val="2503598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91154D-5638-FBC9-BC14-A5B7D79ACCA7}"/>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75F38307-CD4F-E15D-96C1-943AE547A9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4CAE35F2-8CD8-E1A0-AAE3-CF14D3F8649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C0A9349-A7B8-8495-0A00-2A31077F954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F8CFE0D9-194F-B461-A662-369783A9F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166AF82C-8C2A-8D07-097E-CBBDD2798D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C8326AF0-C536-3E57-9435-8CAD63700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2DA6D45F-6983-64A3-55EE-2512E3279E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5BE0FBBB-8746-7CDD-1BF3-54A967997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A8F7D5F9-56BF-115E-AA95-36EF70BD5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211F5B2C-AC91-6626-5C1D-50A54063D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CAA4B346-33E4-4C70-AB4F-5BB6764309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92B2B492-3229-8577-5DD6-3E1A90A79F80}"/>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7</a:t>
            </a:fld>
            <a:endParaRPr lang="en-US"/>
          </a:p>
        </p:txBody>
      </p:sp>
      <p:pic>
        <p:nvPicPr>
          <p:cNvPr id="10" name="Picture 9" descr="A blue and yellow logo&#10;&#10;AI-generated content may be incorrect.">
            <a:extLst>
              <a:ext uri="{FF2B5EF4-FFF2-40B4-BE49-F238E27FC236}">
                <a16:creationId xmlns:a16="http://schemas.microsoft.com/office/drawing/2014/main" id="{BAE4D237-FA7E-88F8-07D5-AFAB1E27681A}"/>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3AD6D316-7E1F-413A-CB8A-5F06A93B1657}"/>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45DDBF14-6452-D060-BDFE-A407D0EA6BE0}"/>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499E4AB5-DCD4-A8B3-D781-388160D02C85}"/>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8F778D25-60F0-8D84-D756-A593FD971502}"/>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1: Big Data: An Effective Handling Process</a:t>
              </a:r>
              <a:endParaRPr lang="en-US" sz="3200" dirty="0">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220DF39A-3AF3-8FFE-4D7A-5DFD8F4A0D81}"/>
              </a:ext>
            </a:extLst>
          </p:cNvPr>
          <p:cNvSpPr txBox="1"/>
          <p:nvPr/>
        </p:nvSpPr>
        <p:spPr>
          <a:xfrm>
            <a:off x="247444" y="1929992"/>
            <a:ext cx="10947671" cy="3785652"/>
          </a:xfrm>
          <a:prstGeom prst="rect">
            <a:avLst/>
          </a:prstGeom>
          <a:noFill/>
        </p:spPr>
        <p:txBody>
          <a:bodyPr wrap="square" rtlCol="0">
            <a:spAutoFit/>
          </a:bodyPr>
          <a:lstStyle/>
          <a:p>
            <a:r>
              <a:rPr lang="en-US" sz="2400" dirty="0">
                <a:latin typeface="Calibri Light" panose="020F0302020204030204" pitchFamily="34" charset="0"/>
                <a:cs typeface="Calibri Light" panose="020F0302020204030204" pitchFamily="34" charset="0"/>
              </a:rPr>
              <a:t>Due to its volume, velocity, and variety, Big Data requires to be specifically handled. The process of handling Big Data consists of various stages: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Collection – Collecting information from sensors, systems, and Internet of Things devices (</a:t>
            </a:r>
            <a:r>
              <a:rPr lang="en-US" sz="2400" b="0" i="0" dirty="0">
                <a:solidFill>
                  <a:srgbClr val="222222"/>
                </a:solidFill>
                <a:effectLst/>
                <a:latin typeface="Calibri Light" panose="020F0302020204030204" pitchFamily="34" charset="0"/>
                <a:cs typeface="Calibri Light" panose="020F0302020204030204" pitchFamily="34" charset="0"/>
              </a:rPr>
              <a:t>Fasel and Meier, 2014)</a:t>
            </a:r>
            <a:r>
              <a:rPr lang="en-US" sz="2400" dirty="0">
                <a:latin typeface="Calibri Light" panose="020F0302020204030204" pitchFamily="34" charset="0"/>
                <a:cs typeface="Calibri Light" panose="020F0302020204030204" pitchFamily="34" charset="0"/>
              </a:rPr>
              <a:t>.</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Storage – Storing varied, large amounts of data on scalable platforms.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Cleaning/Preprocessing – Organizing and cleaning data to ensure consistency and accuracy.</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Analysis – Obtaining insights by applying statistical or machine learning techniques.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Visualization – Displaying results on charts or dashboards to aid in decision-making.</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Security and Ethics – Ensuring the responsible, safe, and lawful use of data.</a:t>
            </a:r>
            <a:endParaRPr lang="el-GR"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989993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3B00A7-CB33-FB18-AE8B-6FD1EE38E9B3}"/>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981E9158-07AD-DAA1-D899-9B3393FA11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4CA85EC0-19D0-8408-A1E8-AA06FDD8A0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3D70384-0A4A-8A79-3612-BD1BBD86F3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4B2923AA-3EC8-0FDE-5AC0-73DA7DEA4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191A8780-7536-8D7C-D9C4-9CC01F07E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A5455E9D-A95A-C1C0-25F7-0C0EBA0EDC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2AE02DF5-D67A-706A-A761-361BFF554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B3106F2C-E3B6-86ED-CCC2-A1AF7D8CED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E7268DE0-A1CD-0A42-5F22-605088974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6C2A0725-D50A-A043-6A6B-FB7DB793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9E4603FC-269A-9F9D-A731-965954900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8A06730B-BFDF-9062-1B2A-AFACAA2B394B}"/>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8</a:t>
            </a:fld>
            <a:endParaRPr lang="en-US"/>
          </a:p>
        </p:txBody>
      </p:sp>
      <p:pic>
        <p:nvPicPr>
          <p:cNvPr id="10" name="Picture 9" descr="A blue and yellow logo&#10;&#10;AI-generated content may be incorrect.">
            <a:extLst>
              <a:ext uri="{FF2B5EF4-FFF2-40B4-BE49-F238E27FC236}">
                <a16:creationId xmlns:a16="http://schemas.microsoft.com/office/drawing/2014/main" id="{0460F085-66F9-3887-A97F-04BE42159429}"/>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A08391F2-B1EF-D918-60EA-AE179054867B}"/>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C20E8F88-C725-024F-391F-17D9FF62A2CF}"/>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7A29372F-300C-577F-14A0-70961EA7DC51}"/>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69D3BE8D-7E9F-EE7F-DEFE-35A86E6DDFE8}"/>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1: Big Data: Preparing Data for Use</a:t>
              </a:r>
              <a:endParaRPr lang="en-US" sz="3200" dirty="0">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475A7A41-2A30-4974-B513-C406CBE7CAF8}"/>
              </a:ext>
            </a:extLst>
          </p:cNvPr>
          <p:cNvSpPr txBox="1"/>
          <p:nvPr/>
        </p:nvSpPr>
        <p:spPr>
          <a:xfrm>
            <a:off x="247444" y="1929991"/>
            <a:ext cx="9447399" cy="3416320"/>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Collection: Digital systems and IoT produce vast amounts of data quickly and in a variety of ways (</a:t>
            </a:r>
            <a:r>
              <a:rPr lang="en-US" sz="2400" b="0" i="0" dirty="0">
                <a:solidFill>
                  <a:srgbClr val="222222"/>
                </a:solidFill>
                <a:effectLst/>
                <a:latin typeface="Calibri Light" panose="020F0302020204030204" pitchFamily="34" charset="0"/>
                <a:cs typeface="Calibri Light" panose="020F0302020204030204" pitchFamily="34" charset="0"/>
              </a:rPr>
              <a:t>Mohammadi et al., 2018)</a:t>
            </a:r>
            <a:r>
              <a:rPr lang="en-US" sz="2400" dirty="0">
                <a:latin typeface="Calibri Light" panose="020F0302020204030204" pitchFamily="34" charset="0"/>
                <a:cs typeface="Calibri Light" panose="020F0302020204030204" pitchFamily="34" charset="0"/>
              </a:rPr>
              <a:t>. </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Storage: Large datasets are managed in industries like oil and gas using distributed systems like Hadoop and Cassandra (</a:t>
            </a:r>
            <a:r>
              <a:rPr lang="en-US" sz="2400" b="0" i="0" dirty="0">
                <a:solidFill>
                  <a:srgbClr val="222222"/>
                </a:solidFill>
                <a:effectLst/>
                <a:latin typeface="Calibri Light" panose="020F0302020204030204" pitchFamily="34" charset="0"/>
                <a:cs typeface="Calibri Light" panose="020F0302020204030204" pitchFamily="34" charset="0"/>
              </a:rPr>
              <a:t>Nguyen et al., 2020)</a:t>
            </a:r>
            <a:r>
              <a:rPr lang="en-US" sz="2400" dirty="0">
                <a:latin typeface="Calibri Light" panose="020F0302020204030204" pitchFamily="34" charset="0"/>
                <a:cs typeface="Calibri Light" panose="020F0302020204030204" pitchFamily="34" charset="0"/>
              </a:rPr>
              <a:t>.</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Cleaning/Preprocessing: In order to improve reliability, which is crucial in high-noise IoT environments, data is cleaned to eliminate errors and noise.</a:t>
            </a:r>
          </a:p>
          <a:p>
            <a:r>
              <a:rPr lang="en-US" sz="2400" dirty="0">
                <a:latin typeface="Calibri Light" panose="020F0302020204030204" pitchFamily="34" charset="0"/>
                <a:cs typeface="Calibri Light" panose="020F0302020204030204" pitchFamily="34" charset="0"/>
              </a:rPr>
              <a:t>These procedures guarantee that unstructured, raw data becomes accurate and useful (</a:t>
            </a:r>
            <a:r>
              <a:rPr lang="en-US" sz="2400" b="0" i="0" dirty="0">
                <a:solidFill>
                  <a:srgbClr val="222222"/>
                </a:solidFill>
                <a:effectLst/>
                <a:latin typeface="Calibri Light" panose="020F0302020204030204" pitchFamily="34" charset="0"/>
                <a:cs typeface="Calibri Light" panose="020F0302020204030204" pitchFamily="34" charset="0"/>
              </a:rPr>
              <a:t>Rani et al., 2023)</a:t>
            </a:r>
            <a:r>
              <a:rPr lang="en-US" sz="2400" dirty="0">
                <a:latin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03544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512856-5C36-A59A-44B5-BBE692AE3235}"/>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FA9ACC88-FB76-F7D4-3DFD-01233D88F8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3F821936-3B31-6AAF-D377-4391F8D214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5FE7D4C-98D8-2605-E249-FE64B63C74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C75F257E-6992-EC46-57FA-C0809BE06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4F5B966C-BB5A-5503-14F0-12E217E1FA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06458618-D40C-19C4-9421-432FC3F85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8D6FD1DF-2F0E-60CD-0174-396F645C7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92929024-90C5-BB2B-AA60-F7A14F5D1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13C315AD-B866-AA9A-85E0-067C916340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538CB7F4-D98F-6F11-83D5-CDF25CAD47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6332990D-1A05-9AC6-E283-FEB8D37A8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0F55DD4B-089F-1617-D4DF-04590C058BF5}"/>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9</a:t>
            </a:fld>
            <a:endParaRPr lang="en-US"/>
          </a:p>
        </p:txBody>
      </p:sp>
      <p:pic>
        <p:nvPicPr>
          <p:cNvPr id="10" name="Picture 9" descr="A blue and yellow logo&#10;&#10;AI-generated content may be incorrect.">
            <a:extLst>
              <a:ext uri="{FF2B5EF4-FFF2-40B4-BE49-F238E27FC236}">
                <a16:creationId xmlns:a16="http://schemas.microsoft.com/office/drawing/2014/main" id="{3EF598CC-2154-18FF-6605-8EF387896E82}"/>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46F9F1F7-CD03-9ADC-ADCF-EEFFA519086F}"/>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3D0D193B-BFA3-DBC7-F64B-4F22651209E1}"/>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5DE5EAEB-BD84-3DC1-1265-9B566F87CBD0}"/>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A5891C7E-BEB6-6638-62D1-B24FD5F3FAC8}"/>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1: Big Data: Interpreting Data</a:t>
              </a:r>
              <a:endParaRPr lang="en-US" sz="3200" dirty="0">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A8CDAE11-81BC-79D6-19D4-A7BCBD3164C0}"/>
              </a:ext>
            </a:extLst>
          </p:cNvPr>
          <p:cNvSpPr txBox="1"/>
          <p:nvPr/>
        </p:nvSpPr>
        <p:spPr>
          <a:xfrm>
            <a:off x="247444" y="1929991"/>
            <a:ext cx="9169009" cy="3046988"/>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Analysis: Big Data is processed using methods like decision trees, SVMs, and deep learning for tasks like classification and prediction (</a:t>
            </a:r>
            <a:r>
              <a:rPr lang="en-US" sz="2400" b="0" i="0" dirty="0">
                <a:solidFill>
                  <a:srgbClr val="222222"/>
                </a:solidFill>
                <a:effectLst/>
                <a:latin typeface="Calibri Light" panose="020F0302020204030204" pitchFamily="34" charset="0"/>
                <a:cs typeface="Calibri Light" panose="020F0302020204030204" pitchFamily="34" charset="0"/>
              </a:rPr>
              <a:t>Nti et al., 2022). </a:t>
            </a: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Visualization: Tools transform data into formats that can be read. The data is then used to support in-the-moment decisions in healthcare and climate monitoring (</a:t>
            </a:r>
            <a:r>
              <a:rPr lang="en-US" sz="2400" b="0" i="0" dirty="0">
                <a:solidFill>
                  <a:srgbClr val="222222"/>
                </a:solidFill>
                <a:effectLst/>
                <a:latin typeface="Calibri Light" panose="020F0302020204030204" pitchFamily="34" charset="0"/>
                <a:cs typeface="Calibri Light" panose="020F0302020204030204" pitchFamily="34" charset="0"/>
              </a:rPr>
              <a:t>Lin et al., 2018).</a:t>
            </a:r>
            <a:endParaRPr lang="en-US" sz="2400" dirty="0">
              <a:latin typeface="Calibri Light" panose="020F0302020204030204" pitchFamily="34" charset="0"/>
              <a:cs typeface="Calibri Light" panose="020F0302020204030204" pitchFamily="34" charset="0"/>
            </a:endParaRPr>
          </a:p>
          <a:p>
            <a:r>
              <a:rPr lang="en-US" sz="2400" dirty="0">
                <a:latin typeface="Calibri Light" panose="020F0302020204030204" pitchFamily="34" charset="0"/>
                <a:cs typeface="Calibri Light" panose="020F0302020204030204" pitchFamily="34" charset="0"/>
              </a:rPr>
              <a:t>This phase transforms Big Data into actionable insight, unlocking its potential (</a:t>
            </a:r>
            <a:r>
              <a:rPr lang="en-US" sz="2400" b="0" i="0" dirty="0">
                <a:solidFill>
                  <a:srgbClr val="222222"/>
                </a:solidFill>
                <a:effectLst/>
                <a:latin typeface="Calibri Light" panose="020F0302020204030204" pitchFamily="34" charset="0"/>
                <a:cs typeface="Calibri Light" panose="020F0302020204030204" pitchFamily="34" charset="0"/>
              </a:rPr>
              <a:t>Jaber et al., 2022).</a:t>
            </a: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89642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D5F4DC-61DA-6FA6-1515-9CE587936020}"/>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159796F4-B27C-B9DB-3BA3-D8E3F2A9EB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E217DD2A-2E22-BE1E-C50B-B5DDE16E41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B4B6390-ECF2-63CD-3979-4C5A832A2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B94C5DEA-7B8B-7B0A-1078-770898D0EB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615D274B-78D0-C82F-B219-B2A3FBD75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BED5614D-0C5C-3D38-29D0-E6BE0B25F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C0B9D41B-1587-F518-3885-EFFBB272A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D710474D-5DC3-14B3-2E27-54CB3DCF0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90418210-D7B8-4731-8F6A-6F984A5FF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96519C00-117B-C056-62D8-01F6B4216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D0615492-75CD-C5FB-BDD4-C8B5F1325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28D4866E-A0C7-D58D-7AFC-F7EBE4F7EFF7}"/>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10</a:t>
            </a:fld>
            <a:endParaRPr lang="en-US"/>
          </a:p>
        </p:txBody>
      </p:sp>
      <p:pic>
        <p:nvPicPr>
          <p:cNvPr id="10" name="Picture 9" descr="A blue and yellow logo&#10;&#10;AI-generated content may be incorrect.">
            <a:extLst>
              <a:ext uri="{FF2B5EF4-FFF2-40B4-BE49-F238E27FC236}">
                <a16:creationId xmlns:a16="http://schemas.microsoft.com/office/drawing/2014/main" id="{285BD7FD-E7E6-3A54-2FAA-40F367AB1C56}"/>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C7F871DF-C884-5ECD-7296-1DE6D4FBFFB8}"/>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30993F96-DF32-5F77-6C39-C3F9421AED1B}"/>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8F4FB5F8-B38B-67ED-6738-F59702708B2D}"/>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B1D1E3F5-52B2-25B1-DE8C-F1B8E72F2E36}"/>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1: Big Data: Secure and Responsible Data Use</a:t>
              </a:r>
              <a:endParaRPr lang="en-US" sz="3200" dirty="0">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A5A8ADC6-F282-FBCC-F673-8245F0123EB5}"/>
              </a:ext>
            </a:extLst>
          </p:cNvPr>
          <p:cNvSpPr txBox="1"/>
          <p:nvPr/>
        </p:nvSpPr>
        <p:spPr>
          <a:xfrm>
            <a:off x="247445" y="1929991"/>
            <a:ext cx="8815050"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Security: In cybersecurity, Big Data is used to identify threats, this calls for robust infrastructure and tools such as Spark (</a:t>
            </a:r>
            <a:r>
              <a:rPr lang="en-US" sz="2400" b="0" i="0" dirty="0">
                <a:solidFill>
                  <a:srgbClr val="222222"/>
                </a:solidFill>
                <a:effectLst/>
                <a:latin typeface="Calibri Light" panose="020F0302020204030204" pitchFamily="34" charset="0"/>
                <a:cs typeface="Calibri Light" panose="020F0302020204030204" pitchFamily="34" charset="0"/>
              </a:rPr>
              <a:t>Rawat et al., 2019).</a:t>
            </a: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Ethics: Data needs to be transparent, anonymized, and in compliance with regulations (like the GDPR) (</a:t>
            </a:r>
            <a:r>
              <a:rPr lang="en-US" sz="2400" dirty="0">
                <a:solidFill>
                  <a:srgbClr val="222222"/>
                </a:solidFill>
                <a:effectLst/>
                <a:latin typeface="Calibri Light" panose="020F0302020204030204" pitchFamily="34" charset="0"/>
                <a:ea typeface="Calibri" panose="020F0502020204030204" pitchFamily="34" charset="0"/>
                <a:cs typeface="Arial" panose="020B0604020202020204" pitchFamily="34" charset="0"/>
              </a:rPr>
              <a:t>Weinhardt, 2021).</a:t>
            </a: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Integration: Compatibility and privacy issues must be resolved in order to implement Big Data in legacy systems (</a:t>
            </a:r>
            <a:r>
              <a:rPr lang="en-US" sz="2400" b="0" i="0" dirty="0">
                <a:solidFill>
                  <a:srgbClr val="222222"/>
                </a:solidFill>
                <a:effectLst/>
                <a:latin typeface="Calibri Light" panose="020F0302020204030204" pitchFamily="34" charset="0"/>
                <a:cs typeface="Calibri Light" panose="020F0302020204030204" pitchFamily="34" charset="0"/>
              </a:rPr>
              <a:t>Nguyen et al., 2020)</a:t>
            </a:r>
            <a:r>
              <a:rPr lang="en-US" sz="2400" dirty="0">
                <a:latin typeface="Calibri Light" panose="020F0302020204030204" pitchFamily="34" charset="0"/>
                <a:cs typeface="Calibri Light" panose="020F0302020204030204" pitchFamily="34" charset="0"/>
              </a:rPr>
              <a:t>.</a:t>
            </a:r>
          </a:p>
          <a:p>
            <a:r>
              <a:rPr lang="en-US" sz="2400" dirty="0">
                <a:latin typeface="Calibri Light" panose="020F0302020204030204" pitchFamily="34" charset="0"/>
                <a:cs typeface="Calibri Light" panose="020F0302020204030204" pitchFamily="34" charset="0"/>
              </a:rPr>
              <a:t>Data Handling to be considered powerful needs to only be powerful but also secure and ethically sound.</a:t>
            </a:r>
          </a:p>
        </p:txBody>
      </p:sp>
    </p:spTree>
    <p:extLst>
      <p:ext uri="{BB962C8B-B14F-4D97-AF65-F5344CB8AC3E}">
        <p14:creationId xmlns:p14="http://schemas.microsoft.com/office/powerpoint/2010/main" val="1472721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3F102C-5A11-2C41-475F-69FE4723E1D4}"/>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8F593559-9BCD-6FC4-DDC0-49530BAECE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7065702B-CAE5-600D-2F2F-21EB98FFC48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9CD6302-A8A9-CE3D-FE38-8571CAC1E1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2BBE003D-D39D-AB1B-4787-0C86B095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9E7EDE25-D39D-04E1-4032-C14B2BBA3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685543AC-E206-4D46-C935-AB42644EDB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871D8FD6-9325-5CB4-7B31-F1C44BF455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1777BF11-BAA8-017D-4D46-41D3E6248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C988DDFE-1892-A782-BF4E-990303CDC4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62D3BD53-F14A-C284-625D-29702A0FC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28E8CEDC-9498-BFD5-2264-EEEADEA06B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67BA3EBA-9A48-B04E-C41B-BEE4EC1C8985}"/>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11</a:t>
            </a:fld>
            <a:endParaRPr lang="en-US"/>
          </a:p>
        </p:txBody>
      </p:sp>
      <p:pic>
        <p:nvPicPr>
          <p:cNvPr id="10" name="Picture 9" descr="A blue and yellow logo&#10;&#10;AI-generated content may be incorrect.">
            <a:extLst>
              <a:ext uri="{FF2B5EF4-FFF2-40B4-BE49-F238E27FC236}">
                <a16:creationId xmlns:a16="http://schemas.microsoft.com/office/drawing/2014/main" id="{5C34FE4A-CF4F-F19F-FEE5-7EC6ECE5A475}"/>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7E4A9F38-F359-5332-D64A-3EE7201932FB}"/>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79767784-2696-670D-13FE-717ED47F8C65}"/>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A27D3A6B-48EE-5C3E-858D-D45249672809}"/>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361A97DF-8C87-AEA7-0838-8C9D6D8FB069}"/>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2: Appling a Machine Learning Technique to Make Predictions Using a Real-World Dataset</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2C515125-2CDE-82D5-2F54-B45E7249A9F1}"/>
              </a:ext>
            </a:extLst>
          </p:cNvPr>
          <p:cNvSpPr txBox="1"/>
          <p:nvPr/>
        </p:nvSpPr>
        <p:spPr>
          <a:xfrm>
            <a:off x="247444" y="2542861"/>
            <a:ext cx="10342768"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Dataset: Titanic Survival Predictions, sourced from the Kaggle website (train.csv, 891 entries). This Titanic dataset is publicly available, well structured, it contains both numerical and categorical features, it is historically significant, and it is widely used for educational ML purposes.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Objective: Develop a predictive model that determines whether a passenger survived the Titanic disaster based on their characteristics/features.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Methodology: Apply supervised Machine Learning using the Random Forest algorithm to classify survival outcomes and evaluate the model’s performance using standard classification metrics.</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223943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9018CE-40F4-42A1-4EFF-EF5F42841AD7}"/>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4B5BA22D-503A-E009-B905-D9D6431EF5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17D484E4-91F6-4D44-132F-3973DD7CA86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EE9FF3B-908F-E793-5A9F-8B884339E12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A3516BEC-BD9C-328C-9C8E-D73EB536CE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6BF41F2A-5E5D-4994-9BDC-03C930FDD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D9902C0F-F29B-F533-C1F9-8BA88A5CF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DE85FAA5-3CD7-0B81-71FB-50C9EE996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9566A861-8B0E-81B5-93C2-5AC5D6D9A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9F214A54-99D1-7C6C-AF44-AAD8DF020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5A7654C6-9811-859A-4EB8-9A818177B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06FFF9DF-2E3F-9750-267D-524B29704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96D3D8A4-530D-26CB-4379-05D950F2ACFC}"/>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12</a:t>
            </a:fld>
            <a:endParaRPr lang="en-US"/>
          </a:p>
        </p:txBody>
      </p:sp>
      <p:pic>
        <p:nvPicPr>
          <p:cNvPr id="10" name="Picture 9" descr="A blue and yellow logo&#10;&#10;AI-generated content may be incorrect.">
            <a:extLst>
              <a:ext uri="{FF2B5EF4-FFF2-40B4-BE49-F238E27FC236}">
                <a16:creationId xmlns:a16="http://schemas.microsoft.com/office/drawing/2014/main" id="{190C587C-FD84-06A1-CA2D-4DD916F81674}"/>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B4A02EFB-182A-9EB1-9E0E-BFF52BFDC695}"/>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87BFE625-5A65-9E1E-CC74-9587CB150010}"/>
              </a:ext>
            </a:extLst>
          </p:cNvPr>
          <p:cNvGrpSpPr/>
          <p:nvPr/>
        </p:nvGrpSpPr>
        <p:grpSpPr>
          <a:xfrm>
            <a:off x="213756" y="1383371"/>
            <a:ext cx="12556671"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A3EB5ADD-73ED-6C27-BB3C-1805D5465FE0}"/>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BAFBF9AE-DE17-6EFD-7C2C-CE73FBC78192}"/>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2: An Overview of the Dataset</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D0A7F7A6-AC29-DD9F-02F3-DAF85D24704E}"/>
              </a:ext>
            </a:extLst>
          </p:cNvPr>
          <p:cNvSpPr txBox="1"/>
          <p:nvPr/>
        </p:nvSpPr>
        <p:spPr>
          <a:xfrm>
            <a:off x="224366" y="1882172"/>
            <a:ext cx="11967634" cy="452431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Source: Titanic Survival Predictions (Kaggle).</a:t>
            </a:r>
          </a:p>
          <a:p>
            <a:r>
              <a:rPr lang="en-US" sz="2400" dirty="0">
                <a:latin typeface="Calibri Light" panose="020F0302020204030204" pitchFamily="34" charset="0"/>
                <a:cs typeface="Calibri Light" panose="020F0302020204030204" pitchFamily="34" charset="0"/>
                <a:hlinkClick r:id="rId4"/>
              </a:rPr>
              <a:t>https://www.kaggle.com/code/nadintamer/titanic-survival-predictions </a:t>
            </a:r>
            <a:r>
              <a:rPr lang="en-US" sz="2400" dirty="0" err="1">
                <a:latin typeface="Calibri Light" panose="020F0302020204030204" pitchFamily="34" charset="0"/>
                <a:cs typeface="Calibri Light" panose="020F0302020204030204" pitchFamily="34" charset="0"/>
                <a:hlinkClick r:id="rId4"/>
              </a:rPr>
              <a:t>beginner?select</a:t>
            </a:r>
            <a:r>
              <a:rPr lang="en-US" sz="2400" dirty="0">
                <a:latin typeface="Calibri Light" panose="020F0302020204030204" pitchFamily="34" charset="0"/>
                <a:cs typeface="Calibri Light" panose="020F0302020204030204" pitchFamily="34" charset="0"/>
                <a:hlinkClick r:id="rId4"/>
              </a:rPr>
              <a:t>=train.csv</a:t>
            </a: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Dataset Summary:</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Total Records: 891 passengers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Initial features: 12 (including both numerical and categorical).</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Target Variable: Survived (1 = survived, 0 = not survived).</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Numerical Features: Age, Fare,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a:t>
            </a:r>
            <a:r>
              <a:rPr lang="en-US" sz="2400" dirty="0" err="1">
                <a:latin typeface="Calibri Light" panose="020F0302020204030204" pitchFamily="34" charset="0"/>
                <a:cs typeface="Calibri Light" panose="020F0302020204030204" pitchFamily="34" charset="0"/>
              </a:rPr>
              <a:t>SibSp</a:t>
            </a:r>
            <a:r>
              <a:rPr lang="en-US" sz="2400" dirty="0">
                <a:latin typeface="Calibri Light" panose="020F0302020204030204" pitchFamily="34" charset="0"/>
                <a:cs typeface="Calibri Light" panose="020F0302020204030204" pitchFamily="34" charset="0"/>
              </a:rPr>
              <a:t>, Parch.</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Categorical Features: PassengerId, Name, Sex, Embarked, Cabin, Ticket.</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Selected Features for Modeling: Age, Sex,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a:t>
            </a:r>
            <a:r>
              <a:rPr lang="en-US" sz="2400" dirty="0" err="1">
                <a:latin typeface="Calibri Light" panose="020F0302020204030204" pitchFamily="34" charset="0"/>
                <a:cs typeface="Calibri Light" panose="020F0302020204030204" pitchFamily="34" charset="0"/>
              </a:rPr>
              <a:t>SibSp</a:t>
            </a:r>
            <a:r>
              <a:rPr lang="en-US" sz="2400" dirty="0">
                <a:latin typeface="Calibri Light" panose="020F0302020204030204" pitchFamily="34" charset="0"/>
                <a:cs typeface="Calibri Light" panose="020F0302020204030204" pitchFamily="34" charset="0"/>
              </a:rPr>
              <a:t>, Parch, Fare, Embarked.</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Dropped Features: Name, Ticket, Cabin, PassengerId (Due to redundancy or low predictive value).</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827223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70D4A9-D31C-5732-9F10-3CA81634A0D5}"/>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8C0818C7-FA8B-663C-0F6D-5088A8F4A8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0895F96F-DC40-CE19-53F1-0ADB2F2F480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6D2DF85-A6EE-C794-96E6-3E6C29CF54A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72551AC8-71B3-7AB1-B04B-489DC156D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6DB291FF-CCCF-CB1B-B20E-6AFB40EEC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496F8F29-CCFF-F78C-9187-00DF1BD11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391FE1C8-EA6E-8AE0-2D04-B4FC51F27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ED3B87B7-3C28-89E1-F9E8-358E5B3E27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E00BF46A-530D-D2FC-93B8-E6CD57E49D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E665163F-584D-A114-39EE-61EB13BD34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17B77830-138B-0B1E-89DA-7746ECA63A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A7E35F9A-6075-1D03-DF9C-CEC4FFA5F7D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13</a:t>
            </a:fld>
            <a:endParaRPr lang="en-US"/>
          </a:p>
        </p:txBody>
      </p:sp>
      <p:pic>
        <p:nvPicPr>
          <p:cNvPr id="10" name="Picture 9" descr="A blue and yellow logo&#10;&#10;AI-generated content may be incorrect.">
            <a:extLst>
              <a:ext uri="{FF2B5EF4-FFF2-40B4-BE49-F238E27FC236}">
                <a16:creationId xmlns:a16="http://schemas.microsoft.com/office/drawing/2014/main" id="{70A668CF-0B19-0A8D-1E3E-9E8B451CA260}"/>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C0230F66-8F8C-CC54-E8F4-D3FE4DF2CA13}"/>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63E1578E-1434-0765-4E7D-1F23ECFE2A1F}"/>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A5CC63E8-8009-2BD6-5506-0529A2D27A22}"/>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1201CF3A-F070-68D7-AB6A-AFBC2E674300}"/>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2: Data Preprocessing – Feature Selection</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AB5AC93F-1BBB-B734-1A2C-62792FEB3B81}"/>
              </a:ext>
            </a:extLst>
          </p:cNvPr>
          <p:cNvSpPr txBox="1"/>
          <p:nvPr/>
        </p:nvSpPr>
        <p:spPr>
          <a:xfrm>
            <a:off x="241855" y="2101365"/>
            <a:ext cx="9721308"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Handling Missing Values: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Age: Filled with the median age of the dataset.</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Embarked: Filled with the most frequent port of embarkation (mode).</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Encoding Categorical Values: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Sex: Converted to binary (1 = female, 0 = male).</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Embarked: One-hot encoded to capture category differences.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 Final Feature Set (7 total):</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Age, Sex,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a:t>
            </a:r>
            <a:r>
              <a:rPr lang="en-US" sz="2400" dirty="0" err="1">
                <a:latin typeface="Calibri Light" panose="020F0302020204030204" pitchFamily="34" charset="0"/>
                <a:cs typeface="Calibri Light" panose="020F0302020204030204" pitchFamily="34" charset="0"/>
              </a:rPr>
              <a:t>SibSp</a:t>
            </a:r>
            <a:r>
              <a:rPr lang="en-US" sz="2400" dirty="0">
                <a:latin typeface="Calibri Light" panose="020F0302020204030204" pitchFamily="34" charset="0"/>
                <a:cs typeface="Calibri Light" panose="020F0302020204030204" pitchFamily="34" charset="0"/>
              </a:rPr>
              <a:t>, Parch, Fare, Embarked.</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Cabin and Ticket features were tested but did not improve the model’s performance, therefore, they were excluded.</a:t>
            </a:r>
          </a:p>
        </p:txBody>
      </p:sp>
    </p:spTree>
    <p:extLst>
      <p:ext uri="{BB962C8B-B14F-4D97-AF65-F5344CB8AC3E}">
        <p14:creationId xmlns:p14="http://schemas.microsoft.com/office/powerpoint/2010/main" val="984696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8E9BFE-F2F8-A892-3A67-7E9E981D4DC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95FBA2E6-42F7-B6F7-FDAB-B40DD154F1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DB30D74F-2E68-E496-0F1A-838A4D7EE8E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E338863-80C8-FC71-FBCB-F7898E57C92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5D8B641A-C995-6F17-C3CF-2CC564DD1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8C2BE320-B4B4-6982-105C-DA7FC99F2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378DA48B-0A08-C7E6-F315-152CDB92E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26F36BB9-8602-A472-68BA-B44DC90A4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66C66359-CAB6-E2FE-9A78-F282A49AE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FCE06609-461C-F508-A1BF-96DFDA6C1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F9391C46-9D8D-BB5D-B954-0EFF5605D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0F3CD7C7-037B-AE37-89E0-D13C2A0C6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DA225E41-E983-D44D-539D-EAE3C92EAFA2}"/>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14</a:t>
            </a:fld>
            <a:endParaRPr lang="en-US"/>
          </a:p>
        </p:txBody>
      </p:sp>
      <p:pic>
        <p:nvPicPr>
          <p:cNvPr id="10" name="Picture 9" descr="A blue and yellow logo&#10;&#10;AI-generated content may be incorrect.">
            <a:extLst>
              <a:ext uri="{FF2B5EF4-FFF2-40B4-BE49-F238E27FC236}">
                <a16:creationId xmlns:a16="http://schemas.microsoft.com/office/drawing/2014/main" id="{037FACA7-6542-58A7-CC47-8B95FCF517DE}"/>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0F2432B1-1B03-D567-B009-B81368B0B99A}"/>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CF111A71-533D-ED22-A2C6-BF97301DA841}"/>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3CBBF426-395D-A96B-678C-A7AF8C952C23}"/>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F373E6C7-CB88-3EFD-C4E2-B950F23F33D0}"/>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200" b="1" dirty="0">
                <a:latin typeface="Calibri Light" panose="020F0302020204030204" pitchFamily="34" charset="0"/>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2: The Supervised Machine Learning Algorithm (Random Forest)</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E5EBFBA8-B488-D3D6-095A-D80F14DDD664}"/>
              </a:ext>
            </a:extLst>
          </p:cNvPr>
          <p:cNvSpPr txBox="1"/>
          <p:nvPr/>
        </p:nvSpPr>
        <p:spPr>
          <a:xfrm>
            <a:off x="266246" y="2488147"/>
            <a:ext cx="10102246" cy="3416320"/>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Random Forest builds multiple random decision trees and combines them to ensure the model’s accuracy and decrease its sensitivity to training data.</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 Random Forest model is trained using the bagging method to reduce overfitting, which combines aggregation and bootstrapping (Das et al., 2023).</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For this project, a Random Forest-based classification model was trained to predict Titanic passenger survival (Target variable) based on the selected features from the Titanic dataset.</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model was trained on 90% of the data and was tested on the remaining 10% to evaluate performance.</a:t>
            </a:r>
          </a:p>
        </p:txBody>
      </p:sp>
    </p:spTree>
    <p:extLst>
      <p:ext uri="{BB962C8B-B14F-4D97-AF65-F5344CB8AC3E}">
        <p14:creationId xmlns:p14="http://schemas.microsoft.com/office/powerpoint/2010/main" val="329856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82F705-50F4-1472-187E-FEB3CC634203}"/>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30DE116E-CA1E-E5A0-12A8-A1E1E09551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6C0C6DEB-D8FA-C799-FCAD-1F40528617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42C33B8-0A43-9EC1-0AA0-4ADE4B9396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CCBCFE1D-3356-FA25-970E-8B994D2EF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7B4FA736-92DF-ABEF-49D9-1DB20758F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EF3BAC84-DF62-7EDA-1817-95027F855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DA3A0304-6505-E2C1-7CB7-DC9A341C8A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FA8352F3-F7C5-53FB-3D7E-FFF795BAA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664E60A3-F400-377F-5D35-9E12115DB5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55460D58-809A-1817-36ED-1E1D461E5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6EF19BC2-C278-A5D6-2F92-4C11E2D3B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BDB08CB1-1451-C67B-3B08-D7E4DA4A6DB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15</a:t>
            </a:fld>
            <a:endParaRPr lang="en-US"/>
          </a:p>
        </p:txBody>
      </p:sp>
      <p:pic>
        <p:nvPicPr>
          <p:cNvPr id="10" name="Picture 9" descr="A blue and yellow logo&#10;&#10;AI-generated content may be incorrect.">
            <a:extLst>
              <a:ext uri="{FF2B5EF4-FFF2-40B4-BE49-F238E27FC236}">
                <a16:creationId xmlns:a16="http://schemas.microsoft.com/office/drawing/2014/main" id="{4F40B5B7-53BB-D7AA-B9E3-800288E36B80}"/>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AE5FD5B4-32FA-D702-114A-508499B9CFA3}"/>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400B99B2-51CC-8383-5097-906E2F902E89}"/>
              </a:ext>
            </a:extLst>
          </p:cNvPr>
          <p:cNvGrpSpPr/>
          <p:nvPr/>
        </p:nvGrpSpPr>
        <p:grpSpPr>
          <a:xfrm>
            <a:off x="213756" y="1383371"/>
            <a:ext cx="11566565"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808C5923-DC47-B252-EE8C-9173C69AEE7B}"/>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47BEFB09-5FAE-574E-07D5-154A929DE835}"/>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2: Classification Model Performance and Evaluation</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D4499EC3-FEC4-7B53-E1B9-A479392A0255}"/>
              </a:ext>
            </a:extLst>
          </p:cNvPr>
          <p:cNvSpPr txBox="1"/>
          <p:nvPr/>
        </p:nvSpPr>
        <p:spPr>
          <a:xfrm>
            <a:off x="266246" y="2019280"/>
            <a:ext cx="3577155" cy="1993920"/>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Random Forest’s Results: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Accuracy: 90%</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Confusion Matrix:</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Classification Report:</a:t>
            </a:r>
          </a:p>
          <a:p>
            <a:endParaRPr lang="en-US" sz="2400" dirty="0">
              <a:latin typeface="Calibri Light" panose="020F0302020204030204" pitchFamily="34" charset="0"/>
              <a:cs typeface="Calibri Light" panose="020F0302020204030204" pitchFamily="34" charset="0"/>
            </a:endParaRPr>
          </a:p>
        </p:txBody>
      </p:sp>
      <p:pic>
        <p:nvPicPr>
          <p:cNvPr id="4" name="Picture 3" descr="A blue squares with white text&#10;&#10;AI-generated content may be incorrect.">
            <a:extLst>
              <a:ext uri="{FF2B5EF4-FFF2-40B4-BE49-F238E27FC236}">
                <a16:creationId xmlns:a16="http://schemas.microsoft.com/office/drawing/2014/main" id="{27B3DA19-E803-30C7-25CB-3ADA4CFDBC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2129" y="2236653"/>
            <a:ext cx="4392986" cy="3722011"/>
          </a:xfrm>
          <a:prstGeom prst="rect">
            <a:avLst/>
          </a:prstGeom>
          <a:ln>
            <a:noFill/>
          </a:ln>
          <a:effectLst>
            <a:outerShdw blurRad="292100" dist="139700" dir="2700000" algn="tl" rotWithShape="0">
              <a:srgbClr val="333333">
                <a:alpha val="65000"/>
              </a:srgbClr>
            </a:outerShdw>
          </a:effectLst>
        </p:spPr>
      </p:pic>
      <p:graphicFrame>
        <p:nvGraphicFramePr>
          <p:cNvPr id="11" name="Table 10">
            <a:extLst>
              <a:ext uri="{FF2B5EF4-FFF2-40B4-BE49-F238E27FC236}">
                <a16:creationId xmlns:a16="http://schemas.microsoft.com/office/drawing/2014/main" id="{337347DD-703E-752A-9C34-C854769873F1}"/>
              </a:ext>
            </a:extLst>
          </p:cNvPr>
          <p:cNvGraphicFramePr>
            <a:graphicFrameLocks noGrp="1"/>
          </p:cNvGraphicFramePr>
          <p:nvPr>
            <p:extLst>
              <p:ext uri="{D42A27DB-BD31-4B8C-83A1-F6EECF244321}">
                <p14:modId xmlns:p14="http://schemas.microsoft.com/office/powerpoint/2010/main" val="3577338349"/>
              </p:ext>
            </p:extLst>
          </p:nvPr>
        </p:nvGraphicFramePr>
        <p:xfrm>
          <a:off x="1246953" y="3588120"/>
          <a:ext cx="4413519" cy="2360332"/>
        </p:xfrm>
        <a:graphic>
          <a:graphicData uri="http://schemas.openxmlformats.org/drawingml/2006/table">
            <a:tbl>
              <a:tblPr firstRow="1" firstCol="1" bandRow="1">
                <a:tableStyleId>{5C22544A-7EE6-4342-B048-85BDC9FD1C3A}</a:tableStyleId>
              </a:tblPr>
              <a:tblGrid>
                <a:gridCol w="1394140">
                  <a:extLst>
                    <a:ext uri="{9D8B030D-6E8A-4147-A177-3AD203B41FA5}">
                      <a16:colId xmlns:a16="http://schemas.microsoft.com/office/drawing/2014/main" val="2137413152"/>
                    </a:ext>
                  </a:extLst>
                </a:gridCol>
                <a:gridCol w="1625239">
                  <a:extLst>
                    <a:ext uri="{9D8B030D-6E8A-4147-A177-3AD203B41FA5}">
                      <a16:colId xmlns:a16="http://schemas.microsoft.com/office/drawing/2014/main" val="1674765837"/>
                    </a:ext>
                  </a:extLst>
                </a:gridCol>
                <a:gridCol w="1394140">
                  <a:extLst>
                    <a:ext uri="{9D8B030D-6E8A-4147-A177-3AD203B41FA5}">
                      <a16:colId xmlns:a16="http://schemas.microsoft.com/office/drawing/2014/main" val="1914848556"/>
                    </a:ext>
                  </a:extLst>
                </a:gridCol>
              </a:tblGrid>
              <a:tr h="554784">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 </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Not Survived</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ea typeface="Aptos" panose="020B0004020202020204" pitchFamily="34" charset="0"/>
                          <a:cs typeface="Calibri Light" panose="020F0302020204030204" pitchFamily="34" charset="0"/>
                        </a:rPr>
                        <a:t>Survived</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extLst>
                  <a:ext uri="{0D108BD9-81ED-4DB2-BD59-A6C34878D82A}">
                    <a16:rowId xmlns:a16="http://schemas.microsoft.com/office/drawing/2014/main" val="1718282668"/>
                  </a:ext>
                </a:extLst>
              </a:tr>
              <a:tr h="451387">
                <a:tc>
                  <a:txBody>
                    <a:bodyPr/>
                    <a:lstStyle/>
                    <a:p>
                      <a:pPr algn="just">
                        <a:lnSpc>
                          <a:spcPct val="200000"/>
                        </a:lnSpc>
                        <a:spcAft>
                          <a:spcPts val="1200"/>
                        </a:spcAft>
                        <a:buNone/>
                      </a:pPr>
                      <a:r>
                        <a:rPr lang="en-US" sz="1200">
                          <a:effectLst/>
                          <a:latin typeface="Calibri Light" panose="020F0302020204030204" pitchFamily="34" charset="0"/>
                          <a:cs typeface="Calibri Light" panose="020F0302020204030204" pitchFamily="34" charset="0"/>
                        </a:rPr>
                        <a:t>Precision</a:t>
                      </a:r>
                      <a:endParaRPr lang="el-GR" sz="110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94,11%</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solidFill>
                      <a:schemeClr val="accent1">
                        <a:tint val="40000"/>
                      </a:schemeClr>
                    </a:solidFill>
                  </a:tcPr>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84,61%</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extLst>
                  <a:ext uri="{0D108BD9-81ED-4DB2-BD59-A6C34878D82A}">
                    <a16:rowId xmlns:a16="http://schemas.microsoft.com/office/drawing/2014/main" val="2494026931"/>
                  </a:ext>
                </a:extLst>
              </a:tr>
              <a:tr h="451387">
                <a:tc>
                  <a:txBody>
                    <a:bodyPr/>
                    <a:lstStyle/>
                    <a:p>
                      <a:pPr algn="just">
                        <a:lnSpc>
                          <a:spcPct val="200000"/>
                        </a:lnSpc>
                        <a:spcAft>
                          <a:spcPts val="1200"/>
                        </a:spcAft>
                        <a:buNone/>
                      </a:pPr>
                      <a:r>
                        <a:rPr lang="en-US" sz="1200">
                          <a:effectLst/>
                          <a:latin typeface="Calibri Light" panose="020F0302020204030204" pitchFamily="34" charset="0"/>
                          <a:cs typeface="Calibri Light" panose="020F0302020204030204" pitchFamily="34" charset="0"/>
                        </a:rPr>
                        <a:t>Accuracy</a:t>
                      </a:r>
                      <a:endParaRPr lang="el-GR" sz="110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gridSpan="2">
                  <a:txBody>
                    <a:bodyPr/>
                    <a:lstStyle/>
                    <a:p>
                      <a:pPr algn="ctr">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90,00%</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hMerge="1">
                  <a:txBody>
                    <a:bodyPr/>
                    <a:lstStyle/>
                    <a:p>
                      <a:pPr algn="just">
                        <a:lnSpc>
                          <a:spcPct val="200000"/>
                        </a:lnSpc>
                        <a:spcAft>
                          <a:spcPts val="1200"/>
                        </a:spcAft>
                        <a:buNone/>
                      </a:pPr>
                      <a:endParaRPr lang="el-GR" sz="1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7544287"/>
                  </a:ext>
                </a:extLst>
              </a:tr>
              <a:tr h="451387">
                <a:tc>
                  <a:txBody>
                    <a:bodyPr/>
                    <a:lstStyle/>
                    <a:p>
                      <a:pPr algn="just">
                        <a:lnSpc>
                          <a:spcPct val="200000"/>
                        </a:lnSpc>
                        <a:spcAft>
                          <a:spcPts val="1200"/>
                        </a:spcAft>
                        <a:buNone/>
                      </a:pPr>
                      <a:r>
                        <a:rPr lang="en-US" sz="1200">
                          <a:effectLst/>
                          <a:latin typeface="Calibri Light" panose="020F0302020204030204" pitchFamily="34" charset="0"/>
                          <a:cs typeface="Calibri Light" panose="020F0302020204030204" pitchFamily="34" charset="0"/>
                        </a:rPr>
                        <a:t>Recall</a:t>
                      </a:r>
                      <a:endParaRPr lang="el-GR" sz="110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88,88%</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91,66%</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extLst>
                  <a:ext uri="{0D108BD9-81ED-4DB2-BD59-A6C34878D82A}">
                    <a16:rowId xmlns:a16="http://schemas.microsoft.com/office/drawing/2014/main" val="465810511"/>
                  </a:ext>
                </a:extLst>
              </a:tr>
              <a:tr h="451387">
                <a:tc>
                  <a:txBody>
                    <a:bodyPr/>
                    <a:lstStyle/>
                    <a:p>
                      <a:pPr algn="just">
                        <a:lnSpc>
                          <a:spcPct val="200000"/>
                        </a:lnSpc>
                        <a:spcAft>
                          <a:spcPts val="1200"/>
                        </a:spcAft>
                        <a:buNone/>
                      </a:pPr>
                      <a:r>
                        <a:rPr lang="en-US" sz="1200">
                          <a:effectLst/>
                          <a:latin typeface="Calibri Light" panose="020F0302020204030204" pitchFamily="34" charset="0"/>
                          <a:cs typeface="Calibri Light" panose="020F0302020204030204" pitchFamily="34" charset="0"/>
                        </a:rPr>
                        <a:t>F-Score</a:t>
                      </a:r>
                      <a:endParaRPr lang="el-GR" sz="110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91,42%</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tc>
                  <a:txBody>
                    <a:bodyPr/>
                    <a:lstStyle/>
                    <a:p>
                      <a:pPr algn="just">
                        <a:lnSpc>
                          <a:spcPct val="200000"/>
                        </a:lnSpc>
                        <a:spcAft>
                          <a:spcPts val="1200"/>
                        </a:spcAft>
                        <a:buNone/>
                      </a:pPr>
                      <a:r>
                        <a:rPr lang="en-US" sz="1200" dirty="0">
                          <a:effectLst/>
                          <a:latin typeface="Calibri Light" panose="020F0302020204030204" pitchFamily="34" charset="0"/>
                          <a:cs typeface="Calibri Light" panose="020F0302020204030204" pitchFamily="34" charset="0"/>
                        </a:rPr>
                        <a:t>87,99%</a:t>
                      </a:r>
                      <a:endParaRPr lang="el-GR" sz="1100" dirty="0">
                        <a:effectLst/>
                        <a:latin typeface="Calibri Light" panose="020F0302020204030204" pitchFamily="34" charset="0"/>
                        <a:ea typeface="Aptos" panose="020B0004020202020204" pitchFamily="34" charset="0"/>
                        <a:cs typeface="Calibri Light" panose="020F0302020204030204" pitchFamily="34" charset="0"/>
                      </a:endParaRPr>
                    </a:p>
                  </a:txBody>
                  <a:tcPr marL="68580" marR="68580" marT="0" marB="0"/>
                </a:tc>
                <a:extLst>
                  <a:ext uri="{0D108BD9-81ED-4DB2-BD59-A6C34878D82A}">
                    <a16:rowId xmlns:a16="http://schemas.microsoft.com/office/drawing/2014/main" val="3749363872"/>
                  </a:ext>
                </a:extLst>
              </a:tr>
            </a:tbl>
          </a:graphicData>
        </a:graphic>
      </p:graphicFrame>
    </p:spTree>
    <p:extLst>
      <p:ext uri="{BB962C8B-B14F-4D97-AF65-F5344CB8AC3E}">
        <p14:creationId xmlns:p14="http://schemas.microsoft.com/office/powerpoint/2010/main" val="2544754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B5D3A-C248-20D7-9CA7-34682A7A097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43B72D2E-E38F-D18C-16C6-EBEF3D6DC6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7376E10C-31BC-3A43-5831-E9D1B41B37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1A6DA5B-C5C2-0EB2-D0DB-D99EE42845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F2FD63C2-27ED-6304-93BF-79A5F6A08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A4076AA9-6EBA-B4D5-7F29-C2F36C049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94E0E54F-AE22-036B-CE1E-0632BC19D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011D4152-668B-ECBD-D06C-C320E2D4EF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55A28432-C60E-5ECD-37ED-163EF1F152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94A96A2E-695C-C83F-3DB5-08B5B59F1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49186282-B74A-CBA5-1E54-CDC7DEEC0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9E58A237-39F0-8AE6-F638-41B40585E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291E7657-DABC-94CB-8816-909F770F80C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16</a:t>
            </a:fld>
            <a:endParaRPr lang="en-US"/>
          </a:p>
        </p:txBody>
      </p:sp>
      <p:pic>
        <p:nvPicPr>
          <p:cNvPr id="10" name="Picture 9" descr="A blue and yellow logo&#10;&#10;AI-generated content may be incorrect.">
            <a:extLst>
              <a:ext uri="{FF2B5EF4-FFF2-40B4-BE49-F238E27FC236}">
                <a16:creationId xmlns:a16="http://schemas.microsoft.com/office/drawing/2014/main" id="{DDBC44EA-C778-819F-5972-B6FCFDF37077}"/>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7DB2AB9F-4DCA-111B-888A-22DCBC040E69}"/>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4C704B1C-DC08-45FB-A21E-A8AFFB1B6141}"/>
              </a:ext>
            </a:extLst>
          </p:cNvPr>
          <p:cNvGrpSpPr/>
          <p:nvPr/>
        </p:nvGrpSpPr>
        <p:grpSpPr>
          <a:xfrm>
            <a:off x="213756" y="1383371"/>
            <a:ext cx="12473544"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1ED656F7-09DE-7757-4FC1-54A352E1E475}"/>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07C3D3DA-E667-C5E3-9B1B-EE501183253F}"/>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2: Evaluation Results Overview and Conclusions</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F413D22B-7EAC-FF53-B021-1C562570AEBB}"/>
              </a:ext>
            </a:extLst>
          </p:cNvPr>
          <p:cNvSpPr txBox="1"/>
          <p:nvPr/>
        </p:nvSpPr>
        <p:spPr>
          <a:xfrm>
            <a:off x="266245" y="2057122"/>
            <a:ext cx="11789960"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Random Forest classification model showed excellent predictive performance, attaining 90% accuracy on the test data.</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According to the confusion matrix, the model accurately predicted 33 out of 36 survivors and 48 out of 54 non-survivors, demonstrating a balance between sensitivity and specificity.</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Both classes had high precision and recall scores (0.94/089 for non-survivors and 0.85/0.92 for survivors), demonstrating  the model’s accuracy and consistency in making predictions.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These findings imply that the chosen features are very informative in predicting survival results.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Ultimately, this project illustrates the effectiveness of supervised Machine Learning in uncovering meaningful patterns and making reliable predictions from real-world data. </a:t>
            </a:r>
          </a:p>
        </p:txBody>
      </p:sp>
    </p:spTree>
    <p:extLst>
      <p:ext uri="{BB962C8B-B14F-4D97-AF65-F5344CB8AC3E}">
        <p14:creationId xmlns:p14="http://schemas.microsoft.com/office/powerpoint/2010/main" val="4232230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E45DB7-4A8C-2912-5B6B-5BF7A3F5CE23}"/>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12AF8126-46A3-9D6C-AB0F-2D80274605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A91AFE67-0CB5-1D6B-F931-9DB59971B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E0FA615-9676-1520-FAB3-4216505B38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E53791F0-B434-FB79-A8C9-43F0D0273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2C9FE403-864B-1B9F-C0FC-6E0BC3F19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4EE4C0F2-C426-36D7-881F-06FD7F60C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BE8E7B13-58C4-1F4D-BC2C-F0F84F53B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57E43B3B-2457-4094-624E-A749D4A4C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76A65358-D669-F32A-2518-6EF5F16C8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806CA195-85A9-F387-9692-D7FA31B8C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7ED75016-079C-E95D-0F81-4F9B9C392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7D19C593-A501-FDB1-AD03-83433F147EE1}"/>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17</a:t>
            </a:fld>
            <a:endParaRPr lang="en-US"/>
          </a:p>
        </p:txBody>
      </p:sp>
      <p:pic>
        <p:nvPicPr>
          <p:cNvPr id="10" name="Picture 9" descr="A blue and yellow logo&#10;&#10;AI-generated content may be incorrect.">
            <a:extLst>
              <a:ext uri="{FF2B5EF4-FFF2-40B4-BE49-F238E27FC236}">
                <a16:creationId xmlns:a16="http://schemas.microsoft.com/office/drawing/2014/main" id="{D716A5D9-3002-4901-7DAF-47F6CCA74DFA}"/>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9EC7E421-BF9A-82B6-E166-7D6B8F287D9A}"/>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FC070657-7129-E047-42C8-DD94CD57210A}"/>
              </a:ext>
            </a:extLst>
          </p:cNvPr>
          <p:cNvGrpSpPr/>
          <p:nvPr/>
        </p:nvGrpSpPr>
        <p:grpSpPr>
          <a:xfrm>
            <a:off x="213756" y="1383371"/>
            <a:ext cx="12473544"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396D9F99-2AFB-300B-31B0-92159BE8A780}"/>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C44FF639-338C-5D3B-E6B4-FBFF8F4692A8}"/>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3: Titanic Dataset – Exploratory Data Analysis</a:t>
              </a:r>
              <a:endParaRPr lang="en-US" sz="3200" b="1" kern="1200" dirty="0">
                <a:solidFill>
                  <a:sysClr val="windowText" lastClr="000000">
                    <a:hueOff val="0"/>
                    <a:satOff val="0"/>
                    <a:lumOff val="0"/>
                    <a:alphaOff val="0"/>
                  </a:sysClr>
                </a:solidFill>
                <a:latin typeface="Calibri Light" panose="020F0302020204030204" pitchFamily="34" charset="0"/>
                <a:cs typeface="Calibri Light" panose="020F0302020204030204" pitchFamily="34" charset="0"/>
              </a:endParaRPr>
            </a:p>
            <a:p>
              <a:pPr marL="0" lvl="0" indent="0" algn="l" defTabSz="1511300">
                <a:lnSpc>
                  <a:spcPct val="90000"/>
                </a:lnSpc>
                <a:spcBef>
                  <a:spcPct val="0"/>
                </a:spcBef>
                <a:spcAft>
                  <a:spcPct val="35000"/>
                </a:spcAft>
                <a:buNone/>
              </a:pP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2C67C7B5-4775-6325-369E-50ACCCC71ED3}"/>
              </a:ext>
            </a:extLst>
          </p:cNvPr>
          <p:cNvSpPr txBox="1"/>
          <p:nvPr/>
        </p:nvSpPr>
        <p:spPr>
          <a:xfrm>
            <a:off x="266244" y="2057122"/>
            <a:ext cx="11922579" cy="452431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Objective: Utilize Python and Google </a:t>
            </a:r>
            <a:r>
              <a:rPr lang="en-US" sz="2400" dirty="0" err="1">
                <a:latin typeface="Calibri Light" panose="020F0302020204030204" pitchFamily="34" charset="0"/>
                <a:cs typeface="Calibri Light" panose="020F0302020204030204" pitchFamily="34" charset="0"/>
              </a:rPr>
              <a:t>Colab</a:t>
            </a:r>
            <a:r>
              <a:rPr lang="en-US" sz="2400" dirty="0">
                <a:latin typeface="Calibri Light" panose="020F0302020204030204" pitchFamily="34" charset="0"/>
                <a:cs typeface="Calibri Light" panose="020F0302020204030204" pitchFamily="34" charset="0"/>
              </a:rPr>
              <a:t> to conduct exploratory data analysis (EDA) on the Titanic dataset, to reveal patterns and comprehend important aspects of passenger survival.</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Google </a:t>
            </a:r>
            <a:r>
              <a:rPr lang="en-US" sz="2400" dirty="0" err="1">
                <a:latin typeface="Calibri Light" panose="020F0302020204030204" pitchFamily="34" charset="0"/>
                <a:cs typeface="Calibri Light" panose="020F0302020204030204" pitchFamily="34" charset="0"/>
              </a:rPr>
              <a:t>colab</a:t>
            </a:r>
            <a:r>
              <a:rPr lang="en-US" sz="2400" dirty="0">
                <a:latin typeface="Calibri Light" panose="020F0302020204030204" pitchFamily="34" charset="0"/>
                <a:cs typeface="Calibri Light" panose="020F0302020204030204" pitchFamily="34" charset="0"/>
              </a:rPr>
              <a:t> is </a:t>
            </a:r>
            <a:r>
              <a:rPr lang="en-US" sz="2400" b="0" i="0" dirty="0">
                <a:solidFill>
                  <a:srgbClr val="222222"/>
                </a:solidFill>
                <a:effectLst/>
                <a:latin typeface="Calibri Light" panose="020F0302020204030204" pitchFamily="34" charset="0"/>
                <a:cs typeface="Calibri Light" panose="020F0302020204030204" pitchFamily="34" charset="0"/>
              </a:rPr>
              <a:t>a cloud-based </a:t>
            </a:r>
            <a:r>
              <a:rPr lang="en-US" sz="2400" b="0" i="0" dirty="0" err="1">
                <a:solidFill>
                  <a:srgbClr val="222222"/>
                </a:solidFill>
                <a:effectLst/>
                <a:latin typeface="Calibri Light" panose="020F0302020204030204" pitchFamily="34" charset="0"/>
                <a:cs typeface="Calibri Light" panose="020F0302020204030204" pitchFamily="34" charset="0"/>
              </a:rPr>
              <a:t>Jupyter</a:t>
            </a:r>
            <a:r>
              <a:rPr lang="en-US" sz="2400" b="0" i="0" dirty="0">
                <a:solidFill>
                  <a:srgbClr val="222222"/>
                </a:solidFill>
                <a:effectLst/>
                <a:latin typeface="Calibri Light" panose="020F0302020204030204" pitchFamily="34" charset="0"/>
                <a:cs typeface="Calibri Light" panose="020F0302020204030204" pitchFamily="34" charset="0"/>
              </a:rPr>
              <a:t> notebook environment that is freely provided by Google. </a:t>
            </a:r>
            <a:r>
              <a:rPr lang="en-US" sz="2400" dirty="0">
                <a:solidFill>
                  <a:srgbClr val="222222"/>
                </a:solidFill>
                <a:latin typeface="Calibri Light" panose="020F0302020204030204" pitchFamily="34" charset="0"/>
                <a:cs typeface="Calibri Light" panose="020F0302020204030204" pitchFamily="34" charset="0"/>
              </a:rPr>
              <a:t>I</a:t>
            </a:r>
            <a:r>
              <a:rPr lang="en-US" sz="2400" b="0" i="0" dirty="0">
                <a:solidFill>
                  <a:srgbClr val="222222"/>
                </a:solidFill>
                <a:effectLst/>
                <a:latin typeface="Calibri Light" panose="020F0302020204030204" pitchFamily="34" charset="0"/>
                <a:cs typeface="Calibri Light" panose="020F0302020204030204" pitchFamily="34" charset="0"/>
              </a:rPr>
              <a:t>ts key features include, its cloud-based nature, user-friendly interface, integration with Google Cloud Platform (GCP) services, sharing and collaboration capabilities, and support for GPU and TPU computing (</a:t>
            </a:r>
            <a:r>
              <a:rPr lang="en-US" sz="2400" b="0" i="0" dirty="0" err="1">
                <a:solidFill>
                  <a:srgbClr val="222222"/>
                </a:solidFill>
                <a:effectLst/>
                <a:latin typeface="Calibri Light" panose="020F0302020204030204" pitchFamily="34" charset="0"/>
                <a:cs typeface="Calibri Light" panose="020F0302020204030204" pitchFamily="34" charset="0"/>
              </a:rPr>
              <a:t>Sukhdeve</a:t>
            </a:r>
            <a:r>
              <a:rPr lang="en-US" sz="2400" b="0" i="0" dirty="0">
                <a:solidFill>
                  <a:srgbClr val="222222"/>
                </a:solidFill>
                <a:effectLst/>
                <a:latin typeface="Calibri Light" panose="020F0302020204030204" pitchFamily="34" charset="0"/>
                <a:cs typeface="Calibri Light" panose="020F0302020204030204" pitchFamily="34" charset="0"/>
              </a:rPr>
              <a:t> and </a:t>
            </a:r>
            <a:r>
              <a:rPr lang="en-US" sz="2400" b="0" i="0" dirty="0" err="1">
                <a:solidFill>
                  <a:srgbClr val="222222"/>
                </a:solidFill>
                <a:effectLst/>
                <a:latin typeface="Calibri Light" panose="020F0302020204030204" pitchFamily="34" charset="0"/>
                <a:cs typeface="Calibri Light" panose="020F0302020204030204" pitchFamily="34" charset="0"/>
              </a:rPr>
              <a:t>Sukhdeve</a:t>
            </a:r>
            <a:r>
              <a:rPr lang="en-US" sz="2400" b="0" i="0" dirty="0">
                <a:solidFill>
                  <a:srgbClr val="222222"/>
                </a:solidFill>
                <a:effectLst/>
                <a:latin typeface="Calibri Light" panose="020F0302020204030204" pitchFamily="34" charset="0"/>
                <a:cs typeface="Calibri Light" panose="020F0302020204030204" pitchFamily="34" charset="0"/>
              </a:rPr>
              <a:t>, 2023).</a:t>
            </a: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Dataset: Titanic Survival Predictions (Kaggle). </a:t>
            </a:r>
            <a:r>
              <a:rPr lang="en-US" sz="2400" dirty="0">
                <a:latin typeface="Calibri Light" panose="020F0302020204030204" pitchFamily="34" charset="0"/>
                <a:cs typeface="Calibri Light" panose="020F0302020204030204" pitchFamily="34" charset="0"/>
                <a:hlinkClick r:id="rId4"/>
              </a:rPr>
              <a:t>https://www.kaggle.com/code/nadintamer/titanic-survival-predictions </a:t>
            </a:r>
            <a:r>
              <a:rPr lang="en-US" sz="2400" dirty="0" err="1">
                <a:latin typeface="Calibri Light" panose="020F0302020204030204" pitchFamily="34" charset="0"/>
                <a:cs typeface="Calibri Light" panose="020F0302020204030204" pitchFamily="34" charset="0"/>
                <a:hlinkClick r:id="rId4"/>
              </a:rPr>
              <a:t>beginner?select</a:t>
            </a:r>
            <a:r>
              <a:rPr lang="en-US" sz="2400" dirty="0">
                <a:latin typeface="Calibri Light" panose="020F0302020204030204" pitchFamily="34" charset="0"/>
                <a:cs typeface="Calibri Light" panose="020F0302020204030204" pitchFamily="34" charset="0"/>
                <a:hlinkClick r:id="rId4"/>
              </a:rPr>
              <a:t>=train.csv</a:t>
            </a: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Python Libraries used: pandas, seaborn, matplotlib.</a:t>
            </a:r>
          </a:p>
          <a:p>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314754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EBE1E9-4C66-2B38-5B7B-67C06ECCB10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23A1915B-6DC5-FADF-CE53-2052F15679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30E94C19-7C75-FB18-48FB-9FD6319617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E893555-B270-1225-A89E-5EA83429CDE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0C7DAA31-47AE-C93C-1EC1-ED2B1398B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728A75BE-9A48-7933-B8EE-8F90ED124C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AB769D2B-DF1A-F557-3119-CA1D0A455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654612E6-E800-F4F8-1BB9-42EEB85AA2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500302C8-41C2-DC2E-BAD3-6ABCA2710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36134985-6E2B-1161-763B-5DE20C6AE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26CD4E01-8C26-7519-D9AE-76998C662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26D3B4D7-D49F-2AD5-3729-A6F351C66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67FC0D46-97CD-4124-D60D-38DB25B8FA4F}"/>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18</a:t>
            </a:fld>
            <a:endParaRPr lang="en-US"/>
          </a:p>
        </p:txBody>
      </p:sp>
      <p:pic>
        <p:nvPicPr>
          <p:cNvPr id="10" name="Picture 9" descr="A blue and yellow logo&#10;&#10;AI-generated content may be incorrect.">
            <a:extLst>
              <a:ext uri="{FF2B5EF4-FFF2-40B4-BE49-F238E27FC236}">
                <a16:creationId xmlns:a16="http://schemas.microsoft.com/office/drawing/2014/main" id="{2C444311-B010-3F38-C203-5B44BB71146D}"/>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97C9A013-1555-63A9-7272-E89809CA8BA8}"/>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23E42218-8B7A-C893-FDF4-265E2BC8F89A}"/>
              </a:ext>
            </a:extLst>
          </p:cNvPr>
          <p:cNvGrpSpPr/>
          <p:nvPr/>
        </p:nvGrpSpPr>
        <p:grpSpPr>
          <a:xfrm>
            <a:off x="213756" y="1383371"/>
            <a:ext cx="12473544"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3CC345C9-848F-CF02-E82C-776905D94AB7}"/>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D512AE81-D1A8-F24E-69B7-7AB5CF76333F}"/>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3: An Overview of the Dataset</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30FC6984-06FE-29E2-C3A5-87A227BE8EED}"/>
              </a:ext>
            </a:extLst>
          </p:cNvPr>
          <p:cNvSpPr txBox="1"/>
          <p:nvPr/>
        </p:nvSpPr>
        <p:spPr>
          <a:xfrm>
            <a:off x="266244" y="2057122"/>
            <a:ext cx="6596469"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Features: 12 columns including Age, Sex,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a:t>
            </a:r>
            <a:r>
              <a:rPr lang="en-US" sz="2400" dirty="0" err="1">
                <a:latin typeface="Calibri Light" panose="020F0302020204030204" pitchFamily="34" charset="0"/>
                <a:cs typeface="Calibri Light" panose="020F0302020204030204" pitchFamily="34" charset="0"/>
              </a:rPr>
              <a:t>SibSp</a:t>
            </a:r>
            <a:r>
              <a:rPr lang="en-US" sz="2400" dirty="0">
                <a:latin typeface="Calibri Light" panose="020F0302020204030204" pitchFamily="34" charset="0"/>
                <a:cs typeface="Calibri Light" panose="020F0302020204030204" pitchFamily="34" charset="0"/>
              </a:rPr>
              <a:t>, Parch, Fare, Embarked, Survived, PassengerID, Name, Ticket, Cabin.</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Target Variable: The survived column where, 0 = not survived and 1 = survived.</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Missing Data: Present in the Age, Embarked, and Cabin columns.</a:t>
            </a:r>
          </a:p>
          <a:p>
            <a:endParaRPr lang="en-US" sz="2400" dirty="0">
              <a:latin typeface="Calibri Light" panose="020F0302020204030204" pitchFamily="34" charset="0"/>
              <a:cs typeface="Calibri Light" panose="020F0302020204030204" pitchFamily="34" charset="0"/>
            </a:endParaRPr>
          </a:p>
          <a:p>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pic>
        <p:nvPicPr>
          <p:cNvPr id="4" name="Picture 3" descr="A screenshot of a computer code&#10;&#10;AI-generated content may be incorrect.">
            <a:extLst>
              <a:ext uri="{FF2B5EF4-FFF2-40B4-BE49-F238E27FC236}">
                <a16:creationId xmlns:a16="http://schemas.microsoft.com/office/drawing/2014/main" id="{B26E7A96-9796-D6FA-6FD3-649E839038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5401" y="2152898"/>
            <a:ext cx="4670804" cy="37972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6828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6A8A19-E78E-2CA4-C454-91D24082EF9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EE5878D0-127D-E296-5734-BFAD313013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7A6BB9C4-83E2-CFB8-47F4-AFE20623E7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8CA5648-5F5C-0AA9-B06F-C396622F3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9623A57F-80B4-81D3-08C0-D60B6268E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13ECCFF8-AA1E-8E90-EB9F-4D1DCD45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A1C7D86C-8552-5E81-C0F5-7FEF6FF290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EC54D1E9-529E-2D66-429D-1C4F38566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997C6B40-D890-442A-7350-4DD393DB6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55D72815-6E8D-B234-A873-3DB0E3285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CD29F17C-8B17-FE90-5649-C0CD134C23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D604F4E5-7EE4-1472-599E-0BAE72CD8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2DD40497-4AA9-F483-213D-2AB25EC555F9}"/>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19</a:t>
            </a:fld>
            <a:endParaRPr lang="en-US"/>
          </a:p>
        </p:txBody>
      </p:sp>
      <p:pic>
        <p:nvPicPr>
          <p:cNvPr id="10" name="Picture 9" descr="A blue and yellow logo&#10;&#10;AI-generated content may be incorrect.">
            <a:extLst>
              <a:ext uri="{FF2B5EF4-FFF2-40B4-BE49-F238E27FC236}">
                <a16:creationId xmlns:a16="http://schemas.microsoft.com/office/drawing/2014/main" id="{D25BDF09-4267-B646-3FE4-4E666D3DBE01}"/>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B25E3448-C1F9-85EF-0891-C4B4812B6364}"/>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43864F8E-F1D2-903B-CB86-612AF864F3B7}"/>
              </a:ext>
            </a:extLst>
          </p:cNvPr>
          <p:cNvGrpSpPr/>
          <p:nvPr/>
        </p:nvGrpSpPr>
        <p:grpSpPr>
          <a:xfrm>
            <a:off x="213756" y="1383371"/>
            <a:ext cx="12473544" cy="4827425"/>
            <a:chOff x="3624528" y="887340"/>
            <a:chExt cx="8193590" cy="482742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FBE48DD3-E834-9FB6-2C8A-541A6962B33A}"/>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354BF91B-616E-1FA3-1A0E-F59F102779EB}"/>
                </a:ext>
              </a:extLst>
            </p:cNvPr>
            <p:cNvSpPr txBox="1"/>
            <p:nvPr/>
          </p:nvSpPr>
          <p:spPr>
            <a:xfrm>
              <a:off x="3624528" y="887341"/>
              <a:ext cx="8193590" cy="482742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endParaRPr lang="en-US" sz="3400" b="1" dirty="0">
                <a:solidFill>
                  <a:sysClr val="windowText" lastClr="000000">
                    <a:hueOff val="0"/>
                    <a:satOff val="0"/>
                    <a:lumOff val="0"/>
                    <a:alphaOff val="0"/>
                  </a:sysClr>
                </a:solidFill>
                <a:latin typeface="Calibri" panose="020F0502020204030204"/>
                <a:cs typeface="Calibri Light" panose="020F0302020204030204" pitchFamily="34" charset="0"/>
              </a:endParaRPr>
            </a:p>
            <a:p>
              <a:r>
                <a:rPr lang="en-US" sz="3200" b="1" dirty="0">
                  <a:latin typeface="Calibri Light" panose="020F0302020204030204" pitchFamily="34" charset="0"/>
                  <a:cs typeface="Calibri Light" panose="020F0302020204030204" pitchFamily="34" charset="0"/>
                </a:rPr>
                <a:t>Portfolio 3: Handling Missing Data</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607F1A2F-9FEC-BDE5-FDD8-9E3E8DD22B4C}"/>
              </a:ext>
            </a:extLst>
          </p:cNvPr>
          <p:cNvSpPr txBox="1"/>
          <p:nvPr/>
        </p:nvSpPr>
        <p:spPr>
          <a:xfrm>
            <a:off x="266244" y="2057122"/>
            <a:ext cx="4550853"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Cabin and Age are the columns that contain the most missing values: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 Heatmap is used to visualize value missingness.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heatmap reveals that the Cabin column is mostly missing, while the Age column despite its missing entries is still manageable.</a:t>
            </a:r>
          </a:p>
        </p:txBody>
      </p:sp>
      <p:pic>
        <p:nvPicPr>
          <p:cNvPr id="4" name="Picture 3">
            <a:extLst>
              <a:ext uri="{FF2B5EF4-FFF2-40B4-BE49-F238E27FC236}">
                <a16:creationId xmlns:a16="http://schemas.microsoft.com/office/drawing/2014/main" id="{30A3A43D-5704-8DB6-49FD-71D8C8730BA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324163" y="2273676"/>
            <a:ext cx="5720650" cy="3676521"/>
          </a:xfrm>
          <a:prstGeom prst="rect">
            <a:avLst/>
          </a:prstGeom>
          <a:ln>
            <a:noFill/>
          </a:ln>
          <a:effectLst>
            <a:outerShdw blurRad="292100" dist="139700" dir="2700000" algn="tl" rotWithShape="0">
              <a:srgbClr val="333333">
                <a:alpha val="65000"/>
              </a:srgbClr>
            </a:outerShdw>
          </a:effectLst>
        </p:spPr>
      </p:pic>
      <p:pic>
        <p:nvPicPr>
          <p:cNvPr id="11" name="Picture 10" descr="A white paper with black text&#10;&#10;AI-generated content may be incorrect.">
            <a:extLst>
              <a:ext uri="{FF2B5EF4-FFF2-40B4-BE49-F238E27FC236}">
                <a16:creationId xmlns:a16="http://schemas.microsoft.com/office/drawing/2014/main" id="{32574875-BAD3-89B3-F737-51D3924785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3112" y="3024456"/>
            <a:ext cx="1480802" cy="29161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8288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DC5615-960B-F209-9C6B-91EEA16F98EC}"/>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2DDD5D60-7AE2-40F2-1BBD-1D110B7253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FD4086D6-A8B3-B1FD-7D01-BC41C16B3E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DA245E2-4A73-FE6F-38DA-4F9254DA8B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EE99D2A4-70F9-75D1-08B1-46C4E96D23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17EFBED3-1663-10B0-C4BA-4AF903333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6FB80B51-F198-1EE9-7682-DDAEB4462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14884E25-9E1E-D2F3-06C5-F73B97E32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7F1A560E-F92B-E7A1-2783-D559393C8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046AE173-FBBE-F4DE-BF53-A2F917B17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69ACE105-39BF-3425-F270-097CBC0C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99312E5C-0372-E668-C677-A5E14AF8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23A84336-FCBF-1BB7-1AE6-79BB7D4C6FE9}"/>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20</a:t>
            </a:fld>
            <a:endParaRPr lang="en-US"/>
          </a:p>
        </p:txBody>
      </p:sp>
      <p:pic>
        <p:nvPicPr>
          <p:cNvPr id="10" name="Picture 9" descr="A blue and yellow logo&#10;&#10;AI-generated content may be incorrect.">
            <a:extLst>
              <a:ext uri="{FF2B5EF4-FFF2-40B4-BE49-F238E27FC236}">
                <a16:creationId xmlns:a16="http://schemas.microsoft.com/office/drawing/2014/main" id="{4CFEF585-4D1A-DF13-381B-A244672A6A17}"/>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D5317F61-701A-F22E-3C83-E7551DB4ECF5}"/>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1AC20F19-3902-A4C6-FD0E-3BBBC83D4D97}"/>
              </a:ext>
            </a:extLst>
          </p:cNvPr>
          <p:cNvGrpSpPr/>
          <p:nvPr/>
        </p:nvGrpSpPr>
        <p:grpSpPr>
          <a:xfrm>
            <a:off x="213756" y="1383370"/>
            <a:ext cx="12540710"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B60A6891-6B3F-9F64-CE53-8ABD50267F42}"/>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64F86020-226D-6939-735D-3FBB85D44388}"/>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3: Key Univariate Visualizations</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075E6255-A85E-F090-AFC0-6DA70D1FFC7B}"/>
              </a:ext>
            </a:extLst>
          </p:cNvPr>
          <p:cNvSpPr txBox="1"/>
          <p:nvPr/>
        </p:nvSpPr>
        <p:spPr>
          <a:xfrm>
            <a:off x="224366" y="1852760"/>
            <a:ext cx="11789961" cy="1569660"/>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Distribution of Survival: A higher number of passengers perished.</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Age Distribution: The majority of passengers were in the 20-40 age range.</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Distribution of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Third class is the majority.</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plots indicate a possible correlation between Age, class and Survival. </a:t>
            </a:r>
          </a:p>
        </p:txBody>
      </p:sp>
      <p:pic>
        <p:nvPicPr>
          <p:cNvPr id="4" name="Picture 3">
            <a:extLst>
              <a:ext uri="{FF2B5EF4-FFF2-40B4-BE49-F238E27FC236}">
                <a16:creationId xmlns:a16="http://schemas.microsoft.com/office/drawing/2014/main" id="{552E2BEA-684E-0D2B-A7B5-6DD5B6ABD08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17417" y="3465513"/>
            <a:ext cx="3378857" cy="262800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6A0D75B-3DC3-62DC-6BB4-E3ADBDD442F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52675" y="3493932"/>
            <a:ext cx="3406248" cy="2628000"/>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A251B1A-9617-87E5-B542-EFF04AC991F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447169" y="3493932"/>
            <a:ext cx="3297661" cy="262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68681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B3FD6F-326E-4499-DCE1-B42B77A3849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B4D0130D-5B7C-EA41-6806-B793044A25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25AE023A-174F-7102-6802-A6ECC685D6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6B203CC-760E-3CBA-EA44-31F6C678AB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B1E20BE2-3895-48CC-0EB3-B4B84EE36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55F5D54E-7BAC-E4C7-DB10-8C513EA47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0F6075C9-5218-3160-883E-BF3B309F7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8B60BD48-87CE-EB73-98C6-0381E94EB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863E295E-0D8B-5D89-178C-EA925C1794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83E45BA6-9DC6-3F47-3914-704D429FF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B48800F6-B40E-4FBC-945C-59532F874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B88BF7AF-7B78-E5A4-686B-E72F01609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1ECF4D34-117B-7F99-0BD7-EBD701113668}"/>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21</a:t>
            </a:fld>
            <a:endParaRPr lang="en-US"/>
          </a:p>
        </p:txBody>
      </p:sp>
      <p:pic>
        <p:nvPicPr>
          <p:cNvPr id="10" name="Picture 9" descr="A blue and yellow logo&#10;&#10;AI-generated content may be incorrect.">
            <a:extLst>
              <a:ext uri="{FF2B5EF4-FFF2-40B4-BE49-F238E27FC236}">
                <a16:creationId xmlns:a16="http://schemas.microsoft.com/office/drawing/2014/main" id="{B4DCBFCB-94D8-60DA-B141-ACF31E7F0018}"/>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20172C7C-3450-1A00-C454-11B16E04717B}"/>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8891186B-ADB4-810F-5B16-9F55A6D63B0C}"/>
              </a:ext>
            </a:extLst>
          </p:cNvPr>
          <p:cNvGrpSpPr/>
          <p:nvPr/>
        </p:nvGrpSpPr>
        <p:grpSpPr>
          <a:xfrm>
            <a:off x="213756" y="1383370"/>
            <a:ext cx="12540710"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E9EF17E0-62AF-0F79-3313-B9AD5B931E51}"/>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F49A298F-E44F-C5E8-2B06-027AD34FA7B9}"/>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3: Patterns of Survival by Group</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C792BE6C-82A4-6750-3A3F-D92F8D9EDD71}"/>
              </a:ext>
            </a:extLst>
          </p:cNvPr>
          <p:cNvSpPr txBox="1"/>
          <p:nvPr/>
        </p:nvSpPr>
        <p:spPr>
          <a:xfrm>
            <a:off x="224367" y="1852760"/>
            <a:ext cx="4149700" cy="3416320"/>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Sex: The survival rate was considerably higher for females.</a:t>
            </a:r>
          </a:p>
          <a:p>
            <a:pPr marL="342900" indent="-342900">
              <a:buFont typeface="Wingdings" panose="05000000000000000000" pitchFamily="2" charset="2"/>
              <a:buChar char="Ø"/>
            </a:pP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The highest survival rate was seen among 1</a:t>
            </a:r>
            <a:r>
              <a:rPr lang="en-US" sz="2400" baseline="30000" dirty="0">
                <a:latin typeface="Calibri Light" panose="020F0302020204030204" pitchFamily="34" charset="0"/>
                <a:cs typeface="Calibri Light" panose="020F0302020204030204" pitchFamily="34" charset="0"/>
              </a:rPr>
              <a:t>st</a:t>
            </a:r>
            <a:r>
              <a:rPr lang="en-US" sz="2400" dirty="0">
                <a:latin typeface="Calibri Light" panose="020F0302020204030204" pitchFamily="34" charset="0"/>
                <a:cs typeface="Calibri Light" panose="020F0302020204030204" pitchFamily="34" charset="0"/>
              </a:rPr>
              <a:t> class passengers.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plots suggest that class and sex are powerful predictors of survival.</a:t>
            </a:r>
          </a:p>
        </p:txBody>
      </p:sp>
      <p:pic>
        <p:nvPicPr>
          <p:cNvPr id="12" name="Picture 11">
            <a:extLst>
              <a:ext uri="{FF2B5EF4-FFF2-40B4-BE49-F238E27FC236}">
                <a16:creationId xmlns:a16="http://schemas.microsoft.com/office/drawing/2014/main" id="{E52DCE16-E08E-DFF5-FF1D-21293C9DB75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272619" y="2432114"/>
            <a:ext cx="3854809" cy="3675885"/>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774646CA-4071-E1D5-7412-1AFBC48E3B3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255007" y="2432114"/>
            <a:ext cx="3854553" cy="36758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13763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BEE76D-DBE3-5416-B616-22E23F817D6F}"/>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B6025362-9712-E882-C38E-60C8FD6D20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80968465-F6AE-F3D2-AAF0-5D94EFAF42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535FF10-546A-D621-481A-DEDCCF3242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9C5DEAEE-086B-EC1F-3375-BB83B1D5B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287B5165-56A6-02EC-93AD-816CCBD68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BEE59D88-E228-E5D2-9739-5FCCAC188F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8D5E9AFA-FC4D-F1A5-080F-C11E2B8F1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B670F3D5-03D5-A8E0-450D-93D8A1C22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81E1855A-2DF3-DF16-C526-C585A2A27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8E49FB13-FEBF-00D6-CBC9-1014C2BD3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DF7C62CF-3A40-CA46-7810-02CBA940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B3CB4ED8-9A22-0AB6-B96F-AFF62BC4700F}"/>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22</a:t>
            </a:fld>
            <a:endParaRPr lang="en-US"/>
          </a:p>
        </p:txBody>
      </p:sp>
      <p:pic>
        <p:nvPicPr>
          <p:cNvPr id="10" name="Picture 9" descr="A blue and yellow logo&#10;&#10;AI-generated content may be incorrect.">
            <a:extLst>
              <a:ext uri="{FF2B5EF4-FFF2-40B4-BE49-F238E27FC236}">
                <a16:creationId xmlns:a16="http://schemas.microsoft.com/office/drawing/2014/main" id="{EF5D482D-31DB-1DF7-D55B-54A15F454090}"/>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236A4821-EEAE-6732-9801-AC0D79CAD8E9}"/>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D54C637D-7438-D095-FA97-C1C178036A29}"/>
              </a:ext>
            </a:extLst>
          </p:cNvPr>
          <p:cNvGrpSpPr/>
          <p:nvPr/>
        </p:nvGrpSpPr>
        <p:grpSpPr>
          <a:xfrm>
            <a:off x="213756" y="1383370"/>
            <a:ext cx="12540710"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2E2BE05F-F74D-A95B-EC22-F8C52F67D129}"/>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206F4035-70A5-2B4D-F512-FB599F6DC7DD}"/>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3: Examining Fare &amp; Age</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17361B0D-AA81-52AF-69E4-8A392AAB9066}"/>
              </a:ext>
            </a:extLst>
          </p:cNvPr>
          <p:cNvSpPr txBox="1"/>
          <p:nvPr/>
        </p:nvSpPr>
        <p:spPr>
          <a:xfrm>
            <a:off x="224367" y="1852760"/>
            <a:ext cx="4149700" cy="3416320"/>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Boxplot (Age vs Survived): Younger people were more likely to have survived.</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Scatter (Age vs Fare): Survival is frequently associated with higher fares.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Conclusion: The likelihood of survival is correlated with both Age and Fare.</a:t>
            </a:r>
          </a:p>
        </p:txBody>
      </p:sp>
      <p:pic>
        <p:nvPicPr>
          <p:cNvPr id="12" name="Picture 11">
            <a:extLst>
              <a:ext uri="{FF2B5EF4-FFF2-40B4-BE49-F238E27FC236}">
                <a16:creationId xmlns:a16="http://schemas.microsoft.com/office/drawing/2014/main" id="{255355D5-9B06-1631-9C94-F7D1ED933E0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323686" y="2220597"/>
            <a:ext cx="3854809" cy="3901335"/>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31D15EB4-2678-9BAB-634B-8680F05BCB7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255007" y="2220597"/>
            <a:ext cx="3854553" cy="39013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05831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689F50-EAB1-AB99-0A49-0E2D29E4276C}"/>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C2728E78-8AC1-D82C-5DB9-6190AA20E0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0155B0F3-6D69-BDD8-C44E-8A3EB6A7FF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9E58379-6C15-CAA2-1C76-54718E5223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0D66AC5E-41B4-C278-1DB3-BD550DB04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F4E36BD2-6CEF-5330-1801-D2B7A7A86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B7F70DF0-B45C-B3F6-A2B6-23EE4919D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B0041339-A4D4-8033-F906-F9433D5B5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76595AA2-7381-4756-53A2-FE74721CD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CAF45DEC-8E68-0C43-51CD-F43B55DBD2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7AD2F365-462C-0B1F-C44A-344587DB5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3EA709A3-19D1-CE35-6571-A41E258344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34B45EA2-79C7-5F2B-44A6-44A8DDF12E3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23</a:t>
            </a:fld>
            <a:endParaRPr lang="en-US"/>
          </a:p>
        </p:txBody>
      </p:sp>
      <p:pic>
        <p:nvPicPr>
          <p:cNvPr id="10" name="Picture 9" descr="A blue and yellow logo&#10;&#10;AI-generated content may be incorrect.">
            <a:extLst>
              <a:ext uri="{FF2B5EF4-FFF2-40B4-BE49-F238E27FC236}">
                <a16:creationId xmlns:a16="http://schemas.microsoft.com/office/drawing/2014/main" id="{A4951D5B-4216-1750-0203-5586ACF759E8}"/>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AD070AFB-F95C-E529-3CD3-4E153BFE807B}"/>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EAFB4A38-7A6B-AA17-AFA5-0F0E551AA9B6}"/>
              </a:ext>
            </a:extLst>
          </p:cNvPr>
          <p:cNvGrpSpPr/>
          <p:nvPr/>
        </p:nvGrpSpPr>
        <p:grpSpPr>
          <a:xfrm>
            <a:off x="213756" y="1383370"/>
            <a:ext cx="12540710"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A6A4CB3C-362F-E24F-DEAC-30022C6ACC21}"/>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A7ACD50F-423E-F98E-CA8A-0B43FE4258FF}"/>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3: Feature Correlation Heatmap</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6118EDFC-ED8B-C5DD-DD28-F9DD06D22896}"/>
              </a:ext>
            </a:extLst>
          </p:cNvPr>
          <p:cNvSpPr txBox="1"/>
          <p:nvPr/>
        </p:nvSpPr>
        <p:spPr>
          <a:xfrm>
            <a:off x="224367" y="1852760"/>
            <a:ext cx="4903814" cy="3046988"/>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heatmap visualizes correlations between numerical features.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Sex, Fare, and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features exhibit a strong relationship with the Survived feature.</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Therefore, the most predictive features for survival are Fare,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and Sex. </a:t>
            </a:r>
          </a:p>
        </p:txBody>
      </p:sp>
      <p:pic>
        <p:nvPicPr>
          <p:cNvPr id="14" name="Picture 13">
            <a:extLst>
              <a:ext uri="{FF2B5EF4-FFF2-40B4-BE49-F238E27FC236}">
                <a16:creationId xmlns:a16="http://schemas.microsoft.com/office/drawing/2014/main" id="{3F666C80-3D81-AA2D-E1E5-006596D4652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623070" y="1903036"/>
            <a:ext cx="6023973" cy="41120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8519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5E6198-76AE-D100-EE94-90CA0C8CCA7C}"/>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A571D352-7174-1843-E69B-F7B52B92E1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7CFBA000-00C7-61DC-E412-0061F98D6C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A3F03B2-CA7A-DE16-CD8F-90CD009285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D06A8766-B211-B7EB-90E4-A0E3D075B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A31A7CCA-3239-2183-2AA9-367DA3395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8825CA6C-4626-5AF3-6009-F6C085BC5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DA3ED600-F77F-8623-CBFA-E3F5B3CD2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A6737CAE-FED1-507E-CE85-635452603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35DE20A7-26D8-67DB-21B5-59B4D8C7E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2B90C782-7E37-E5CF-0367-6C15EADE4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456814FA-42A8-CA0C-7979-0264C4EA48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E8DD6550-359E-B017-A06B-28A7B569C6E8}"/>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24</a:t>
            </a:fld>
            <a:endParaRPr lang="en-US"/>
          </a:p>
        </p:txBody>
      </p:sp>
      <p:pic>
        <p:nvPicPr>
          <p:cNvPr id="10" name="Picture 9" descr="A blue and yellow logo&#10;&#10;AI-generated content may be incorrect.">
            <a:extLst>
              <a:ext uri="{FF2B5EF4-FFF2-40B4-BE49-F238E27FC236}">
                <a16:creationId xmlns:a16="http://schemas.microsoft.com/office/drawing/2014/main" id="{EF2E934B-CD42-5E50-EF0C-082B178C788D}"/>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6EEEDAB2-EB61-AF63-735B-DCDE795DB711}"/>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EAB52968-826A-E9C5-987D-B2A005C99EAE}"/>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65828697-5C77-BF41-E44B-3B792E6EDAB2}"/>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46CB8932-51D2-E0BC-BCB1-4319319D90C8}"/>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3: Conclusions – Exploratory Data Analysis Key Insights </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F70A5C69-ACE0-8FDA-ED40-1C2BFDCA856F}"/>
              </a:ext>
            </a:extLst>
          </p:cNvPr>
          <p:cNvSpPr txBox="1"/>
          <p:nvPr/>
        </p:nvSpPr>
        <p:spPr>
          <a:xfrm>
            <a:off x="142299" y="1935708"/>
            <a:ext cx="11701182" cy="4154984"/>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survival rates of women and 1</a:t>
            </a:r>
            <a:r>
              <a:rPr lang="en-US" sz="2400" baseline="30000" dirty="0">
                <a:latin typeface="Calibri Light" panose="020F0302020204030204" pitchFamily="34" charset="0"/>
                <a:cs typeface="Calibri Light" panose="020F0302020204030204" pitchFamily="34" charset="0"/>
              </a:rPr>
              <a:t>st</a:t>
            </a:r>
            <a:r>
              <a:rPr lang="en-US" sz="2400" dirty="0">
                <a:latin typeface="Calibri Light" panose="020F0302020204030204" pitchFamily="34" charset="0"/>
                <a:cs typeface="Calibri Light" panose="020F0302020204030204" pitchFamily="34" charset="0"/>
              </a:rPr>
              <a:t> class passengers were noticeably higher, confirming historical accounts and emphasizing the influence of gender roles and social hierarchy on survival outcomes.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Age and Fare distributions clearly show that survivors were slightly younger on average and paid higher fares than non-survivors.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Age, </a:t>
            </a:r>
            <a:r>
              <a:rPr lang="en-US" sz="2400" dirty="0" err="1">
                <a:latin typeface="Calibri Light" panose="020F0302020204030204" pitchFamily="34" charset="0"/>
                <a:cs typeface="Calibri Light" panose="020F0302020204030204" pitchFamily="34" charset="0"/>
              </a:rPr>
              <a:t>Pclass</a:t>
            </a:r>
            <a:r>
              <a:rPr lang="en-US" sz="2400" dirty="0">
                <a:latin typeface="Calibri Light" panose="020F0302020204030204" pitchFamily="34" charset="0"/>
                <a:cs typeface="Calibri Light" panose="020F0302020204030204" pitchFamily="34" charset="0"/>
              </a:rPr>
              <a:t>, and Sex are the most significant characteristics, consistently demonstrating a high degree of separation between outcome groups in all visualizations.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These patterns demonstrate that Exploratory Data Analysis, or EDA, not only supports intuition but also identifies significant patterns that guide the development of models.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Full </a:t>
            </a:r>
            <a:r>
              <a:rPr lang="en-US" sz="2400" dirty="0" err="1">
                <a:latin typeface="Calibri Light" panose="020F0302020204030204" pitchFamily="34" charset="0"/>
                <a:cs typeface="Calibri Light" panose="020F0302020204030204" pitchFamily="34" charset="0"/>
              </a:rPr>
              <a:t>colab</a:t>
            </a:r>
            <a:r>
              <a:rPr lang="en-US" sz="2400" dirty="0">
                <a:latin typeface="Calibri Light" panose="020F0302020204030204" pitchFamily="34" charset="0"/>
                <a:cs typeface="Calibri Light" panose="020F0302020204030204" pitchFamily="34" charset="0"/>
              </a:rPr>
              <a:t> notebook:</a:t>
            </a:r>
          </a:p>
          <a:p>
            <a:r>
              <a:rPr lang="en-US" sz="2400" dirty="0">
                <a:latin typeface="Calibri Light" panose="020F0302020204030204" pitchFamily="34" charset="0"/>
                <a:cs typeface="Calibri Light" panose="020F0302020204030204" pitchFamily="34" charset="0"/>
                <a:hlinkClick r:id="rId4"/>
              </a:rPr>
              <a:t>https://colab.research.google.com/drive/1yFIhd2RIgC0jDg749dR1PqGtAxX0uYp4?usp=sharing</a:t>
            </a: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059726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17B1AB-BD0B-CB4A-922C-D3964CE2AD1D}"/>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63463B3F-5592-FB31-68AD-4D142F3655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D798898E-E995-E32F-F213-6C271C7FB1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D4CD4AC-932D-EA83-7CB7-A3B585CE02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E06C56C6-3790-3CEB-8512-1C6D5E818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311AEAAF-665A-6F2D-8A46-77C0EB14C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2B7F1996-94D8-AD99-37FD-099788F0C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51957A2D-D94C-A3CD-C494-FFDB962BD9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49D0F6FE-048B-A41C-1BF3-F481331AD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07E5D8F3-AF67-CD48-E88A-3A28D1F3B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2C7BC217-9010-6323-B8AD-F7D88AEFAE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06368C77-6FC3-667C-DFDC-9027533D97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59A2F4C9-6D5C-028E-51AA-197F4BEE0AAA}"/>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25</a:t>
            </a:fld>
            <a:endParaRPr lang="en-US"/>
          </a:p>
        </p:txBody>
      </p:sp>
      <p:pic>
        <p:nvPicPr>
          <p:cNvPr id="10" name="Picture 9" descr="A blue and yellow logo&#10;&#10;AI-generated content may be incorrect.">
            <a:extLst>
              <a:ext uri="{FF2B5EF4-FFF2-40B4-BE49-F238E27FC236}">
                <a16:creationId xmlns:a16="http://schemas.microsoft.com/office/drawing/2014/main" id="{441F3CFA-8099-A068-A50D-A51B3D25A68C}"/>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13BCE500-6B74-8C24-104F-A49A8F7736A5}"/>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00CB0B2D-4DC9-F374-12CF-2B1AB14138D5}"/>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B5D28D96-06BA-09E6-880B-33D3A7A0FC60}"/>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01F333A2-DA4C-6EBE-CCE7-B339D4B5EE24}"/>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Analyzing Airbnb Listings Using MongoDB Atlas </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7F4E526F-9BD1-96F6-CBFD-67FEE8C948F6}"/>
              </a:ext>
            </a:extLst>
          </p:cNvPr>
          <p:cNvSpPr txBox="1"/>
          <p:nvPr/>
        </p:nvSpPr>
        <p:spPr>
          <a:xfrm>
            <a:off x="142299" y="1935708"/>
            <a:ext cx="11701182"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Objective: Utilize NoSQL queries to retrieve, analyze, and export data.</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Dataset: Sample Airbnb dataset provided by MongoDB Atlas (approximately 7000 listings).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Platform: MongoDB Atlas, a fully managed cloud NoSQL database service.</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Methodology:</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Utilize the GUI tool MongoDB Compass to work with the data.</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Run filtering queries and aggregation pipelines.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Export relevant query results for reporting.</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For flexible and unstructured datasets like Airbnb listings, MongoDB Atlas offers scalable, cloud-based NoSQL data storage and robust querying.</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9483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A27BA2-3AF1-6582-82C7-BC2DE46D00A0}"/>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DA7390AE-BB2E-F383-19DB-739C1E33B1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29906BA3-8E67-C8D4-9A3C-4A90B731958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D332D89-CCAB-ABA6-5AB1-D9C9C5D0E0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D30B0C22-64E3-BC01-DD27-24C0714DEA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E97D6F7B-79D5-665D-7D1B-EC61C799A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F03B8CB0-EA74-82A6-D146-9F6F6774B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630823AF-0511-1B74-7DF9-B857514C8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46579C05-ACA6-59F8-7BAB-38CF5634B5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5CB4494A-A10C-F673-5D7D-1C97957220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982AC697-B329-D6E1-3F79-4157BDCF9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C26696B9-286F-27FE-AAB2-D745D9D97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65BDFDC1-F191-0874-84C5-E00712FAF261}"/>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26</a:t>
            </a:fld>
            <a:endParaRPr lang="en-US"/>
          </a:p>
        </p:txBody>
      </p:sp>
      <p:pic>
        <p:nvPicPr>
          <p:cNvPr id="10" name="Picture 9" descr="A blue and yellow logo&#10;&#10;AI-generated content may be incorrect.">
            <a:extLst>
              <a:ext uri="{FF2B5EF4-FFF2-40B4-BE49-F238E27FC236}">
                <a16:creationId xmlns:a16="http://schemas.microsoft.com/office/drawing/2014/main" id="{A76819CF-6DE1-7B7B-E5CE-7B4731422FA6}"/>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4AEB71FF-25D3-9659-6C9D-5FA14C4E4B6D}"/>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BD00CF63-E7DA-03DD-186A-31135D61D708}"/>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67756B82-6748-9B14-B270-8F8EFCFE4DBE}"/>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8B20E129-3CEB-DC2D-F860-F5007ED927FC}"/>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MongoDB Atlas - Airbnb Dataset </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639E760D-1709-B570-04A6-71D0355D34C4}"/>
              </a:ext>
            </a:extLst>
          </p:cNvPr>
          <p:cNvSpPr txBox="1"/>
          <p:nvPr/>
        </p:nvSpPr>
        <p:spPr>
          <a:xfrm>
            <a:off x="145473" y="1698045"/>
            <a:ext cx="11969181" cy="4893647"/>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MongoDB Atlas: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Cloud-hosted database as a service.</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Supports data storage that is document-based (similar to JSON) (</a:t>
            </a:r>
            <a:r>
              <a:rPr lang="en-US" sz="2400" b="0" dirty="0" err="1">
                <a:solidFill>
                  <a:srgbClr val="222222"/>
                </a:solidFill>
                <a:effectLst/>
                <a:latin typeface="Calibri Light" panose="020F0302020204030204" pitchFamily="34" charset="0"/>
                <a:cs typeface="Calibri Light" panose="020F0302020204030204" pitchFamily="34" charset="0"/>
              </a:rPr>
              <a:t>Győrödi</a:t>
            </a:r>
            <a:r>
              <a:rPr lang="en-US" sz="2400" b="0" dirty="0">
                <a:solidFill>
                  <a:srgbClr val="222222"/>
                </a:solidFill>
                <a:effectLst/>
                <a:latin typeface="Calibri Light" panose="020F0302020204030204" pitchFamily="34" charset="0"/>
                <a:cs typeface="Calibri Light" panose="020F0302020204030204" pitchFamily="34" charset="0"/>
              </a:rPr>
              <a:t> et al., 2022)</a:t>
            </a:r>
            <a:r>
              <a:rPr lang="en-US" sz="2400" dirty="0">
                <a:latin typeface="Calibri Light" panose="020F0302020204030204" pitchFamily="34" charset="0"/>
                <a:cs typeface="Calibri Light" panose="020F0302020204030204" pitchFamily="34" charset="0"/>
              </a:rPr>
              <a:t>.</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Features include analytics, integrations, indexing, aggregation, and clustering.</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For this project, accessed through the MongoDB Compass GUI.</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Airbnb Dataset (MongoDB Atlas sample dataset):</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Dataset name: </a:t>
            </a:r>
            <a:r>
              <a:rPr lang="en-US" sz="2400" dirty="0" err="1">
                <a:latin typeface="Calibri Light" panose="020F0302020204030204" pitchFamily="34" charset="0"/>
                <a:cs typeface="Calibri Light" panose="020F0302020204030204" pitchFamily="34" charset="0"/>
              </a:rPr>
              <a:t>sample_Airbnb.listingsAndReviews</a:t>
            </a:r>
            <a:endParaRPr lang="en-US" sz="2400" dirty="0">
              <a:latin typeface="Calibri Light" panose="020F0302020204030204" pitchFamily="34" charset="0"/>
              <a:cs typeface="Calibri Light" panose="020F0302020204030204" pitchFamily="34" charset="0"/>
            </a:endParaRP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Structure: approximately 7000 entries, document-oriented.</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It includes fields like </a:t>
            </a:r>
            <a:r>
              <a:rPr lang="en-US" sz="2400" dirty="0" err="1">
                <a:latin typeface="Calibri Light" panose="020F0302020204030204" pitchFamily="34" charset="0"/>
                <a:cs typeface="Calibri Light" panose="020F0302020204030204" pitchFamily="34" charset="0"/>
              </a:rPr>
              <a:t>property_type</a:t>
            </a:r>
            <a:r>
              <a:rPr lang="en-US" sz="2400" dirty="0">
                <a:latin typeface="Calibri Light" panose="020F0302020204030204" pitchFamily="34" charset="0"/>
                <a:cs typeface="Calibri Light" panose="020F0302020204030204" pitchFamily="34" charset="0"/>
              </a:rPr>
              <a:t>, </a:t>
            </a:r>
            <a:r>
              <a:rPr lang="en-US" sz="2400" dirty="0" err="1">
                <a:latin typeface="Calibri Light" panose="020F0302020204030204" pitchFamily="34" charset="0"/>
                <a:cs typeface="Calibri Light" panose="020F0302020204030204" pitchFamily="34" charset="0"/>
              </a:rPr>
              <a:t>bed_type</a:t>
            </a:r>
            <a:r>
              <a:rPr lang="en-US" sz="2400" dirty="0">
                <a:latin typeface="Calibri Light" panose="020F0302020204030204" pitchFamily="34" charset="0"/>
                <a:cs typeface="Calibri Light" panose="020F0302020204030204" pitchFamily="34" charset="0"/>
              </a:rPr>
              <a:t>, price, beds, </a:t>
            </a:r>
            <a:r>
              <a:rPr lang="en-US" sz="2400" dirty="0" err="1">
                <a:latin typeface="Calibri Light" panose="020F0302020204030204" pitchFamily="34" charset="0"/>
                <a:cs typeface="Calibri Light" panose="020F0302020204030204" pitchFamily="34" charset="0"/>
              </a:rPr>
              <a:t>room_type</a:t>
            </a:r>
            <a:r>
              <a:rPr lang="en-US" sz="2400" dirty="0">
                <a:latin typeface="Calibri Light" panose="020F0302020204030204" pitchFamily="34" charset="0"/>
                <a:cs typeface="Calibri Light" panose="020F0302020204030204" pitchFamily="34" charset="0"/>
              </a:rPr>
              <a:t>, address, </a:t>
            </a:r>
            <a:r>
              <a:rPr lang="en-US" sz="2400" dirty="0" err="1">
                <a:latin typeface="Calibri Light" panose="020F0302020204030204" pitchFamily="34" charset="0"/>
                <a:cs typeface="Calibri Light" panose="020F0302020204030204" pitchFamily="34" charset="0"/>
              </a:rPr>
              <a:t>review_scores</a:t>
            </a:r>
            <a:r>
              <a:rPr lang="en-US" sz="2400" dirty="0">
                <a:latin typeface="Calibri Light" panose="020F0302020204030204" pitchFamily="34" charset="0"/>
                <a:cs typeface="Calibri Light" panose="020F0302020204030204" pitchFamily="34" charset="0"/>
              </a:rPr>
              <a:t>, etc.</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Rich, nested structure that is appropriate for practicing queries in the real world (</a:t>
            </a:r>
            <a:r>
              <a:rPr lang="en-US" sz="2400" b="0" i="0" dirty="0">
                <a:solidFill>
                  <a:srgbClr val="222222"/>
                </a:solidFill>
                <a:effectLst/>
                <a:latin typeface="Calibri Light" panose="020F0302020204030204" pitchFamily="34" charset="0"/>
                <a:cs typeface="Calibri Light" panose="020F0302020204030204" pitchFamily="34" charset="0"/>
              </a:rPr>
              <a:t>Harrison and Harrison, 2021)</a:t>
            </a:r>
            <a:r>
              <a:rPr lang="en-US" sz="2400" dirty="0">
                <a:latin typeface="Calibri Light" panose="020F0302020204030204" pitchFamily="34" charset="0"/>
                <a:cs typeface="Calibri Light" panose="020F0302020204030204" pitchFamily="34" charset="0"/>
              </a:rPr>
              <a:t>.</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40677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33D506-323F-C50E-DEEC-1AF0F1592341}"/>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EE0ABDA3-8E03-7797-05E1-032FC9D0B9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35506DA9-4E58-B37E-EA22-DE773049F0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B724307-266F-D139-24D7-D2331F38D0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52DF6C3E-F81F-0BAF-1EEF-09D8CFCA7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09589D33-FB83-00E8-7F43-C9E9E0064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66BAFC22-79FB-3DD3-8D6E-F3E65132E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DA08E00E-7A91-056A-8F08-7A8858229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A18731F7-8F1E-3EE1-E74E-4C3B9C33F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7409CE2B-74D3-90C8-EB46-DEEED68F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6BD20075-F196-A6FA-CD2E-0C492CABA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A04BDC9A-C7E3-2A11-01BB-20B98A60C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6159F39E-8FD6-357E-C3E1-22D275473967}"/>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27</a:t>
            </a:fld>
            <a:endParaRPr lang="en-US"/>
          </a:p>
        </p:txBody>
      </p:sp>
      <p:pic>
        <p:nvPicPr>
          <p:cNvPr id="10" name="Picture 9" descr="A blue and yellow logo&#10;&#10;AI-generated content may be incorrect.">
            <a:extLst>
              <a:ext uri="{FF2B5EF4-FFF2-40B4-BE49-F238E27FC236}">
                <a16:creationId xmlns:a16="http://schemas.microsoft.com/office/drawing/2014/main" id="{CDA9813B-1F36-4AAF-B6E9-94AA3531D83C}"/>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BDA12F34-6087-C42F-2DE2-1519B2E8F6CD}"/>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65EC34F9-350C-6525-913A-31CA6B153E1F}"/>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1D5D31F6-615D-0213-D8C9-0FF1D2C619C2}"/>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CC2301DF-B986-66C2-9707-E7E0B8F712D7}"/>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MongoDB Atlas Environment Setup</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F980938D-C793-039A-C3B5-58651BCB356C}"/>
              </a:ext>
            </a:extLst>
          </p:cNvPr>
          <p:cNvSpPr txBox="1"/>
          <p:nvPr/>
        </p:nvSpPr>
        <p:spPr>
          <a:xfrm>
            <a:off x="145473" y="1882172"/>
            <a:ext cx="11972355" cy="378565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MongoDB Atlas Setup:</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Using the Atlas dashboard, a free cloud cluster was created and put online.</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Using Atlas’s “Load Sample Data” function the sample dataset was loaded directly.</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MongoDB Compass (GUI):</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Used to aggregate, filter, and visually explore data.</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Through the GUI query builder, interactions were either minimal or code-free.</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benefits of this Setup:</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A realistic representation of querying in a real-world NoSQL setting.</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Perfect for nested or non-tabular datasets where adaptability is essential.</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52663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2CC45-FB7D-608B-95AC-EEA0BDB30158}"/>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8BE2EAE0-AC3B-F75C-278D-D725EBAD4C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E011327D-FFC5-0737-3456-9A714301B53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ABA3576-F317-AF6E-75A0-1698B1C31FF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7CCAAC3D-C865-8072-AEB2-E5833CE59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A84E6A04-70CE-8979-A48D-284C6606B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93621BFA-C03B-FA2C-EBF2-8630F63D2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A21CA9C9-85DD-8FDF-0409-1137B3EF6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8655EBFA-511D-DC6D-8C3C-A5DBC786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881F6995-B4EB-FF0F-A819-B82B6091D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AD98CDAA-2EC2-0731-1610-AB3EAFE63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6CF91E10-D009-CFC1-EC0B-1FF537BC2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953E0707-4B64-1454-D5E2-BD6C3753C79B}"/>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28</a:t>
            </a:fld>
            <a:endParaRPr lang="en-US"/>
          </a:p>
        </p:txBody>
      </p:sp>
      <p:pic>
        <p:nvPicPr>
          <p:cNvPr id="10" name="Picture 9" descr="A blue and yellow logo&#10;&#10;AI-generated content may be incorrect.">
            <a:extLst>
              <a:ext uri="{FF2B5EF4-FFF2-40B4-BE49-F238E27FC236}">
                <a16:creationId xmlns:a16="http://schemas.microsoft.com/office/drawing/2014/main" id="{40B5B75B-F947-0B84-0BAC-C04B74618F6F}"/>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A1096009-58BC-9D38-F7E5-A9986AC16598}"/>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B41A48D7-6E2E-9806-18A3-21EDA7A9E27D}"/>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C710C2AD-9B83-EBB4-7BBE-3C117FD8FCDD}"/>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51263471-23D9-0041-099F-EB82EF1CCB16}"/>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Query 1 – Property Type Summary</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2B426D83-DDDA-694B-9DB3-279FAF4D5910}"/>
              </a:ext>
            </a:extLst>
          </p:cNvPr>
          <p:cNvSpPr txBox="1"/>
          <p:nvPr/>
        </p:nvSpPr>
        <p:spPr>
          <a:xfrm>
            <a:off x="145473" y="1882172"/>
            <a:ext cx="11972355" cy="452431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Query Objective: Group listings by </a:t>
            </a:r>
            <a:r>
              <a:rPr lang="en-US" sz="2400" dirty="0" err="1">
                <a:latin typeface="Calibri Light" panose="020F0302020204030204" pitchFamily="34" charset="0"/>
                <a:cs typeface="Calibri Light" panose="020F0302020204030204" pitchFamily="34" charset="0"/>
              </a:rPr>
              <a:t>property_type</a:t>
            </a:r>
            <a:r>
              <a:rPr lang="en-US" sz="2400" dirty="0">
                <a:latin typeface="Calibri Light" panose="020F0302020204030204" pitchFamily="34" charset="0"/>
                <a:cs typeface="Calibri Light" panose="020F0302020204030204" pitchFamily="34" charset="0"/>
              </a:rPr>
              <a:t>, displaying count and average price for each category.</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Observations: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The query identifies the most prevalent kinds of properties (e.g., Condos, Apartments).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It demonstrates how pricing varies across property types.</a:t>
            </a:r>
          </a:p>
          <a:p>
            <a:endParaRPr lang="en-US" sz="2400" dirty="0">
              <a:latin typeface="Calibri Light" panose="020F0302020204030204" pitchFamily="34" charset="0"/>
              <a:cs typeface="Calibri Light" panose="020F0302020204030204" pitchFamily="34" charset="0"/>
            </a:endParaRPr>
          </a:p>
        </p:txBody>
      </p:sp>
      <p:pic>
        <p:nvPicPr>
          <p:cNvPr id="4" name="Picture 3" descr="A computer code with text&#10;&#10;AI-generated content may be incorrect.">
            <a:extLst>
              <a:ext uri="{FF2B5EF4-FFF2-40B4-BE49-F238E27FC236}">
                <a16:creationId xmlns:a16="http://schemas.microsoft.com/office/drawing/2014/main" id="{ACAB2F0F-16E0-D617-6E6E-6E0AEAB1D8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594" y="2874992"/>
            <a:ext cx="3544609" cy="1755318"/>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descr="A screenshot of a computer&#10;&#10;AI-generated content may be incorrect.">
            <a:extLst>
              <a:ext uri="{FF2B5EF4-FFF2-40B4-BE49-F238E27FC236}">
                <a16:creationId xmlns:a16="http://schemas.microsoft.com/office/drawing/2014/main" id="{4A054C5F-840F-BB73-E496-C156055A88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6449" y="2490629"/>
            <a:ext cx="3759101" cy="2581200"/>
          </a:xfrm>
          <a:prstGeom prst="rect">
            <a:avLst/>
          </a:prstGeom>
          <a:ln w="88900" cap="sq" cmpd="thickThin">
            <a:solidFill>
              <a:srgbClr val="000000"/>
            </a:solidFill>
            <a:prstDash val="solid"/>
            <a:miter lim="800000"/>
          </a:ln>
          <a:effectLst>
            <a:innerShdw blurRad="76200">
              <a:srgbClr val="000000"/>
            </a:innerShdw>
          </a:effectLst>
        </p:spPr>
      </p:pic>
      <p:pic>
        <p:nvPicPr>
          <p:cNvPr id="14" name="Picture 13" descr="A screenshot of a computer&#10;&#10;AI-generated content may be incorrect.">
            <a:extLst>
              <a:ext uri="{FF2B5EF4-FFF2-40B4-BE49-F238E27FC236}">
                <a16:creationId xmlns:a16="http://schemas.microsoft.com/office/drawing/2014/main" id="{B3C47205-E8C8-D050-232D-06837321B2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24693" y="2490629"/>
            <a:ext cx="3708000" cy="258542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329477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C9BBB6-D537-A5FB-7C75-326B78B8E99F}"/>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8D994978-19E1-AE85-F994-91CB8BBE40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DB1D3DE2-F43E-B4BA-9587-AF3E6D341A2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FA3ECF0-24C5-FE6E-3AD3-35017B167D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9B8A567F-0369-4221-61A3-D5383E45E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CFC8D072-8EB8-2741-84B1-A91E829DD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69C09355-7B9A-1A93-BE52-2CF4F97E0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DA1BC96C-14C3-DD3D-996B-912F439A70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6E337B45-C958-64EF-C47B-B4B7C979AF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85084D48-5EC7-B137-D7BE-B9BC3B39F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0F32A99A-4CB8-317B-31FB-69037FF52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A87B1D4F-662D-E423-5509-D0391A4BF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CF4BBBF1-9DAB-1938-4A4A-75501ED8400B}"/>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29</a:t>
            </a:fld>
            <a:endParaRPr lang="en-US"/>
          </a:p>
        </p:txBody>
      </p:sp>
      <p:pic>
        <p:nvPicPr>
          <p:cNvPr id="10" name="Picture 9" descr="A blue and yellow logo&#10;&#10;AI-generated content may be incorrect.">
            <a:extLst>
              <a:ext uri="{FF2B5EF4-FFF2-40B4-BE49-F238E27FC236}">
                <a16:creationId xmlns:a16="http://schemas.microsoft.com/office/drawing/2014/main" id="{7769722D-C082-E94F-A6DB-BECE4F191CC9}"/>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79F739E1-62F1-1AA8-40A3-B4980361709D}"/>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C6EBCAF8-5032-B2D7-2CF2-F6B7189512B5}"/>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10B50C2F-3B6B-D2AF-EBC9-41F29139A399}"/>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5B5E35D5-CCAB-F1FF-B4DD-1397D5E79120}"/>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Query 2 – Filter by Apartment Type</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AF1BD6CB-0CCF-69DF-218A-2DDE76C74590}"/>
              </a:ext>
            </a:extLst>
          </p:cNvPr>
          <p:cNvSpPr txBox="1"/>
          <p:nvPr/>
        </p:nvSpPr>
        <p:spPr>
          <a:xfrm>
            <a:off x="145473" y="1882172"/>
            <a:ext cx="11972355" cy="4154984"/>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Query Objective: Find apartments with 2 beds and a real bed setup.</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Observations: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The query identifies family-friendly, fully equipped apartments.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It demonstrates how specific listings features can be filtered using MongoDB’s find query.</a:t>
            </a:r>
          </a:p>
        </p:txBody>
      </p:sp>
      <p:pic>
        <p:nvPicPr>
          <p:cNvPr id="4" name="Picture 3">
            <a:extLst>
              <a:ext uri="{FF2B5EF4-FFF2-40B4-BE49-F238E27FC236}">
                <a16:creationId xmlns:a16="http://schemas.microsoft.com/office/drawing/2014/main" id="{7131B41E-5B8B-6257-B463-4CF7DE11ED7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2936" y="2971469"/>
            <a:ext cx="2975547" cy="1326212"/>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97E534CF-E4EA-7D0C-30CF-95B7063BF43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691631" y="2564077"/>
            <a:ext cx="3733635" cy="2467980"/>
          </a:xfrm>
          <a:prstGeom prst="rect">
            <a:avLst/>
          </a:prstGeom>
          <a:ln w="88900" cap="sq" cmpd="thickThin">
            <a:solidFill>
              <a:srgbClr val="000000"/>
            </a:solidFill>
            <a:prstDash val="solid"/>
            <a:miter lim="800000"/>
          </a:ln>
          <a:effectLst>
            <a:innerShdw blurRad="76200">
              <a:srgbClr val="000000"/>
            </a:innerShdw>
          </a:effectLst>
        </p:spPr>
      </p:pic>
      <p:pic>
        <p:nvPicPr>
          <p:cNvPr id="14" name="Picture 13">
            <a:extLst>
              <a:ext uri="{FF2B5EF4-FFF2-40B4-BE49-F238E27FC236}">
                <a16:creationId xmlns:a16="http://schemas.microsoft.com/office/drawing/2014/main" id="{C1F6BC54-D811-ADBB-646E-4EEE95C14A3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808788" y="2564076"/>
            <a:ext cx="4020275" cy="246797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748945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E92ED3-E079-8DB4-20E5-674E38D542A3}"/>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48197429-9D63-FFA9-03C9-40DA8CDAEE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37B162E5-ED5D-610C-BA82-66AF9CCA5D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A24A7AF-4AA1-6E15-A420-AB336A444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A6336E6A-34FF-2BBF-8F17-3AF3FF1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9EDB7266-F9C1-737F-898B-81EDA5A74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B120F819-F751-62F8-22BC-432B9F27C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09F87DF5-7C16-87A5-D44A-ECCB1ECE8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B560F2F5-8E39-4AAB-C6E7-7FF4C4BA8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9BC9BC24-6E92-041C-9159-19034FAAD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BAFD16A8-0C42-3AD1-4A97-B6CE20D79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A07F81F0-201E-4AAF-788E-C4608FD5E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121DE2FB-6026-7623-11B2-CDE8E3EFBC3B}"/>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30</a:t>
            </a:fld>
            <a:endParaRPr lang="en-US"/>
          </a:p>
        </p:txBody>
      </p:sp>
      <p:pic>
        <p:nvPicPr>
          <p:cNvPr id="10" name="Picture 9" descr="A blue and yellow logo&#10;&#10;AI-generated content may be incorrect.">
            <a:extLst>
              <a:ext uri="{FF2B5EF4-FFF2-40B4-BE49-F238E27FC236}">
                <a16:creationId xmlns:a16="http://schemas.microsoft.com/office/drawing/2014/main" id="{E518B091-462C-57C8-4654-A709FC2C3846}"/>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C2C9BF3D-E619-5E0E-FD5C-8D1EE048AE1D}"/>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D53D9FE2-CC70-D86E-AA00-BF2016669536}"/>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684DC7E1-5508-D62B-F8EB-8AFC1440D56C}"/>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C7624F99-0980-3DF8-DA4E-6974463E193B}"/>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Query 3 – Top Neighborhoods by Popularity</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DA1194FF-CD9F-8A87-03E1-A9E7426F0321}"/>
              </a:ext>
            </a:extLst>
          </p:cNvPr>
          <p:cNvSpPr txBox="1"/>
          <p:nvPr/>
        </p:nvSpPr>
        <p:spPr>
          <a:xfrm>
            <a:off x="145473" y="1882172"/>
            <a:ext cx="11972355" cy="4154984"/>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Query Objective: Group by neighborhood and identify the top 5 suburbs with the highest listing frequency and average price.</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Observations: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The query identifies top-performing suburbs in terms of listing volume.</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It shows correlation between popularity and pricing.</a:t>
            </a:r>
          </a:p>
        </p:txBody>
      </p:sp>
      <p:pic>
        <p:nvPicPr>
          <p:cNvPr id="4" name="Picture 3">
            <a:extLst>
              <a:ext uri="{FF2B5EF4-FFF2-40B4-BE49-F238E27FC236}">
                <a16:creationId xmlns:a16="http://schemas.microsoft.com/office/drawing/2014/main" id="{F4B74AEB-35DF-EED2-60A0-68397715CB2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96983" y="2763422"/>
            <a:ext cx="3423177" cy="2034755"/>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EDCA41A8-2498-2123-5C7F-3EEE75E567E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115448" y="2472063"/>
            <a:ext cx="6041527" cy="261630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8065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E32E09-3EEF-EA73-BF59-AC60EA38A2CA}"/>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277AB991-F9EA-0009-EE7E-330BEC485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C40665F0-D01B-8BB9-ADC9-62ABAB4C66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F9CE693-F484-8F83-7007-42288539C1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5414CB5B-FB4D-8A6C-B422-10398E59F2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1E1B7C4E-93DB-424A-2800-C7F68C8AF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C32BF049-12B3-A1F6-69AC-1851FBF2C8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4421CDDE-91CB-1CD6-21C4-7F4A106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C42858BC-EFE6-D2AC-25FA-8B997EE23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77D588F3-0D22-1FD3-1FB2-F404E71AA6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E2FAA157-2B32-9E8F-3522-0E014B829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3788D82F-F082-4500-1D3C-CEC8EBD840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C94E1147-6062-DC19-33D6-7D1434077A45}"/>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31</a:t>
            </a:fld>
            <a:endParaRPr lang="en-US"/>
          </a:p>
        </p:txBody>
      </p:sp>
      <p:pic>
        <p:nvPicPr>
          <p:cNvPr id="10" name="Picture 9" descr="A blue and yellow logo&#10;&#10;AI-generated content may be incorrect.">
            <a:extLst>
              <a:ext uri="{FF2B5EF4-FFF2-40B4-BE49-F238E27FC236}">
                <a16:creationId xmlns:a16="http://schemas.microsoft.com/office/drawing/2014/main" id="{C0B9E11E-EBF3-ADCB-0DD8-F1BA1209C4F0}"/>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A0C952D8-690E-CBF4-D6A1-70598DEFEBFE}"/>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7E5941C2-0EE2-B166-236E-BCA0DFD556DA}"/>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3128FC93-D9E0-9163-47B5-98C193990F0F}"/>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A2A4B3D6-837E-39E9-DA8B-F6C63837F803}"/>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Query 4 – High-Reviewed Listings</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C917685D-6C74-86AB-29A3-A7B49C326622}"/>
              </a:ext>
            </a:extLst>
          </p:cNvPr>
          <p:cNvSpPr txBox="1"/>
          <p:nvPr/>
        </p:nvSpPr>
        <p:spPr>
          <a:xfrm>
            <a:off x="145473" y="1882172"/>
            <a:ext cx="11972355" cy="4154984"/>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Query Objective: Find listings with more than 50 reviews and a rating score </a:t>
            </a:r>
            <a:r>
              <a:rPr lang="el-GR" sz="2400" b="0" i="0" dirty="0">
                <a:solidFill>
                  <a:srgbClr val="1F1F1F"/>
                </a:solidFill>
                <a:effectLst/>
                <a:latin typeface="Google Sans"/>
              </a:rPr>
              <a:t>≥</a:t>
            </a:r>
            <a:r>
              <a:rPr lang="en-US" sz="2400" dirty="0">
                <a:latin typeface="Calibri Light" panose="020F0302020204030204" pitchFamily="34" charset="0"/>
                <a:cs typeface="Calibri Light" panose="020F0302020204030204" pitchFamily="34" charset="0"/>
              </a:rPr>
              <a:t> 90.</a:t>
            </a: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24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Observations: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The query highlights highly rated and frequently reviewed listings.</a:t>
            </a:r>
          </a:p>
          <a:p>
            <a:pPr marL="342900" indent="-342900">
              <a:buFont typeface="Arial" panose="020B0604020202020204" pitchFamily="34" charset="0"/>
              <a:buChar char="•"/>
            </a:pPr>
            <a:r>
              <a:rPr lang="en-US" sz="2400" dirty="0">
                <a:latin typeface="Calibri Light" panose="020F0302020204030204" pitchFamily="34" charset="0"/>
                <a:cs typeface="Calibri Light" panose="020F0302020204030204" pitchFamily="34" charset="0"/>
              </a:rPr>
              <a:t>It is useful for targeting trusted and top-performing properties.</a:t>
            </a:r>
          </a:p>
        </p:txBody>
      </p:sp>
      <p:pic>
        <p:nvPicPr>
          <p:cNvPr id="4" name="Picture 3">
            <a:extLst>
              <a:ext uri="{FF2B5EF4-FFF2-40B4-BE49-F238E27FC236}">
                <a16:creationId xmlns:a16="http://schemas.microsoft.com/office/drawing/2014/main" id="{BF49DA71-F99E-AB02-08B5-1208D80FCE3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2936" y="2915921"/>
            <a:ext cx="3782730" cy="1219200"/>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720B3FFE-6E9C-51FA-A780-9BEB0839ED4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539495" y="2421837"/>
            <a:ext cx="3259667" cy="2778168"/>
          </a:xfrm>
          <a:prstGeom prst="rect">
            <a:avLst/>
          </a:prstGeom>
          <a:ln w="88900" cap="sq" cmpd="thickThin">
            <a:solidFill>
              <a:srgbClr val="000000"/>
            </a:solidFill>
            <a:prstDash val="solid"/>
            <a:miter lim="800000"/>
          </a:ln>
          <a:effectLst>
            <a:innerShdw blurRad="76200">
              <a:srgbClr val="000000"/>
            </a:innerShdw>
          </a:effectLst>
        </p:spPr>
      </p:pic>
      <p:pic>
        <p:nvPicPr>
          <p:cNvPr id="14" name="Picture 13">
            <a:extLst>
              <a:ext uri="{FF2B5EF4-FFF2-40B4-BE49-F238E27FC236}">
                <a16:creationId xmlns:a16="http://schemas.microsoft.com/office/drawing/2014/main" id="{2E77C2BE-B9BA-895A-97F0-F04C454F880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107680" y="2421837"/>
            <a:ext cx="3518531" cy="277816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67493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85FD77-088B-D0BE-D642-583883860B5A}"/>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8BC7FB25-49DF-FAE7-7B0D-10480096C4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1" name="Straight Connector 40">
              <a:extLst>
                <a:ext uri="{FF2B5EF4-FFF2-40B4-BE49-F238E27FC236}">
                  <a16:creationId xmlns:a16="http://schemas.microsoft.com/office/drawing/2014/main" id="{94CF7AD9-5702-F2CC-DA00-AC813909209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1B8EFE3-BCD5-6083-851C-CEF4FE979AE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A5BC0534-102B-2A63-CCC9-C81569A16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4" name="Rectangle 25">
              <a:extLst>
                <a:ext uri="{FF2B5EF4-FFF2-40B4-BE49-F238E27FC236}">
                  <a16:creationId xmlns:a16="http://schemas.microsoft.com/office/drawing/2014/main" id="{3FA5FA2C-7816-D6F5-40C8-B9C7F118E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5" name="Isosceles Triangle 44">
              <a:extLst>
                <a:ext uri="{FF2B5EF4-FFF2-40B4-BE49-F238E27FC236}">
                  <a16:creationId xmlns:a16="http://schemas.microsoft.com/office/drawing/2014/main" id="{51529DFD-CF2A-10BF-55EF-4EC11D775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6" name="Rectangle 27">
              <a:extLst>
                <a:ext uri="{FF2B5EF4-FFF2-40B4-BE49-F238E27FC236}">
                  <a16:creationId xmlns:a16="http://schemas.microsoft.com/office/drawing/2014/main" id="{7A4FE293-7DE5-CDB9-A5FD-4348DE2C9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7" name="Rectangle 28">
              <a:extLst>
                <a:ext uri="{FF2B5EF4-FFF2-40B4-BE49-F238E27FC236}">
                  <a16:creationId xmlns:a16="http://schemas.microsoft.com/office/drawing/2014/main" id="{43044448-B983-2547-1B68-DCF9B51B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8" name="Rectangle 29">
              <a:extLst>
                <a:ext uri="{FF2B5EF4-FFF2-40B4-BE49-F238E27FC236}">
                  <a16:creationId xmlns:a16="http://schemas.microsoft.com/office/drawing/2014/main" id="{1AF73466-82CE-D6ED-BC7D-1A3D15CDFF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49" name="Isosceles Triangle 48">
              <a:extLst>
                <a:ext uri="{FF2B5EF4-FFF2-40B4-BE49-F238E27FC236}">
                  <a16:creationId xmlns:a16="http://schemas.microsoft.com/office/drawing/2014/main" id="{30A1BD1D-66CD-130A-1A86-60FC15E12E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sp>
          <p:nvSpPr>
            <p:cNvPr id="50" name="Isosceles Triangle 49">
              <a:extLst>
                <a:ext uri="{FF2B5EF4-FFF2-40B4-BE49-F238E27FC236}">
                  <a16:creationId xmlns:a16="http://schemas.microsoft.com/office/drawing/2014/main" id="{B1BDAD2D-040B-CE90-F4A3-A38DE5C088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l-GR"/>
            </a:p>
          </p:txBody>
        </p:sp>
      </p:grpSp>
      <p:sp>
        <p:nvSpPr>
          <p:cNvPr id="5" name="Slide Number Placeholder 4">
            <a:extLst>
              <a:ext uri="{FF2B5EF4-FFF2-40B4-BE49-F238E27FC236}">
                <a16:creationId xmlns:a16="http://schemas.microsoft.com/office/drawing/2014/main" id="{6CABC8A7-8379-E56F-D162-DC5615DD3147}"/>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DEA5C31-B8C3-473B-A3DE-56496EA73414}" type="slidenum">
              <a:rPr lang="en-US" smtClean="0"/>
              <a:pPr defTabSz="914400">
                <a:spcAft>
                  <a:spcPts val="600"/>
                </a:spcAft>
              </a:pPr>
              <a:t>32</a:t>
            </a:fld>
            <a:endParaRPr lang="en-US"/>
          </a:p>
        </p:txBody>
      </p:sp>
      <p:pic>
        <p:nvPicPr>
          <p:cNvPr id="10" name="Picture 9" descr="A blue and yellow logo&#10;&#10;AI-generated content may be incorrect.">
            <a:extLst>
              <a:ext uri="{FF2B5EF4-FFF2-40B4-BE49-F238E27FC236}">
                <a16:creationId xmlns:a16="http://schemas.microsoft.com/office/drawing/2014/main" id="{1B1E4DCC-6490-3E67-3615-4B6958715F00}"/>
              </a:ext>
            </a:extLst>
          </p:cNvPr>
          <p:cNvPicPr>
            <a:picLocks noChangeAspect="1"/>
          </p:cNvPicPr>
          <p:nvPr/>
        </p:nvPicPr>
        <p:blipFill>
          <a:blip r:embed="rId2"/>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pic>
        <p:nvPicPr>
          <p:cNvPr id="2" name="Picture 1" descr="A blue and white logo&#10;&#10;AI-generated content may be incorrect.">
            <a:extLst>
              <a:ext uri="{FF2B5EF4-FFF2-40B4-BE49-F238E27FC236}">
                <a16:creationId xmlns:a16="http://schemas.microsoft.com/office/drawing/2014/main" id="{9F28A368-5539-B945-BB9B-0CC89EC816C0}"/>
              </a:ext>
            </a:extLst>
          </p:cNvPr>
          <p:cNvPicPr>
            <a:picLocks noChangeAspect="1"/>
          </p:cNvPicPr>
          <p:nvPr/>
        </p:nvPicPr>
        <p:blipFill>
          <a:blip r:embed="rId3"/>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8181E488-63D4-1CE1-3F64-77159C62E034}"/>
              </a:ext>
            </a:extLst>
          </p:cNvPr>
          <p:cNvGrpSpPr/>
          <p:nvPr/>
        </p:nvGrpSpPr>
        <p:grpSpPr>
          <a:xfrm>
            <a:off x="108642" y="1383370"/>
            <a:ext cx="12645824" cy="4942015"/>
            <a:chOff x="3624528" y="887340"/>
            <a:chExt cx="8193590" cy="4762905"/>
          </a:xfrm>
          <a:scene3d>
            <a:camera prst="orthographicFront">
              <a:rot lat="0" lon="0" rev="0"/>
            </a:camera>
            <a:lightRig rig="contrasting" dir="t">
              <a:rot lat="0" lon="0" rev="1200000"/>
            </a:lightRig>
          </a:scene3d>
        </p:grpSpPr>
        <p:sp>
          <p:nvSpPr>
            <p:cNvPr id="7" name="Rectangle 6">
              <a:extLst>
                <a:ext uri="{FF2B5EF4-FFF2-40B4-BE49-F238E27FC236}">
                  <a16:creationId xmlns:a16="http://schemas.microsoft.com/office/drawing/2014/main" id="{DFDF689D-864D-23ED-A64B-9BF04FF2035D}"/>
                </a:ext>
              </a:extLst>
            </p:cNvPr>
            <p:cNvSpPr/>
            <p:nvPr/>
          </p:nvSpPr>
          <p:spPr>
            <a:xfrm>
              <a:off x="3648392" y="887340"/>
              <a:ext cx="7755174" cy="4566826"/>
            </a:xfrm>
            <a:prstGeom prst="rect">
              <a:avLst/>
            </a:prstGeom>
            <a:solidFill>
              <a:sysClr val="window" lastClr="FFFFFF">
                <a:hueOff val="0"/>
                <a:satOff val="0"/>
                <a:lumOff val="0"/>
                <a:alphaOff val="0"/>
              </a:sysClr>
            </a:solidFill>
            <a:ln>
              <a:noFill/>
            </a:ln>
            <a:effectLst>
              <a:glow rad="101600">
                <a:schemeClr val="accent1">
                  <a:satMod val="175000"/>
                  <a:alpha val="40000"/>
                </a:schemeClr>
              </a:glow>
              <a:outerShdw blurRad="38100" dist="25400" dir="5400000" rotWithShape="0">
                <a:srgbClr val="000000">
                  <a:alpha val="35000"/>
                </a:srgbClr>
              </a:outerShdw>
            </a:effectLst>
            <a:sp3d contourW="19050" prstMaterial="metal">
              <a:bevelT w="88900" h="203200"/>
              <a:bevelB w="165100" h="254000"/>
            </a:sp3d>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l-GR"/>
            </a:p>
          </p:txBody>
        </p:sp>
        <p:sp>
          <p:nvSpPr>
            <p:cNvPr id="8" name="TextBox 7">
              <a:extLst>
                <a:ext uri="{FF2B5EF4-FFF2-40B4-BE49-F238E27FC236}">
                  <a16:creationId xmlns:a16="http://schemas.microsoft.com/office/drawing/2014/main" id="{FF528129-365B-CC6C-4447-2388D04C219A}"/>
                </a:ext>
              </a:extLst>
            </p:cNvPr>
            <p:cNvSpPr txBox="1"/>
            <p:nvPr/>
          </p:nvSpPr>
          <p:spPr>
            <a:xfrm>
              <a:off x="3624528" y="887341"/>
              <a:ext cx="8193590" cy="4762904"/>
            </a:xfrm>
            <a:prstGeom prst="rect">
              <a:avLst/>
            </a:prstGeom>
            <a:sp3d/>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endParaRPr lang="en-US" sz="3400" b="1" dirty="0">
                <a:solidFill>
                  <a:sysClr val="windowText" lastClr="000000">
                    <a:hueOff val="0"/>
                    <a:satOff val="0"/>
                    <a:lumOff val="0"/>
                    <a:alphaOff val="0"/>
                  </a:sysClr>
                </a:solidFill>
                <a:latin typeface="Calibri" panose="020F0502020204030204"/>
              </a:endParaRPr>
            </a:p>
            <a:p>
              <a:r>
                <a:rPr lang="en-US" sz="3200" b="1" dirty="0">
                  <a:latin typeface="Calibri Light" panose="020F0302020204030204" pitchFamily="34" charset="0"/>
                  <a:cs typeface="Calibri Light" panose="020F0302020204030204" pitchFamily="34" charset="0"/>
                </a:rPr>
                <a:t>Portfolio 4: Conclusions</a:t>
              </a:r>
              <a:endParaRPr lang="en-US" sz="3400" b="1" dirty="0">
                <a:solidFill>
                  <a:sysClr val="windowText" lastClr="000000">
                    <a:hueOff val="0"/>
                    <a:satOff val="0"/>
                    <a:lumOff val="0"/>
                    <a:alphaOff val="0"/>
                  </a:sysClr>
                </a:solidFill>
                <a:latin typeface="Calibri" panose="020F0502020204030204"/>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b="1" kern="1200" dirty="0">
                <a:solidFill>
                  <a:sysClr val="windowText" lastClr="000000">
                    <a:hueOff val="0"/>
                    <a:satOff val="0"/>
                    <a:lumOff val="0"/>
                    <a:alphaOff val="0"/>
                  </a:sysClr>
                </a:solidFill>
                <a:latin typeface="Calibri" panose="020F0502020204030204"/>
                <a:ea typeface="+mn-ea"/>
                <a:cs typeface="+mn-cs"/>
              </a:endParaRPr>
            </a:p>
            <a:p>
              <a:pPr marL="0" lvl="0" indent="0" algn="l" defTabSz="1511300">
                <a:lnSpc>
                  <a:spcPct val="90000"/>
                </a:lnSpc>
                <a:spcBef>
                  <a:spcPct val="0"/>
                </a:spcBef>
                <a:spcAft>
                  <a:spcPct val="35000"/>
                </a:spcAft>
                <a:buNone/>
              </a:pPr>
              <a:endParaRPr lang="en-US" sz="3400" kern="1200" dirty="0">
                <a:solidFill>
                  <a:sysClr val="windowText" lastClr="000000">
                    <a:hueOff val="0"/>
                    <a:satOff val="0"/>
                    <a:lumOff val="0"/>
                    <a:alphaOff val="0"/>
                  </a:sysClr>
                </a:solidFill>
                <a:latin typeface="Calibri" panose="020F0502020204030204"/>
                <a:ea typeface="+mn-ea"/>
                <a:cs typeface="+mn-cs"/>
              </a:endParaRPr>
            </a:p>
          </p:txBody>
        </p:sp>
      </p:grpSp>
      <p:sp>
        <p:nvSpPr>
          <p:cNvPr id="9" name="TextBox 8">
            <a:extLst>
              <a:ext uri="{FF2B5EF4-FFF2-40B4-BE49-F238E27FC236}">
                <a16:creationId xmlns:a16="http://schemas.microsoft.com/office/drawing/2014/main" id="{1A3C8E49-4A72-4B15-951E-95EF3B453333}"/>
              </a:ext>
            </a:extLst>
          </p:cNvPr>
          <p:cNvSpPr txBox="1"/>
          <p:nvPr/>
        </p:nvSpPr>
        <p:spPr>
          <a:xfrm>
            <a:off x="145473" y="1882172"/>
            <a:ext cx="9760527" cy="3046988"/>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The MongoDB Atlas was effective in analyzing Airbnb’s semi-structured data.</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Deep insight into pricing patterns, property types, and visitor preferences was made possible by aggregation pipelines.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JSON queries made it simple to extract high-performing listings, popular property types, and top neighborhoods.</a:t>
            </a:r>
          </a:p>
          <a:p>
            <a:pPr marL="342900" indent="-342900">
              <a:buFont typeface="Wingdings" panose="05000000000000000000" pitchFamily="2" charset="2"/>
              <a:buChar char="Ø"/>
            </a:pPr>
            <a:r>
              <a:rPr lang="en-US" sz="2400" dirty="0">
                <a:latin typeface="Calibri Light" panose="020F0302020204030204" pitchFamily="34" charset="0"/>
                <a:cs typeface="Calibri Light" panose="020F0302020204030204" pitchFamily="34" charset="0"/>
              </a:rPr>
              <a:t>This portfolio ultimately demonstrates how NoSQL tools can be used for real-world data analysis without traditional-based schemas.</a:t>
            </a:r>
          </a:p>
        </p:txBody>
      </p:sp>
    </p:spTree>
    <p:extLst>
      <p:ext uri="{BB962C8B-B14F-4D97-AF65-F5344CB8AC3E}">
        <p14:creationId xmlns:p14="http://schemas.microsoft.com/office/powerpoint/2010/main" val="3482154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8A9E9-07B3-65EC-8332-FA060B26337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A72C46-6385-620A-7E87-49EE20D95371}"/>
              </a:ext>
            </a:extLst>
          </p:cNvPr>
          <p:cNvSpPr>
            <a:spLocks noGrp="1"/>
          </p:cNvSpPr>
          <p:nvPr>
            <p:ph type="sldNum" sz="quarter" idx="12"/>
          </p:nvPr>
        </p:nvSpPr>
        <p:spPr/>
        <p:txBody>
          <a:bodyPr/>
          <a:lstStyle/>
          <a:p>
            <a:fld id="{CDEA5C31-B8C3-473B-A3DE-56496EA73414}" type="slidenum">
              <a:rPr lang="el-GR" smtClean="0"/>
              <a:t>33</a:t>
            </a:fld>
            <a:endParaRPr lang="el-GR"/>
          </a:p>
        </p:txBody>
      </p:sp>
      <p:pic>
        <p:nvPicPr>
          <p:cNvPr id="9" name="Picture 8">
            <a:extLst>
              <a:ext uri="{FF2B5EF4-FFF2-40B4-BE49-F238E27FC236}">
                <a16:creationId xmlns:a16="http://schemas.microsoft.com/office/drawing/2014/main" id="{D8CEB90D-944D-8BA8-28AF-895C4588E423}"/>
              </a:ext>
            </a:extLst>
          </p:cNvPr>
          <p:cNvPicPr>
            <a:picLocks noChangeAspect="1"/>
          </p:cNvPicPr>
          <p:nvPr/>
        </p:nvPicPr>
        <p:blipFill>
          <a:blip r:embed="rId2"/>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745103B1-5DA4-0EDB-422A-DEDB1BD60B3E}"/>
              </a:ext>
            </a:extLst>
          </p:cNvPr>
          <p:cNvPicPr>
            <a:picLocks noChangeAspect="1"/>
          </p:cNvPicPr>
          <p:nvPr/>
        </p:nvPicPr>
        <p:blipFill>
          <a:blip r:embed="rId3"/>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F69626A6-E054-6F81-4F16-00A83B630404}"/>
              </a:ext>
            </a:extLst>
          </p:cNvPr>
          <p:cNvSpPr txBox="1">
            <a:spLocks/>
          </p:cNvSpPr>
          <p:nvPr/>
        </p:nvSpPr>
        <p:spPr>
          <a:xfrm>
            <a:off x="677334" y="1566781"/>
            <a:ext cx="8596668" cy="1320800"/>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400" b="1">
                <a:solidFill>
                  <a:schemeClr val="tx1"/>
                </a:solidFill>
                <a:latin typeface="Calibri Light" panose="020F0302020204030204" pitchFamily="34" charset="0"/>
                <a:cs typeface="Calibri Light" panose="020F0302020204030204" pitchFamily="34" charset="0"/>
              </a:rPr>
              <a:t>REFERENCES</a:t>
            </a:r>
            <a:endParaRPr lang="el-GR" sz="3400" b="1" dirty="0">
              <a:solidFill>
                <a:schemeClr val="tx1"/>
              </a:solidFill>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95AB1528-9265-5506-26CF-6628543659CB}"/>
              </a:ext>
            </a:extLst>
          </p:cNvPr>
          <p:cNvSpPr txBox="1">
            <a:spLocks/>
          </p:cNvSpPr>
          <p:nvPr/>
        </p:nvSpPr>
        <p:spPr>
          <a:xfrm>
            <a:off x="404202" y="2278266"/>
            <a:ext cx="8596668" cy="3880773"/>
          </a:xfrm>
          <a:prstGeom prst="rect">
            <a:avLst/>
          </a:prstGeom>
          <a:solidFill>
            <a:schemeClr val="bg1"/>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González García, C. and Álvarez-Fernández, E., 2022. What is (not) Big Data based on its 7Vs challenges: A survey. </a:t>
            </a:r>
            <a:r>
              <a:rPr lang="en-US" sz="1200" b="0" i="1" dirty="0">
                <a:solidFill>
                  <a:srgbClr val="222222"/>
                </a:solidFill>
                <a:effectLst/>
                <a:latin typeface="Calibri Light" panose="020F0302020204030204" pitchFamily="34" charset="0"/>
                <a:cs typeface="Calibri Light" panose="020F0302020204030204" pitchFamily="34" charset="0"/>
              </a:rPr>
              <a:t>Big Data and Cognitive Computing</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6</a:t>
            </a:r>
            <a:r>
              <a:rPr lang="en-US" sz="1200" b="0" i="0" dirty="0">
                <a:solidFill>
                  <a:srgbClr val="222222"/>
                </a:solidFill>
                <a:effectLst/>
                <a:latin typeface="Calibri Light" panose="020F0302020204030204" pitchFamily="34" charset="0"/>
                <a:cs typeface="Calibri Light" panose="020F0302020204030204" pitchFamily="34" charset="0"/>
              </a:rPr>
              <a:t>(4), p.158.</a:t>
            </a:r>
          </a:p>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Mohammadi, M., Al-Fuqaha, A., Sorour, S. and </a:t>
            </a:r>
            <a:r>
              <a:rPr lang="en-US" sz="1200" b="0" i="0" dirty="0" err="1">
                <a:solidFill>
                  <a:srgbClr val="222222"/>
                </a:solidFill>
                <a:effectLst/>
                <a:latin typeface="Calibri Light" panose="020F0302020204030204" pitchFamily="34" charset="0"/>
                <a:cs typeface="Calibri Light" panose="020F0302020204030204" pitchFamily="34" charset="0"/>
              </a:rPr>
              <a:t>Guizani</a:t>
            </a:r>
            <a:r>
              <a:rPr lang="en-US" sz="1200" b="0" i="0" dirty="0">
                <a:solidFill>
                  <a:srgbClr val="222222"/>
                </a:solidFill>
                <a:effectLst/>
                <a:latin typeface="Calibri Light" panose="020F0302020204030204" pitchFamily="34" charset="0"/>
                <a:cs typeface="Calibri Light" panose="020F0302020204030204" pitchFamily="34" charset="0"/>
              </a:rPr>
              <a:t>, M., 2018. Deep learning for IoT big data and streaming analytics: A survey. </a:t>
            </a:r>
            <a:r>
              <a:rPr lang="en-US" sz="1200" b="0" i="1" dirty="0">
                <a:solidFill>
                  <a:srgbClr val="222222"/>
                </a:solidFill>
                <a:effectLst/>
                <a:latin typeface="Calibri Light" panose="020F0302020204030204" pitchFamily="34" charset="0"/>
                <a:cs typeface="Calibri Light" panose="020F0302020204030204" pitchFamily="34" charset="0"/>
              </a:rPr>
              <a:t>IEEE Communications Surveys &amp; Tutorials</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20</a:t>
            </a:r>
            <a:r>
              <a:rPr lang="en-US" sz="1200" b="0" i="0" dirty="0">
                <a:solidFill>
                  <a:srgbClr val="222222"/>
                </a:solidFill>
                <a:effectLst/>
                <a:latin typeface="Calibri Light" panose="020F0302020204030204" pitchFamily="34" charset="0"/>
                <a:cs typeface="Calibri Light" panose="020F0302020204030204" pitchFamily="34" charset="0"/>
              </a:rPr>
              <a:t>(4), pp.2923-2960.</a:t>
            </a:r>
          </a:p>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Nguyen, T., Gosine, R.G. and </a:t>
            </a:r>
            <a:r>
              <a:rPr lang="en-US" sz="1200" b="0" i="0" dirty="0" err="1">
                <a:solidFill>
                  <a:srgbClr val="222222"/>
                </a:solidFill>
                <a:effectLst/>
                <a:latin typeface="Calibri Light" panose="020F0302020204030204" pitchFamily="34" charset="0"/>
                <a:cs typeface="Calibri Light" panose="020F0302020204030204" pitchFamily="34" charset="0"/>
              </a:rPr>
              <a:t>Warrian</a:t>
            </a:r>
            <a:r>
              <a:rPr lang="en-US" sz="1200" b="0" i="0" dirty="0">
                <a:solidFill>
                  <a:srgbClr val="222222"/>
                </a:solidFill>
                <a:effectLst/>
                <a:latin typeface="Calibri Light" panose="020F0302020204030204" pitchFamily="34" charset="0"/>
                <a:cs typeface="Calibri Light" panose="020F0302020204030204" pitchFamily="34" charset="0"/>
              </a:rPr>
              <a:t>, P., 2020. A systematic review of big data analytics for oil and gas industry 4.0. </a:t>
            </a:r>
            <a:r>
              <a:rPr lang="en-US" sz="1200" b="0" i="1" dirty="0">
                <a:solidFill>
                  <a:srgbClr val="222222"/>
                </a:solidFill>
                <a:effectLst/>
                <a:latin typeface="Calibri Light" panose="020F0302020204030204" pitchFamily="34" charset="0"/>
                <a:cs typeface="Calibri Light" panose="020F0302020204030204" pitchFamily="34" charset="0"/>
              </a:rPr>
              <a:t>IEEE access</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8</a:t>
            </a:r>
            <a:r>
              <a:rPr lang="en-US" sz="1200" b="0" i="0" dirty="0">
                <a:solidFill>
                  <a:srgbClr val="222222"/>
                </a:solidFill>
                <a:effectLst/>
                <a:latin typeface="Calibri Light" panose="020F0302020204030204" pitchFamily="34" charset="0"/>
                <a:cs typeface="Calibri Light" panose="020F0302020204030204" pitchFamily="34" charset="0"/>
              </a:rPr>
              <a:t>, pp.61183-61201.</a:t>
            </a:r>
          </a:p>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Nti, I.K., Quarcoo, J.A., Aning, J. and Fosu, G.K., 2022. A mini-review of machine learning in big data analytics: Applications, challenges, and prospects. </a:t>
            </a:r>
            <a:r>
              <a:rPr lang="en-US" sz="1200" b="0" i="1" dirty="0">
                <a:solidFill>
                  <a:srgbClr val="222222"/>
                </a:solidFill>
                <a:effectLst/>
                <a:latin typeface="Calibri Light" panose="020F0302020204030204" pitchFamily="34" charset="0"/>
                <a:cs typeface="Calibri Light" panose="020F0302020204030204" pitchFamily="34" charset="0"/>
              </a:rPr>
              <a:t>Big Data Mining and Analytics</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5</a:t>
            </a:r>
            <a:r>
              <a:rPr lang="en-US" sz="1200" b="0" i="0" dirty="0">
                <a:solidFill>
                  <a:srgbClr val="222222"/>
                </a:solidFill>
                <a:effectLst/>
                <a:latin typeface="Calibri Light" panose="020F0302020204030204" pitchFamily="34" charset="0"/>
                <a:cs typeface="Calibri Light" panose="020F0302020204030204" pitchFamily="34" charset="0"/>
              </a:rPr>
              <a:t>(2), pp.81-97.</a:t>
            </a:r>
          </a:p>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Lin, R., Ye, Z., Wang, H. and Wu, B., 2018. Chronic diseases and health monitoring big data: A survey. </a:t>
            </a:r>
            <a:r>
              <a:rPr lang="en-US" sz="1200" b="0" i="1" dirty="0">
                <a:solidFill>
                  <a:srgbClr val="222222"/>
                </a:solidFill>
                <a:effectLst/>
                <a:latin typeface="Calibri Light" panose="020F0302020204030204" pitchFamily="34" charset="0"/>
                <a:cs typeface="Calibri Light" panose="020F0302020204030204" pitchFamily="34" charset="0"/>
              </a:rPr>
              <a:t>IEEE reviews in biomedical engineering</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11</a:t>
            </a:r>
            <a:r>
              <a:rPr lang="en-US" sz="1200" b="0" i="0" dirty="0">
                <a:solidFill>
                  <a:srgbClr val="222222"/>
                </a:solidFill>
                <a:effectLst/>
                <a:latin typeface="Calibri Light" panose="020F0302020204030204" pitchFamily="34" charset="0"/>
                <a:cs typeface="Calibri Light" panose="020F0302020204030204" pitchFamily="34" charset="0"/>
              </a:rPr>
              <a:t>, pp.275-288.</a:t>
            </a:r>
          </a:p>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Jaber, M.M., Ali, M.H., Abd, S.K., Jassim, M.M., </a:t>
            </a:r>
            <a:r>
              <a:rPr lang="en-US" sz="1200" b="0" i="0" dirty="0" err="1">
                <a:solidFill>
                  <a:srgbClr val="222222"/>
                </a:solidFill>
                <a:effectLst/>
                <a:latin typeface="Calibri Light" panose="020F0302020204030204" pitchFamily="34" charset="0"/>
                <a:cs typeface="Calibri Light" panose="020F0302020204030204" pitchFamily="34" charset="0"/>
              </a:rPr>
              <a:t>Alkhayyat</a:t>
            </a:r>
            <a:r>
              <a:rPr lang="en-US" sz="1200" b="0" i="0" dirty="0">
                <a:solidFill>
                  <a:srgbClr val="222222"/>
                </a:solidFill>
                <a:effectLst/>
                <a:latin typeface="Calibri Light" panose="020F0302020204030204" pitchFamily="34" charset="0"/>
                <a:cs typeface="Calibri Light" panose="020F0302020204030204" pitchFamily="34" charset="0"/>
              </a:rPr>
              <a:t>, A., Aziz, H.W. and </a:t>
            </a:r>
            <a:r>
              <a:rPr lang="en-US" sz="1200" b="0" i="0" dirty="0" err="1">
                <a:solidFill>
                  <a:srgbClr val="222222"/>
                </a:solidFill>
                <a:effectLst/>
                <a:latin typeface="Calibri Light" panose="020F0302020204030204" pitchFamily="34" charset="0"/>
                <a:cs typeface="Calibri Light" panose="020F0302020204030204" pitchFamily="34" charset="0"/>
              </a:rPr>
              <a:t>Alkhuwaylidee</a:t>
            </a:r>
            <a:r>
              <a:rPr lang="en-US" sz="1200" b="0" i="0" dirty="0">
                <a:solidFill>
                  <a:srgbClr val="222222"/>
                </a:solidFill>
                <a:effectLst/>
                <a:latin typeface="Calibri Light" panose="020F0302020204030204" pitchFamily="34" charset="0"/>
                <a:cs typeface="Calibri Light" panose="020F0302020204030204" pitchFamily="34" charset="0"/>
              </a:rPr>
              <a:t>, A.R., 2022. Predicting climate factors based on big data analytics based agricultural disaster management. </a:t>
            </a:r>
            <a:r>
              <a:rPr lang="en-US" sz="1200" b="0" i="1" dirty="0">
                <a:solidFill>
                  <a:srgbClr val="222222"/>
                </a:solidFill>
                <a:effectLst/>
                <a:latin typeface="Calibri Light" panose="020F0302020204030204" pitchFamily="34" charset="0"/>
                <a:cs typeface="Calibri Light" panose="020F0302020204030204" pitchFamily="34" charset="0"/>
              </a:rPr>
              <a:t>Physics and Chemistry of the Earth, Parts A/B/C</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128</a:t>
            </a:r>
            <a:r>
              <a:rPr lang="en-US" sz="1200" b="0" i="0" dirty="0">
                <a:solidFill>
                  <a:srgbClr val="222222"/>
                </a:solidFill>
                <a:effectLst/>
                <a:latin typeface="Calibri Light" panose="020F0302020204030204" pitchFamily="34" charset="0"/>
                <a:cs typeface="Calibri Light" panose="020F0302020204030204" pitchFamily="34" charset="0"/>
              </a:rPr>
              <a:t>, p.103243.</a:t>
            </a:r>
          </a:p>
          <a:p>
            <a:pPr algn="just">
              <a:buClrTx/>
              <a:buFont typeface="+mj-lt"/>
              <a:buAutoNum type="arabicPeriod"/>
            </a:pPr>
            <a:r>
              <a:rPr lang="en-US" sz="1200" b="0" i="0" dirty="0">
                <a:solidFill>
                  <a:srgbClr val="222222"/>
                </a:solidFill>
                <a:effectLst/>
                <a:latin typeface="Calibri Light" panose="020F0302020204030204" pitchFamily="34" charset="0"/>
                <a:cs typeface="Calibri Light" panose="020F0302020204030204" pitchFamily="34" charset="0"/>
              </a:rPr>
              <a:t>Rawat, D.B., Doku, R. and Garuba, M., 2019. Cybersecurity in big data era: From securing big data to data-driven security. </a:t>
            </a:r>
            <a:r>
              <a:rPr lang="en-US" sz="1200" b="0" i="1" dirty="0">
                <a:solidFill>
                  <a:srgbClr val="222222"/>
                </a:solidFill>
                <a:effectLst/>
                <a:latin typeface="Calibri Light" panose="020F0302020204030204" pitchFamily="34" charset="0"/>
                <a:cs typeface="Calibri Light" panose="020F0302020204030204" pitchFamily="34" charset="0"/>
              </a:rPr>
              <a:t>IEEE Transactions on Services Computing</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14</a:t>
            </a:r>
            <a:r>
              <a:rPr lang="en-US" sz="1200" b="0" i="0" dirty="0">
                <a:solidFill>
                  <a:srgbClr val="222222"/>
                </a:solidFill>
                <a:effectLst/>
                <a:latin typeface="Calibri Light" panose="020F0302020204030204" pitchFamily="34" charset="0"/>
                <a:cs typeface="Calibri Light" panose="020F0302020204030204" pitchFamily="34" charset="0"/>
              </a:rPr>
              <a:t>(6), pp.2055-2072.</a:t>
            </a:r>
          </a:p>
          <a:p>
            <a:pPr algn="just">
              <a:buClrTx/>
              <a:buFont typeface="+mj-lt"/>
              <a:buAutoNum type="arabicPeriod"/>
            </a:pP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Weinhardt, M., 2021. Big data: Some ethical concerns for the social sciences. </a:t>
            </a:r>
            <a:r>
              <a:rPr lang="el-GR"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Social Sciences, 10(2), p.36.</a:t>
            </a:r>
            <a:endParaRPr lang="el-GR" sz="1200" dirty="0">
              <a:solidFill>
                <a:schemeClr val="tx1"/>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72686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200E9-C730-C334-E725-C13E9EB6844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DB62BB1-5347-93EE-1990-1325BA4211B9}"/>
              </a:ext>
            </a:extLst>
          </p:cNvPr>
          <p:cNvSpPr>
            <a:spLocks noGrp="1"/>
          </p:cNvSpPr>
          <p:nvPr>
            <p:ph type="sldNum" sz="quarter" idx="12"/>
          </p:nvPr>
        </p:nvSpPr>
        <p:spPr/>
        <p:txBody>
          <a:bodyPr/>
          <a:lstStyle/>
          <a:p>
            <a:fld id="{CDEA5C31-B8C3-473B-A3DE-56496EA73414}" type="slidenum">
              <a:rPr lang="el-GR" smtClean="0"/>
              <a:t>34</a:t>
            </a:fld>
            <a:endParaRPr lang="el-GR"/>
          </a:p>
        </p:txBody>
      </p:sp>
      <p:pic>
        <p:nvPicPr>
          <p:cNvPr id="9" name="Picture 8">
            <a:extLst>
              <a:ext uri="{FF2B5EF4-FFF2-40B4-BE49-F238E27FC236}">
                <a16:creationId xmlns:a16="http://schemas.microsoft.com/office/drawing/2014/main" id="{500781AF-0072-3FD1-BBEF-6F7834EAA566}"/>
              </a:ext>
            </a:extLst>
          </p:cNvPr>
          <p:cNvPicPr>
            <a:picLocks noChangeAspect="1"/>
          </p:cNvPicPr>
          <p:nvPr/>
        </p:nvPicPr>
        <p:blipFill>
          <a:blip r:embed="rId2"/>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6594F829-D1B2-B973-4B53-918A1C83FE59}"/>
              </a:ext>
            </a:extLst>
          </p:cNvPr>
          <p:cNvPicPr>
            <a:picLocks noChangeAspect="1"/>
          </p:cNvPicPr>
          <p:nvPr/>
        </p:nvPicPr>
        <p:blipFill>
          <a:blip r:embed="rId3"/>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684A855-1D72-0D55-D2A0-B55292573BBA}"/>
              </a:ext>
            </a:extLst>
          </p:cNvPr>
          <p:cNvSpPr txBox="1">
            <a:spLocks/>
          </p:cNvSpPr>
          <p:nvPr/>
        </p:nvSpPr>
        <p:spPr>
          <a:xfrm>
            <a:off x="677334" y="1566781"/>
            <a:ext cx="8596668" cy="1320800"/>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400" b="1">
                <a:solidFill>
                  <a:schemeClr val="tx1"/>
                </a:solidFill>
                <a:latin typeface="Calibri Light" panose="020F0302020204030204" pitchFamily="34" charset="0"/>
                <a:cs typeface="Calibri Light" panose="020F0302020204030204" pitchFamily="34" charset="0"/>
              </a:rPr>
              <a:t>REFERENCES</a:t>
            </a:r>
            <a:endParaRPr lang="el-GR" sz="3400" b="1" dirty="0">
              <a:solidFill>
                <a:schemeClr val="tx1"/>
              </a:solidFill>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83869917-D877-4563-7448-BE902F8DEE69}"/>
              </a:ext>
            </a:extLst>
          </p:cNvPr>
          <p:cNvSpPr txBox="1">
            <a:spLocks/>
          </p:cNvSpPr>
          <p:nvPr/>
        </p:nvSpPr>
        <p:spPr>
          <a:xfrm>
            <a:off x="404202" y="2278266"/>
            <a:ext cx="8596668" cy="3880773"/>
          </a:xfrm>
          <a:prstGeom prst="rect">
            <a:avLst/>
          </a:prstGeom>
          <a:solidFill>
            <a:schemeClr val="bg1"/>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lnSpc>
                <a:spcPct val="107000"/>
              </a:lnSpc>
              <a:spcAft>
                <a:spcPts val="800"/>
              </a:spcAft>
              <a:buClr>
                <a:schemeClr val="tx1"/>
              </a:buClr>
              <a:buSzPts val="1200"/>
              <a:buFont typeface="+mj-lt"/>
              <a:buAutoNum type="arabicPeriod" startAt="9"/>
            </a:pP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Smirnova, E., </a:t>
            </a: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Ivanescu</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A., Bai, J. and </a:t>
            </a: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Crainiceanu</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C.M., 2018. A practical guide to big data. Statistics &amp; probability letters, 136, pp.25-29.</a:t>
            </a:r>
          </a:p>
          <a:p>
            <a:pPr marL="342900" lvl="0" indent="-342900" algn="just">
              <a:lnSpc>
                <a:spcPct val="107000"/>
              </a:lnSpc>
              <a:buClr>
                <a:schemeClr val="tx1"/>
              </a:buClr>
              <a:buSzPts val="1200"/>
              <a:buFont typeface="+mj-lt"/>
              <a:buAutoNum type="arabicPeriod" startAt="9"/>
            </a:pP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Diareme</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K.C. and </a:t>
            </a: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Tsiligiridis</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T., 2018. Multi-criteria optimization methods applied in agricultural touring. Multicriteria Analysis in Agriculture: Current Trends and Recent Applications, pp.267-288. </a:t>
            </a:r>
            <a:endParaRPr lang="el-GR" sz="1200" dirty="0">
              <a:effectLst/>
              <a:latin typeface="Calibri Light" panose="020F0302020204030204" pitchFamily="34" charset="0"/>
              <a:ea typeface="Calibri" panose="020F0502020204030204" pitchFamily="34" charset="0"/>
              <a:cs typeface="Calibri Light" panose="020F0302020204030204" pitchFamily="34" charset="0"/>
            </a:endParaRPr>
          </a:p>
          <a:p>
            <a:pPr marL="342900" lvl="0" indent="-342900" algn="just">
              <a:lnSpc>
                <a:spcPct val="107000"/>
              </a:lnSpc>
              <a:buClr>
                <a:schemeClr val="tx1"/>
              </a:buClr>
              <a:buSzPts val="1200"/>
              <a:buFont typeface="+mj-lt"/>
              <a:buAutoNum type="arabicPeriod" startAt="9"/>
            </a:pP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Diareme</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K.C., </a:t>
            </a: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Liapakis</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A. and Efthymiou, I., 2022. Big Data, Sentiment Analysis, and Examples during the COVID-19 Pandemic. </a:t>
            </a:r>
            <a:r>
              <a:rPr lang="el-GR"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HAPSc Policy Briefs Series, 3(2), pp.21-30.</a:t>
            </a:r>
            <a:endParaRPr lang="el-GR" sz="1200" dirty="0">
              <a:effectLst/>
              <a:latin typeface="Calibri Light" panose="020F0302020204030204" pitchFamily="34" charset="0"/>
              <a:ea typeface="Calibri" panose="020F0502020204030204" pitchFamily="34" charset="0"/>
              <a:cs typeface="Calibri Light" panose="020F0302020204030204" pitchFamily="34" charset="0"/>
            </a:endParaRPr>
          </a:p>
          <a:p>
            <a:pPr marL="342900" lvl="0" indent="-342900" algn="just">
              <a:lnSpc>
                <a:spcPct val="107000"/>
              </a:lnSpc>
              <a:spcAft>
                <a:spcPts val="800"/>
              </a:spcAft>
              <a:buClr>
                <a:schemeClr val="tx1"/>
              </a:buClr>
              <a:buSzPts val="1200"/>
              <a:buFont typeface="+mj-lt"/>
              <a:buAutoNum type="arabicPeriod" startAt="9"/>
            </a:pP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Diebold, F.X., 2003, February. Big data dynamic factor models for macroeconomic measurement and forecasting. In Advances in Economics and Econometrics: Theory and Applications, Eighth World Congress of the Econometric Society,”(edited by M. </a:t>
            </a: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Dewatripont</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LP Hansen and S. </a:t>
            </a:r>
            <a:r>
              <a:rPr lang="en-US" sz="1200" dirty="0" err="1">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Turnovsky</a:t>
            </a: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 (Vol. 115, p. 22).</a:t>
            </a:r>
          </a:p>
          <a:p>
            <a:pPr algn="just">
              <a:lnSpc>
                <a:spcPct val="107000"/>
              </a:lnSpc>
              <a:spcAft>
                <a:spcPts val="800"/>
              </a:spcAft>
              <a:buClr>
                <a:schemeClr val="tx1"/>
              </a:buClr>
              <a:buSzPts val="1200"/>
              <a:buFont typeface="+mj-lt"/>
              <a:buAutoNum type="arabicPeriod" startAt="9"/>
            </a:pPr>
            <a:r>
              <a:rPr lang="en-US" sz="1200" dirty="0">
                <a:solidFill>
                  <a:srgbClr val="222222"/>
                </a:solidFill>
                <a:effectLst/>
                <a:latin typeface="Calibri Light" panose="020F0302020204030204" pitchFamily="34" charset="0"/>
                <a:ea typeface="Calibri" panose="020F0502020204030204" pitchFamily="34" charset="0"/>
                <a:cs typeface="Calibri Light" panose="020F0302020204030204" pitchFamily="34" charset="0"/>
              </a:rPr>
              <a:t>Mir, S.A., Bhat, M.S., Rather, G.M. and Mattoo, D., 2022. Role of big geospatial data in the COVID-19 crisis. In Data Science for COVID-19 (pp. 589-609). Academic Press.</a:t>
            </a:r>
          </a:p>
          <a:p>
            <a:pPr algn="just">
              <a:lnSpc>
                <a:spcPct val="107000"/>
              </a:lnSpc>
              <a:spcAft>
                <a:spcPts val="800"/>
              </a:spcAft>
              <a:buClr>
                <a:schemeClr val="tx1"/>
              </a:buClr>
              <a:buSzPts val="1200"/>
              <a:buFont typeface="+mj-lt"/>
              <a:buAutoNum type="arabicPeriod" startAt="9"/>
            </a:pPr>
            <a:r>
              <a:rPr lang="en-US" sz="1200" dirty="0">
                <a:effectLst/>
                <a:latin typeface="Calibri Light" panose="020F0302020204030204" pitchFamily="34" charset="0"/>
                <a:ea typeface="Aptos" panose="020B0004020202020204" pitchFamily="34" charset="0"/>
                <a:cs typeface="Calibri Light" panose="020F0302020204030204" pitchFamily="34" charset="0"/>
              </a:rPr>
              <a:t>Das, S., Imtiaz, M.S., Neom, N.H., Siddique, N. and Wang, H., 2023. A hybrid approach for Bangla sign language recognition using deep transfer learning model with random forest classifier. </a:t>
            </a:r>
            <a:r>
              <a:rPr lang="el-GR" sz="1200" dirty="0">
                <a:effectLst/>
                <a:latin typeface="Calibri Light" panose="020F0302020204030204" pitchFamily="34" charset="0"/>
                <a:ea typeface="Aptos" panose="020B0004020202020204" pitchFamily="34" charset="0"/>
                <a:cs typeface="Calibri Light" panose="020F0302020204030204" pitchFamily="34" charset="0"/>
              </a:rPr>
              <a:t>Expert Systems with Applications, 213, p.118914.</a:t>
            </a:r>
            <a:endParaRPr lang="el-GR" sz="1200" dirty="0">
              <a:effectLst/>
              <a:latin typeface="Calibri Light" panose="020F0302020204030204" pitchFamily="34" charset="0"/>
              <a:ea typeface="Calibri" panose="020F0502020204030204" pitchFamily="34" charset="0"/>
              <a:cs typeface="Calibri Light" panose="020F0302020204030204" pitchFamily="34" charset="0"/>
            </a:endParaRPr>
          </a:p>
          <a:p>
            <a:pPr marL="342900" lvl="0" indent="-342900" algn="just">
              <a:lnSpc>
                <a:spcPct val="107000"/>
              </a:lnSpc>
              <a:spcAft>
                <a:spcPts val="800"/>
              </a:spcAft>
              <a:buSzPts val="1200"/>
              <a:buFont typeface="+mj-lt"/>
              <a:buAutoNum type="arabicPeriod" startAt="9"/>
            </a:pPr>
            <a:endParaRPr lang="el-GR" sz="1200" dirty="0">
              <a:effectLst/>
              <a:latin typeface="Calibri Light" panose="020F0302020204030204" pitchFamily="34" charset="0"/>
              <a:ea typeface="Calibri" panose="020F0502020204030204" pitchFamily="34" charset="0"/>
              <a:cs typeface="Calibri Light" panose="020F0302020204030204" pitchFamily="34" charset="0"/>
            </a:endParaRPr>
          </a:p>
          <a:p>
            <a:pPr marL="342900" lvl="0" indent="-342900" algn="just">
              <a:lnSpc>
                <a:spcPct val="107000"/>
              </a:lnSpc>
              <a:spcAft>
                <a:spcPts val="800"/>
              </a:spcAft>
              <a:buSzPts val="1200"/>
              <a:buFont typeface="+mj-lt"/>
              <a:buAutoNum type="arabicPeriod" startAt="9"/>
            </a:pPr>
            <a:endParaRPr lang="el-G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2587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ABDC1-3B14-C067-154F-D2412A850A1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53956CA-F629-9462-6B79-ED7682EEEF48}"/>
              </a:ext>
            </a:extLst>
          </p:cNvPr>
          <p:cNvSpPr>
            <a:spLocks noGrp="1"/>
          </p:cNvSpPr>
          <p:nvPr>
            <p:ph type="sldNum" sz="quarter" idx="12"/>
          </p:nvPr>
        </p:nvSpPr>
        <p:spPr/>
        <p:txBody>
          <a:bodyPr/>
          <a:lstStyle/>
          <a:p>
            <a:fld id="{CDEA5C31-B8C3-473B-A3DE-56496EA73414}" type="slidenum">
              <a:rPr lang="el-GR" smtClean="0"/>
              <a:t>35</a:t>
            </a:fld>
            <a:endParaRPr lang="el-GR"/>
          </a:p>
        </p:txBody>
      </p:sp>
      <p:pic>
        <p:nvPicPr>
          <p:cNvPr id="9" name="Picture 8">
            <a:extLst>
              <a:ext uri="{FF2B5EF4-FFF2-40B4-BE49-F238E27FC236}">
                <a16:creationId xmlns:a16="http://schemas.microsoft.com/office/drawing/2014/main" id="{6A72F542-CEE6-6834-5613-82AA0BADEC55}"/>
              </a:ext>
            </a:extLst>
          </p:cNvPr>
          <p:cNvPicPr>
            <a:picLocks noChangeAspect="1"/>
          </p:cNvPicPr>
          <p:nvPr/>
        </p:nvPicPr>
        <p:blipFill>
          <a:blip r:embed="rId2"/>
          <a:stretch>
            <a:fillRect/>
          </a:stretch>
        </p:blipFill>
        <p:spPr>
          <a:xfrm>
            <a:off x="0" y="-6097"/>
            <a:ext cx="1700931" cy="126807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1BF4BCD2-93EC-5A5F-0B48-D5E601E553DD}"/>
              </a:ext>
            </a:extLst>
          </p:cNvPr>
          <p:cNvPicPr>
            <a:picLocks noChangeAspect="1"/>
          </p:cNvPicPr>
          <p:nvPr/>
        </p:nvPicPr>
        <p:blipFill>
          <a:blip r:embed="rId3"/>
          <a:stretch>
            <a:fillRect/>
          </a:stretch>
        </p:blipFill>
        <p:spPr>
          <a:xfrm>
            <a:off x="9832644" y="0"/>
            <a:ext cx="2359356" cy="1261981"/>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56669E5A-9F70-A2BA-1E8E-0D668A71A65E}"/>
              </a:ext>
            </a:extLst>
          </p:cNvPr>
          <p:cNvSpPr txBox="1">
            <a:spLocks/>
          </p:cNvSpPr>
          <p:nvPr/>
        </p:nvSpPr>
        <p:spPr>
          <a:xfrm>
            <a:off x="677334" y="1566781"/>
            <a:ext cx="8596668" cy="1320800"/>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400" b="1">
                <a:solidFill>
                  <a:schemeClr val="tx1"/>
                </a:solidFill>
                <a:latin typeface="Calibri Light" panose="020F0302020204030204" pitchFamily="34" charset="0"/>
                <a:cs typeface="Calibri Light" panose="020F0302020204030204" pitchFamily="34" charset="0"/>
              </a:rPr>
              <a:t>REFERENCES</a:t>
            </a:r>
            <a:endParaRPr lang="el-GR" sz="3400" b="1" dirty="0">
              <a:solidFill>
                <a:schemeClr val="tx1"/>
              </a:solidFill>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9866FB42-52EE-37BA-90D4-FCD9FF2B45F6}"/>
              </a:ext>
            </a:extLst>
          </p:cNvPr>
          <p:cNvSpPr txBox="1">
            <a:spLocks/>
          </p:cNvSpPr>
          <p:nvPr/>
        </p:nvSpPr>
        <p:spPr>
          <a:xfrm>
            <a:off x="404202" y="2278266"/>
            <a:ext cx="8596668" cy="3880773"/>
          </a:xfrm>
          <a:prstGeom prst="rect">
            <a:avLst/>
          </a:prstGeom>
          <a:solidFill>
            <a:schemeClr val="bg1"/>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07000"/>
              </a:lnSpc>
              <a:spcAft>
                <a:spcPts val="800"/>
              </a:spcAft>
              <a:buClr>
                <a:schemeClr val="tx1"/>
              </a:buClr>
              <a:buSzPts val="1200"/>
              <a:buFont typeface="+mj-lt"/>
              <a:buAutoNum type="arabicPeriod" startAt="15"/>
            </a:pPr>
            <a:r>
              <a:rPr lang="en-US" sz="1200" b="0" i="0" dirty="0" err="1">
                <a:solidFill>
                  <a:srgbClr val="222222"/>
                </a:solidFill>
                <a:effectLst/>
                <a:latin typeface="Calibri Light" panose="020F0302020204030204" pitchFamily="34" charset="0"/>
                <a:cs typeface="Calibri Light" panose="020F0302020204030204" pitchFamily="34" charset="0"/>
              </a:rPr>
              <a:t>Sukhdeve</a:t>
            </a:r>
            <a:r>
              <a:rPr lang="en-US" sz="1200" b="0" i="0" dirty="0">
                <a:solidFill>
                  <a:srgbClr val="222222"/>
                </a:solidFill>
                <a:effectLst/>
                <a:latin typeface="Calibri Light" panose="020F0302020204030204" pitchFamily="34" charset="0"/>
                <a:cs typeface="Calibri Light" panose="020F0302020204030204" pitchFamily="34" charset="0"/>
              </a:rPr>
              <a:t>, D.S.R. and </a:t>
            </a:r>
            <a:r>
              <a:rPr lang="en-US" sz="1200" b="0" i="0" dirty="0" err="1">
                <a:solidFill>
                  <a:srgbClr val="222222"/>
                </a:solidFill>
                <a:effectLst/>
                <a:latin typeface="Calibri Light" panose="020F0302020204030204" pitchFamily="34" charset="0"/>
                <a:cs typeface="Calibri Light" panose="020F0302020204030204" pitchFamily="34" charset="0"/>
              </a:rPr>
              <a:t>Sukhdeve</a:t>
            </a:r>
            <a:r>
              <a:rPr lang="en-US" sz="1200" b="0" i="0" dirty="0">
                <a:solidFill>
                  <a:srgbClr val="222222"/>
                </a:solidFill>
                <a:effectLst/>
                <a:latin typeface="Calibri Light" panose="020F0302020204030204" pitchFamily="34" charset="0"/>
                <a:cs typeface="Calibri Light" panose="020F0302020204030204" pitchFamily="34" charset="0"/>
              </a:rPr>
              <a:t>, S.S., 2023. Google </a:t>
            </a:r>
            <a:r>
              <a:rPr lang="en-US" sz="1200" b="0" i="0" dirty="0" err="1">
                <a:solidFill>
                  <a:srgbClr val="222222"/>
                </a:solidFill>
                <a:effectLst/>
                <a:latin typeface="Calibri Light" panose="020F0302020204030204" pitchFamily="34" charset="0"/>
                <a:cs typeface="Calibri Light" panose="020F0302020204030204" pitchFamily="34" charset="0"/>
              </a:rPr>
              <a:t>colaboratory</a:t>
            </a:r>
            <a:r>
              <a:rPr lang="en-US" sz="1200" b="0" i="0" dirty="0">
                <a:solidFill>
                  <a:srgbClr val="222222"/>
                </a:solidFill>
                <a:effectLst/>
                <a:latin typeface="Calibri Light" panose="020F0302020204030204" pitchFamily="34" charset="0"/>
                <a:cs typeface="Calibri Light" panose="020F0302020204030204" pitchFamily="34" charset="0"/>
              </a:rPr>
              <a:t>. In </a:t>
            </a:r>
            <a:r>
              <a:rPr lang="en-US" sz="1200" b="0" i="1" dirty="0">
                <a:solidFill>
                  <a:srgbClr val="222222"/>
                </a:solidFill>
                <a:effectLst/>
                <a:latin typeface="Calibri Light" panose="020F0302020204030204" pitchFamily="34" charset="0"/>
                <a:cs typeface="Calibri Light" panose="020F0302020204030204" pitchFamily="34" charset="0"/>
              </a:rPr>
              <a:t>Google Cloud Platform for Data Science: A Crash Course on Big Data, Machine Learning, and Data Analytics Services</a:t>
            </a:r>
            <a:r>
              <a:rPr lang="en-US" sz="1200" b="0" i="0" dirty="0">
                <a:solidFill>
                  <a:srgbClr val="222222"/>
                </a:solidFill>
                <a:effectLst/>
                <a:latin typeface="Calibri Light" panose="020F0302020204030204" pitchFamily="34" charset="0"/>
                <a:cs typeface="Calibri Light" panose="020F0302020204030204" pitchFamily="34" charset="0"/>
              </a:rPr>
              <a:t> (pp. 11-34). Berkeley, CA: </a:t>
            </a:r>
            <a:r>
              <a:rPr lang="en-US" sz="1200" b="0" i="0" dirty="0" err="1">
                <a:solidFill>
                  <a:srgbClr val="222222"/>
                </a:solidFill>
                <a:effectLst/>
                <a:latin typeface="Calibri Light" panose="020F0302020204030204" pitchFamily="34" charset="0"/>
                <a:cs typeface="Calibri Light" panose="020F0302020204030204" pitchFamily="34" charset="0"/>
              </a:rPr>
              <a:t>Apress</a:t>
            </a:r>
            <a:r>
              <a:rPr lang="en-US" sz="1200" b="0" i="0" dirty="0">
                <a:solidFill>
                  <a:srgbClr val="222222"/>
                </a:solidFill>
                <a:effectLst/>
                <a:latin typeface="Calibri Light" panose="020F0302020204030204" pitchFamily="34" charset="0"/>
                <a:cs typeface="Calibri Light" panose="020F0302020204030204" pitchFamily="34" charset="0"/>
              </a:rPr>
              <a:t>.</a:t>
            </a:r>
          </a:p>
          <a:p>
            <a:pPr algn="just">
              <a:lnSpc>
                <a:spcPct val="107000"/>
              </a:lnSpc>
              <a:spcAft>
                <a:spcPts val="800"/>
              </a:spcAft>
              <a:buClr>
                <a:schemeClr val="tx1"/>
              </a:buClr>
              <a:buSzPts val="1200"/>
              <a:buFont typeface="+mj-lt"/>
              <a:buAutoNum type="arabicPeriod" startAt="15"/>
            </a:pPr>
            <a:r>
              <a:rPr lang="en-US" sz="1200" b="0" dirty="0" err="1">
                <a:solidFill>
                  <a:srgbClr val="222222"/>
                </a:solidFill>
                <a:effectLst/>
                <a:latin typeface="Calibri Light" panose="020F0302020204030204" pitchFamily="34" charset="0"/>
                <a:cs typeface="Calibri Light" panose="020F0302020204030204" pitchFamily="34" charset="0"/>
              </a:rPr>
              <a:t>Győrödi</a:t>
            </a:r>
            <a:r>
              <a:rPr lang="en-US" sz="1200" b="0" dirty="0">
                <a:solidFill>
                  <a:srgbClr val="222222"/>
                </a:solidFill>
                <a:effectLst/>
                <a:latin typeface="Calibri Light" panose="020F0302020204030204" pitchFamily="34" charset="0"/>
                <a:cs typeface="Calibri Light" panose="020F0302020204030204" pitchFamily="34" charset="0"/>
              </a:rPr>
              <a:t>, C.A., </a:t>
            </a:r>
            <a:r>
              <a:rPr lang="en-US" sz="1200" b="0" dirty="0" err="1">
                <a:solidFill>
                  <a:srgbClr val="222222"/>
                </a:solidFill>
                <a:effectLst/>
                <a:latin typeface="Calibri Light" panose="020F0302020204030204" pitchFamily="34" charset="0"/>
                <a:cs typeface="Calibri Light" panose="020F0302020204030204" pitchFamily="34" charset="0"/>
              </a:rPr>
              <a:t>Dumşe-Burescu</a:t>
            </a:r>
            <a:r>
              <a:rPr lang="en-US" sz="1200" b="0" dirty="0">
                <a:solidFill>
                  <a:srgbClr val="222222"/>
                </a:solidFill>
                <a:effectLst/>
                <a:latin typeface="Calibri Light" panose="020F0302020204030204" pitchFamily="34" charset="0"/>
                <a:cs typeface="Calibri Light" panose="020F0302020204030204" pitchFamily="34" charset="0"/>
              </a:rPr>
              <a:t>, D.V., </a:t>
            </a:r>
            <a:r>
              <a:rPr lang="en-US" sz="1200" b="0" dirty="0" err="1">
                <a:solidFill>
                  <a:srgbClr val="222222"/>
                </a:solidFill>
                <a:effectLst/>
                <a:latin typeface="Calibri Light" panose="020F0302020204030204" pitchFamily="34" charset="0"/>
                <a:cs typeface="Calibri Light" panose="020F0302020204030204" pitchFamily="34" charset="0"/>
              </a:rPr>
              <a:t>Zmaranda</a:t>
            </a:r>
            <a:r>
              <a:rPr lang="en-US" sz="1200" b="0" dirty="0">
                <a:solidFill>
                  <a:srgbClr val="222222"/>
                </a:solidFill>
                <a:effectLst/>
                <a:latin typeface="Calibri Light" panose="020F0302020204030204" pitchFamily="34" charset="0"/>
                <a:cs typeface="Calibri Light" panose="020F0302020204030204" pitchFamily="34" charset="0"/>
              </a:rPr>
              <a:t>, D.R. and </a:t>
            </a:r>
            <a:r>
              <a:rPr lang="en-US" sz="1200" b="0" dirty="0" err="1">
                <a:solidFill>
                  <a:srgbClr val="222222"/>
                </a:solidFill>
                <a:effectLst/>
                <a:latin typeface="Calibri Light" panose="020F0302020204030204" pitchFamily="34" charset="0"/>
                <a:cs typeface="Calibri Light" panose="020F0302020204030204" pitchFamily="34" charset="0"/>
              </a:rPr>
              <a:t>Győrödi</a:t>
            </a:r>
            <a:r>
              <a:rPr lang="en-US" sz="1200" b="0" dirty="0">
                <a:solidFill>
                  <a:srgbClr val="222222"/>
                </a:solidFill>
                <a:effectLst/>
                <a:latin typeface="Calibri Light" panose="020F0302020204030204" pitchFamily="34" charset="0"/>
                <a:cs typeface="Calibri Light" panose="020F0302020204030204" pitchFamily="34" charset="0"/>
              </a:rPr>
              <a:t>, R.Ş., 2022. A comparative study of MongoDB and document-based MySQL for big data application data management. Big Data and Cognitive Computing, 6(2), p.49</a:t>
            </a:r>
            <a:r>
              <a:rPr lang="en-US" sz="1200" b="0" i="0" dirty="0">
                <a:solidFill>
                  <a:srgbClr val="222222"/>
                </a:solidFill>
                <a:effectLst/>
                <a:latin typeface="Calibri Light" panose="020F0302020204030204" pitchFamily="34" charset="0"/>
                <a:cs typeface="Calibri Light" panose="020F0302020204030204" pitchFamily="34" charset="0"/>
              </a:rPr>
              <a:t>.</a:t>
            </a:r>
          </a:p>
          <a:p>
            <a:pPr algn="just">
              <a:lnSpc>
                <a:spcPct val="107000"/>
              </a:lnSpc>
              <a:spcAft>
                <a:spcPts val="800"/>
              </a:spcAft>
              <a:buClr>
                <a:schemeClr val="tx1"/>
              </a:buClr>
              <a:buSzPts val="1200"/>
              <a:buFont typeface="+mj-lt"/>
              <a:buAutoNum type="arabicPeriod" startAt="15"/>
            </a:pPr>
            <a:r>
              <a:rPr lang="en-US" sz="1200" b="0" i="0" dirty="0">
                <a:solidFill>
                  <a:srgbClr val="222222"/>
                </a:solidFill>
                <a:effectLst/>
                <a:latin typeface="Calibri Light" panose="020F0302020204030204" pitchFamily="34" charset="0"/>
                <a:cs typeface="Calibri Light" panose="020F0302020204030204" pitchFamily="34" charset="0"/>
              </a:rPr>
              <a:t>Harrison, G. and Harrison, M., 2021. </a:t>
            </a:r>
            <a:r>
              <a:rPr lang="en-US" sz="1200" b="0" i="1" dirty="0">
                <a:solidFill>
                  <a:srgbClr val="222222"/>
                </a:solidFill>
                <a:effectLst/>
                <a:latin typeface="Calibri Light" panose="020F0302020204030204" pitchFamily="34" charset="0"/>
                <a:cs typeface="Calibri Light" panose="020F0302020204030204" pitchFamily="34" charset="0"/>
              </a:rPr>
              <a:t>MongoDB Performance Tuning: Optimizing MongoDB Databases and Their Applications</a:t>
            </a:r>
            <a:r>
              <a:rPr lang="en-US" sz="1200" b="0" i="0" dirty="0">
                <a:solidFill>
                  <a:srgbClr val="222222"/>
                </a:solidFill>
                <a:effectLst/>
                <a:latin typeface="Calibri Light" panose="020F0302020204030204" pitchFamily="34" charset="0"/>
                <a:cs typeface="Calibri Light" panose="020F0302020204030204" pitchFamily="34" charset="0"/>
              </a:rPr>
              <a:t>. Berkeley, CA: </a:t>
            </a:r>
            <a:r>
              <a:rPr lang="en-US" sz="1200" b="0" i="0" dirty="0" err="1">
                <a:solidFill>
                  <a:srgbClr val="222222"/>
                </a:solidFill>
                <a:effectLst/>
                <a:latin typeface="Calibri Light" panose="020F0302020204030204" pitchFamily="34" charset="0"/>
                <a:cs typeface="Calibri Light" panose="020F0302020204030204" pitchFamily="34" charset="0"/>
              </a:rPr>
              <a:t>Apress</a:t>
            </a:r>
            <a:r>
              <a:rPr lang="en-US" sz="1200" b="0" i="0" dirty="0">
                <a:solidFill>
                  <a:srgbClr val="222222"/>
                </a:solidFill>
                <a:effectLst/>
                <a:latin typeface="Calibri Light" panose="020F0302020204030204" pitchFamily="34" charset="0"/>
                <a:cs typeface="Calibri Light" panose="020F0302020204030204" pitchFamily="34" charset="0"/>
              </a:rPr>
              <a:t>.</a:t>
            </a:r>
          </a:p>
          <a:p>
            <a:pPr algn="just">
              <a:lnSpc>
                <a:spcPct val="107000"/>
              </a:lnSpc>
              <a:spcAft>
                <a:spcPts val="800"/>
              </a:spcAft>
              <a:buClr>
                <a:schemeClr val="tx1"/>
              </a:buClr>
              <a:buSzPts val="1200"/>
              <a:buFont typeface="+mj-lt"/>
              <a:buAutoNum type="arabicPeriod" startAt="15"/>
            </a:pPr>
            <a:r>
              <a:rPr lang="en-US" sz="1200" b="0" i="0" dirty="0">
                <a:solidFill>
                  <a:srgbClr val="222222"/>
                </a:solidFill>
                <a:effectLst/>
                <a:latin typeface="Calibri Light" panose="020F0302020204030204" pitchFamily="34" charset="0"/>
                <a:cs typeface="Calibri Light" panose="020F0302020204030204" pitchFamily="34" charset="0"/>
              </a:rPr>
              <a:t>Fasel, D. and Meier, A., 2014. </a:t>
            </a:r>
            <a:r>
              <a:rPr lang="en-US" sz="1200" b="0" i="1" dirty="0">
                <a:solidFill>
                  <a:srgbClr val="222222"/>
                </a:solidFill>
                <a:effectLst/>
                <a:latin typeface="Calibri Light" panose="020F0302020204030204" pitchFamily="34" charset="0"/>
                <a:cs typeface="Calibri Light" panose="020F0302020204030204" pitchFamily="34" charset="0"/>
              </a:rPr>
              <a:t>Big data</a:t>
            </a:r>
            <a:r>
              <a:rPr lang="en-US" sz="1200" b="0" i="0" dirty="0">
                <a:solidFill>
                  <a:srgbClr val="222222"/>
                </a:solidFill>
                <a:effectLst/>
                <a:latin typeface="Calibri Light" panose="020F0302020204030204" pitchFamily="34" charset="0"/>
                <a:cs typeface="Calibri Light" panose="020F0302020204030204" pitchFamily="34" charset="0"/>
              </a:rPr>
              <a:t>. Springer Vieweg.</a:t>
            </a:r>
          </a:p>
          <a:p>
            <a:pPr algn="just">
              <a:lnSpc>
                <a:spcPct val="107000"/>
              </a:lnSpc>
              <a:spcAft>
                <a:spcPts val="800"/>
              </a:spcAft>
              <a:buClr>
                <a:schemeClr val="tx1"/>
              </a:buClr>
              <a:buSzPts val="1200"/>
              <a:buFont typeface="+mj-lt"/>
              <a:buAutoNum type="arabicPeriod" startAt="15"/>
            </a:pPr>
            <a:r>
              <a:rPr lang="en-US" sz="1200" b="0" i="0" dirty="0">
                <a:solidFill>
                  <a:srgbClr val="222222"/>
                </a:solidFill>
                <a:effectLst/>
                <a:latin typeface="Calibri Light" panose="020F0302020204030204" pitchFamily="34" charset="0"/>
                <a:cs typeface="Calibri Light" panose="020F0302020204030204" pitchFamily="34" charset="0"/>
              </a:rPr>
              <a:t>Wang, J., Xu, C., Zhang, J. and Zhong, R., 2022. Big data analytics for intelligent manufacturing systems: A review. </a:t>
            </a:r>
            <a:r>
              <a:rPr lang="en-US" sz="1200" b="0" i="1" dirty="0">
                <a:solidFill>
                  <a:srgbClr val="222222"/>
                </a:solidFill>
                <a:effectLst/>
                <a:latin typeface="Calibri Light" panose="020F0302020204030204" pitchFamily="34" charset="0"/>
                <a:cs typeface="Calibri Light" panose="020F0302020204030204" pitchFamily="34" charset="0"/>
              </a:rPr>
              <a:t>Journal of Manufacturing Systems</a:t>
            </a:r>
            <a:r>
              <a:rPr lang="en-US" sz="1200" b="0" i="0" dirty="0">
                <a:solidFill>
                  <a:srgbClr val="222222"/>
                </a:solidFill>
                <a:effectLst/>
                <a:latin typeface="Calibri Light" panose="020F0302020204030204" pitchFamily="34" charset="0"/>
                <a:cs typeface="Calibri Light" panose="020F0302020204030204" pitchFamily="34" charset="0"/>
              </a:rPr>
              <a:t>, </a:t>
            </a:r>
            <a:r>
              <a:rPr lang="en-US" sz="1200" b="0" i="1" dirty="0">
                <a:solidFill>
                  <a:srgbClr val="222222"/>
                </a:solidFill>
                <a:effectLst/>
                <a:latin typeface="Calibri Light" panose="020F0302020204030204" pitchFamily="34" charset="0"/>
                <a:cs typeface="Calibri Light" panose="020F0302020204030204" pitchFamily="34" charset="0"/>
              </a:rPr>
              <a:t>62</a:t>
            </a:r>
            <a:r>
              <a:rPr lang="en-US" sz="1200" b="0" i="0" dirty="0">
                <a:solidFill>
                  <a:srgbClr val="222222"/>
                </a:solidFill>
                <a:effectLst/>
                <a:latin typeface="Calibri Light" panose="020F0302020204030204" pitchFamily="34" charset="0"/>
                <a:cs typeface="Calibri Light" panose="020F0302020204030204" pitchFamily="34" charset="0"/>
              </a:rPr>
              <a:t>, pp.738-752.</a:t>
            </a:r>
          </a:p>
          <a:p>
            <a:pPr algn="just">
              <a:lnSpc>
                <a:spcPct val="107000"/>
              </a:lnSpc>
              <a:spcAft>
                <a:spcPts val="800"/>
              </a:spcAft>
              <a:buClr>
                <a:schemeClr val="tx1"/>
              </a:buClr>
              <a:buSzPts val="1200"/>
              <a:buFont typeface="+mj-lt"/>
              <a:buAutoNum type="arabicPeriod" startAt="15"/>
            </a:pPr>
            <a:r>
              <a:rPr lang="en-US" sz="1200" b="0" i="0" dirty="0">
                <a:solidFill>
                  <a:srgbClr val="222222"/>
                </a:solidFill>
                <a:effectLst/>
                <a:latin typeface="Calibri Light" panose="020F0302020204030204" pitchFamily="34" charset="0"/>
                <a:cs typeface="Calibri Light" panose="020F0302020204030204" pitchFamily="34" charset="0"/>
              </a:rPr>
              <a:t>Rani, S., Bhambri, P., Kataria, A., Khang, A. and Sivaraman, A.K. eds., 2023. </a:t>
            </a:r>
            <a:r>
              <a:rPr lang="en-US" sz="1200" b="0" i="1" dirty="0">
                <a:solidFill>
                  <a:srgbClr val="222222"/>
                </a:solidFill>
                <a:effectLst/>
                <a:latin typeface="Calibri Light" panose="020F0302020204030204" pitchFamily="34" charset="0"/>
                <a:cs typeface="Calibri Light" panose="020F0302020204030204" pitchFamily="34" charset="0"/>
              </a:rPr>
              <a:t>Big Data, Cloud Computing and IoT: Tools and Applications</a:t>
            </a:r>
            <a:r>
              <a:rPr lang="en-US" sz="1200" b="0" i="0" dirty="0">
                <a:solidFill>
                  <a:srgbClr val="222222"/>
                </a:solidFill>
                <a:effectLst/>
                <a:latin typeface="Calibri Light" panose="020F0302020204030204" pitchFamily="34" charset="0"/>
                <a:cs typeface="Calibri Light" panose="020F0302020204030204" pitchFamily="34" charset="0"/>
              </a:rPr>
              <a:t>. CRC Press.</a:t>
            </a:r>
            <a:endParaRPr lang="el-GR" sz="1200" dirty="0">
              <a:effectLst/>
              <a:latin typeface="Calibri Light" panose="020F0302020204030204" pitchFamily="34" charset="0"/>
              <a:ea typeface="Calibri" panose="020F0502020204030204" pitchFamily="34" charset="0"/>
              <a:cs typeface="Calibri Light" panose="020F0302020204030204" pitchFamily="34" charset="0"/>
            </a:endParaRPr>
          </a:p>
          <a:p>
            <a:pPr marL="342900" lvl="0" indent="-342900" algn="just">
              <a:lnSpc>
                <a:spcPct val="107000"/>
              </a:lnSpc>
              <a:spcAft>
                <a:spcPts val="800"/>
              </a:spcAft>
              <a:buSzPts val="1200"/>
              <a:buFont typeface="+mj-lt"/>
              <a:buAutoNum type="arabicPeriod" startAt="15"/>
            </a:pPr>
            <a:endParaRPr lang="el-GR" sz="1200" dirty="0">
              <a:effectLst/>
              <a:latin typeface="Calibri Light" panose="020F0302020204030204" pitchFamily="34" charset="0"/>
              <a:ea typeface="Calibri" panose="020F0502020204030204" pitchFamily="34" charset="0"/>
              <a:cs typeface="Calibri Light" panose="020F0302020204030204" pitchFamily="34" charset="0"/>
            </a:endParaRPr>
          </a:p>
          <a:p>
            <a:pPr marL="342900" lvl="0" indent="-342900" algn="just">
              <a:lnSpc>
                <a:spcPct val="107000"/>
              </a:lnSpc>
              <a:spcAft>
                <a:spcPts val="800"/>
              </a:spcAft>
              <a:buSzPts val="1200"/>
              <a:buFont typeface="+mj-lt"/>
              <a:buAutoNum type="arabicPeriod" startAt="15"/>
            </a:pPr>
            <a:endParaRPr lang="el-GR"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26840526"/>
      </p:ext>
    </p:extLst>
  </p:cSld>
  <p:clrMapOvr>
    <a:masterClrMapping/>
  </p:clrMapOvr>
</p:sld>
</file>

<file path=ppt/theme/theme1.xml><?xml version="1.0" encoding="utf-8"?>
<a:theme xmlns:a="http://schemas.openxmlformats.org/drawingml/2006/main" name="Facet">
  <a:themeElements>
    <a:clrScheme name="Custom 1">
      <a:dk1>
        <a:sysClr val="windowText" lastClr="000000"/>
      </a:dk1>
      <a:lt1>
        <a:sysClr val="window" lastClr="FFFFFF"/>
      </a:lt1>
      <a:dk2>
        <a:srgbClr val="1F497D"/>
      </a:dk2>
      <a:lt2>
        <a:srgbClr val="EEECE1"/>
      </a:lt2>
      <a:accent1>
        <a:srgbClr val="4F81BD"/>
      </a:accent1>
      <a:accent2>
        <a:srgbClr val="FFC000"/>
      </a:accent2>
      <a:accent3>
        <a:srgbClr val="9BBB59"/>
      </a:accent3>
      <a:accent4>
        <a:srgbClr val="8064A2"/>
      </a:accent4>
      <a:accent5>
        <a:srgbClr val="4BACC6"/>
      </a:accent5>
      <a:accent6>
        <a:srgbClr val="F79646"/>
      </a:accent6>
      <a:hlink>
        <a:srgbClr val="0000FF"/>
      </a:hlink>
      <a:folHlink>
        <a:srgbClr val="80008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25673</TotalTime>
  <Words>3636</Words>
  <Application>Microsoft Office PowerPoint</Application>
  <PresentationFormat>Widescreen</PresentationFormat>
  <Paragraphs>644</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Aptos</vt:lpstr>
      <vt:lpstr>Arial</vt:lpstr>
      <vt:lpstr>Calibri</vt:lpstr>
      <vt:lpstr>Calibri Light</vt:lpstr>
      <vt:lpstr>Google Sans</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matthaios chatzimichail</dc:creator>
  <cp:lastModifiedBy>matthaios chatzimichail</cp:lastModifiedBy>
  <cp:revision>234</cp:revision>
  <dcterms:created xsi:type="dcterms:W3CDTF">2025-05-05T17:16:44Z</dcterms:created>
  <dcterms:modified xsi:type="dcterms:W3CDTF">2025-05-29T14:25:36Z</dcterms:modified>
</cp:coreProperties>
</file>